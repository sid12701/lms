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FC1288-3C7A-4030-AEEA-2014BCDD8D68}"/>
              </a:ext>
            </a:extLst>
          </p:cNvPr>
          <p:cNvSpPr>
            <a:spLocks noGrp="1"/>
          </p:cNvSpPr>
          <p:nvPr/>
        </p:nvSpPr>
        <p:spPr>
          <a:xfrm>
            <a:off x="0" y="5638800"/>
            <a:ext cx="12192000" cy="1219200"/>
          </a:xfrm>
          <a:prstGeom prst="rect">
            <a:avLst/>
          </a:prstGeom>
          <a:solidFill>
            <a:srgbClr val="09275B"/>
          </a:solidFill>
          <a:ln w="9525">
            <a:solidFill>
              <a:srgbClr val="09275B"/>
            </a:solidFill>
            <a:prstDash val="solid"/>
          </a:ln>
        </p:spPr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3A81D5A-33C4-4919-B477-1F4B12AE120E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7239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0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LMS Platform Decision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3A6FF4-DF42-4106-AFAA-2E667389FC56}"/>
              </a:ext>
            </a:extLst>
          </p:cNvPr>
          <p:cNvSpPr>
            <a:spLocks noGrp="1"/>
          </p:cNvSpPr>
          <p:nvPr/>
        </p:nvSpPr>
        <p:spPr>
          <a:xfrm>
            <a:off x="723900" y="1676400"/>
            <a:ext cx="7715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7E8FF"/>
                </a:solidFill>
                <a:latin typeface="Aptos"/>
                <a:ea typeface="Aptos"/>
                <a:cs typeface="Aptos"/>
              </a:rPr>
              <a:t>Build vs buy, governance, operating model, infrastructure, and next-step decision points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D7D39E0-559E-428E-BF9D-336492C2E579}"/>
              </a:ext>
            </a:extLst>
          </p:cNvPr>
          <p:cNvSpPr>
            <a:spLocks noGrp="1"/>
          </p:cNvSpPr>
          <p:nvPr/>
        </p:nvSpPr>
        <p:spPr>
          <a:xfrm>
            <a:off x="7770556" y="3200400"/>
            <a:ext cx="3429000" cy="1238250"/>
          </a:xfrm>
          <a:prstGeom prst="roundRect">
            <a:avLst>
              <a:gd name="adj" fmla="val 7692"/>
            </a:avLst>
          </a:prstGeom>
          <a:solidFill>
            <a:srgbClr val="10366F"/>
          </a:solidFill>
          <a:ln w="9525">
            <a:solidFill>
              <a:srgbClr val="2D64B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8DB7B3E-CE72-4B96-9AC0-8E89B4730D04}"/>
              </a:ext>
            </a:extLst>
          </p:cNvPr>
          <p:cNvSpPr>
            <a:spLocks noGrp="1"/>
          </p:cNvSpPr>
          <p:nvPr/>
        </p:nvSpPr>
        <p:spPr>
          <a:xfrm>
            <a:off x="7741059" y="3228975"/>
            <a:ext cx="57150" cy="1238250"/>
          </a:xfrm>
          <a:prstGeom prst="rect">
            <a:avLst/>
          </a:prstGeom>
          <a:solidFill>
            <a:srgbClr val="6FB6FF"/>
          </a:solidFill>
          <a:ln w="9525">
            <a:solidFill>
              <a:srgbClr val="6FB6FF"/>
            </a:solidFill>
            <a:prstDash val="solid"/>
          </a:ln>
        </p:spPr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073475-F6AF-4183-8E4E-628BBBD01343}"/>
              </a:ext>
            </a:extLst>
          </p:cNvPr>
          <p:cNvSpPr>
            <a:spLocks noGrp="1"/>
          </p:cNvSpPr>
          <p:nvPr/>
        </p:nvSpPr>
        <p:spPr>
          <a:xfrm>
            <a:off x="7924800" y="3305175"/>
            <a:ext cx="3048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focus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890796-7B67-4151-AD04-8112A02D026A}"/>
              </a:ext>
            </a:extLst>
          </p:cNvPr>
          <p:cNvSpPr>
            <a:spLocks noGrp="1"/>
          </p:cNvSpPr>
          <p:nvPr/>
        </p:nvSpPr>
        <p:spPr>
          <a:xfrm>
            <a:off x="7903906" y="3638550"/>
            <a:ext cx="3048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D7E8FF"/>
                </a:solidFill>
                <a:latin typeface="Aptos"/>
                <a:ea typeface="Aptos"/>
                <a:cs typeface="Aptos"/>
              </a:defRPr>
            </a:pPr>
            <a:r>
              <a:rPr sz="1275" b="0" dirty="0">
                <a:solidFill>
                  <a:srgbClr val="D7E8FF"/>
                </a:solidFill>
                <a:latin typeface="Aptos"/>
                <a:ea typeface="Aptos"/>
                <a:cs typeface="Aptos"/>
              </a:rPr>
              <a:t>Move from a working prototype discussion to an executive path: prove, buy, or build with clear ownership.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64B73E-D1F0-430D-88FD-57924203B0D6}"/>
              </a:ext>
            </a:extLst>
          </p:cNvPr>
          <p:cNvSpPr>
            <a:spLocks noGrp="1"/>
          </p:cNvSpPr>
          <p:nvPr/>
        </p:nvSpPr>
        <p:spPr>
          <a:xfrm>
            <a:off x="762000" y="3752850"/>
            <a:ext cx="16192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4DCB1E-83CD-4733-B7FB-57692FAF05D9}"/>
              </a:ext>
            </a:extLst>
          </p:cNvPr>
          <p:cNvSpPr>
            <a:spLocks noGrp="1"/>
          </p:cNvSpPr>
          <p:nvPr/>
        </p:nvSpPr>
        <p:spPr>
          <a:xfrm>
            <a:off x="857250" y="3829050"/>
            <a:ext cx="1428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44B9436-AE4E-45E9-9937-A2D16C223EB6}"/>
              </a:ext>
            </a:extLst>
          </p:cNvPr>
          <p:cNvSpPr>
            <a:spLocks noGrp="1"/>
          </p:cNvSpPr>
          <p:nvPr/>
        </p:nvSpPr>
        <p:spPr>
          <a:xfrm>
            <a:off x="266700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510D69-3BCF-43B9-8FCF-A022A4E07F5F}"/>
              </a:ext>
            </a:extLst>
          </p:cNvPr>
          <p:cNvSpPr>
            <a:spLocks noGrp="1"/>
          </p:cNvSpPr>
          <p:nvPr/>
        </p:nvSpPr>
        <p:spPr>
          <a:xfrm>
            <a:off x="276225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option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AACE32D1-E996-4D9B-8F38-6F5D265D3E61}"/>
              </a:ext>
            </a:extLst>
          </p:cNvPr>
          <p:cNvSpPr>
            <a:spLocks noGrp="1"/>
          </p:cNvSpPr>
          <p:nvPr/>
        </p:nvSpPr>
        <p:spPr>
          <a:xfrm>
            <a:off x="4381500" y="3752850"/>
            <a:ext cx="133350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EBA8DC4-CABF-4718-AD45-A0FDAE773634}"/>
              </a:ext>
            </a:extLst>
          </p:cNvPr>
          <p:cNvSpPr>
            <a:spLocks noGrp="1"/>
          </p:cNvSpPr>
          <p:nvPr/>
        </p:nvSpPr>
        <p:spPr>
          <a:xfrm>
            <a:off x="4476750" y="3829050"/>
            <a:ext cx="1143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option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E5E604D-B0EE-4AEF-809E-34AAFF9472B5}"/>
              </a:ext>
            </a:extLst>
          </p:cNvPr>
          <p:cNvSpPr>
            <a:spLocks noGrp="1"/>
          </p:cNvSpPr>
          <p:nvPr/>
        </p:nvSpPr>
        <p:spPr>
          <a:xfrm>
            <a:off x="6000750" y="3752850"/>
            <a:ext cx="1428750" cy="323850"/>
          </a:xfrm>
          <a:prstGeom prst="roundRect">
            <a:avLst>
              <a:gd name="adj" fmla="val 50000"/>
            </a:avLst>
          </a:prstGeom>
          <a:solidFill>
            <a:srgbClr val="183B78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5850E8-0E28-4E3B-9F8E-64284CADF5DD}"/>
              </a:ext>
            </a:extLst>
          </p:cNvPr>
          <p:cNvSpPr>
            <a:spLocks noGrp="1"/>
          </p:cNvSpPr>
          <p:nvPr/>
        </p:nvSpPr>
        <p:spPr>
          <a:xfrm>
            <a:off x="6096000" y="3829050"/>
            <a:ext cx="1238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436B360-7107-46B8-A712-AAF612A6F261}"/>
              </a:ext>
            </a:extLst>
          </p:cNvPr>
          <p:cNvSpPr>
            <a:spLocks noGrp="1"/>
          </p:cNvSpPr>
          <p:nvPr/>
        </p:nvSpPr>
        <p:spPr>
          <a:xfrm>
            <a:off x="723900" y="6229350"/>
            <a:ext cx="533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AFCBEE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FCBEE"/>
                </a:solidFill>
                <a:latin typeface="Aptos"/>
                <a:ea typeface="Aptos"/>
                <a:cs typeface="Aptos"/>
              </a:rPr>
              <a:t>Prepared for leadership discussion | June 2026</a:t>
            </a:r>
          </a:p>
        </p:txBody>
      </p:sp>
    </p:spTree>
    <p:extLst>
      <p:ext uri="{BB962C8B-B14F-4D97-AF65-F5344CB8AC3E}">
        <p14:creationId xmlns:p14="http://schemas.microsoft.com/office/powerpoint/2010/main" val="19995540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50BFD09-2755-471C-9329-6336677F69A1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Current Shape: Good and Bad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06FF2C2-4CB1-4E27-A757-515E826E94EE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GCP automated email validation is useful, but it is not the target scalable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5E99420-8954-4EB5-9BA4-39E05158F2A9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5A49A9F-B387-4525-9FBD-F248052F248D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E846B8-AFFE-42DE-8533-41398260125A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3FBB5EB-FC3D-48CD-9C44-15C514DEBC76}"/>
              </a:ext>
            </a:extLst>
          </p:cNvPr>
          <p:cNvSpPr>
            <a:spLocks noGrp="1"/>
          </p:cNvSpPr>
          <p:nvPr/>
        </p:nvSpPr>
        <p:spPr>
          <a:xfrm>
            <a:off x="666750" y="1695449"/>
            <a:ext cx="1809750" cy="1314143"/>
          </a:xfrm>
          <a:prstGeom prst="roundRect">
            <a:avLst>
              <a:gd name="adj" fmla="val 8197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893462-8578-45F6-A200-7D52DE7ABF4B}"/>
              </a:ext>
            </a:extLst>
          </p:cNvPr>
          <p:cNvSpPr>
            <a:spLocks noGrp="1"/>
          </p:cNvSpPr>
          <p:nvPr/>
        </p:nvSpPr>
        <p:spPr>
          <a:xfrm>
            <a:off x="666750" y="1695450"/>
            <a:ext cx="57150" cy="11620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F8E43A9-151A-476A-9919-66277F9CD378}"/>
              </a:ext>
            </a:extLst>
          </p:cNvPr>
          <p:cNvSpPr>
            <a:spLocks noGrp="1"/>
          </p:cNvSpPr>
          <p:nvPr/>
        </p:nvSpPr>
        <p:spPr>
          <a:xfrm>
            <a:off x="8572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1. Email data received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7E8266-1CB4-4E52-83AE-1242B85D8E41}"/>
              </a:ext>
            </a:extLst>
          </p:cNvPr>
          <p:cNvSpPr>
            <a:spLocks noGrp="1"/>
          </p:cNvSpPr>
          <p:nvPr/>
        </p:nvSpPr>
        <p:spPr>
          <a:xfrm>
            <a:off x="8572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sends data through the current email-driven channel.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C777902-F244-4091-AE2B-AD9CD3F788B2}"/>
              </a:ext>
            </a:extLst>
          </p:cNvPr>
          <p:cNvSpPr>
            <a:spLocks noGrp="1"/>
          </p:cNvSpPr>
          <p:nvPr/>
        </p:nvSpPr>
        <p:spPr>
          <a:xfrm>
            <a:off x="2552700" y="2152650"/>
            <a:ext cx="3238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0800082-E081-4F97-9C48-FFE1B85DC114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1809750" cy="1314142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19B2654-130A-4FB0-B134-02EEB486031A}"/>
              </a:ext>
            </a:extLst>
          </p:cNvPr>
          <p:cNvSpPr>
            <a:spLocks noGrp="1"/>
          </p:cNvSpPr>
          <p:nvPr/>
        </p:nvSpPr>
        <p:spPr>
          <a:xfrm>
            <a:off x="2857500" y="1695450"/>
            <a:ext cx="57150" cy="116205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11A0A21-BCC6-4B18-9400-E7D72539A625}"/>
              </a:ext>
            </a:extLst>
          </p:cNvPr>
          <p:cNvSpPr>
            <a:spLocks noGrp="1"/>
          </p:cNvSpPr>
          <p:nvPr/>
        </p:nvSpPr>
        <p:spPr>
          <a:xfrm>
            <a:off x="304800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2. GCP script validates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8D77CD-B215-4BDF-B833-9579B1061706}"/>
              </a:ext>
            </a:extLst>
          </p:cNvPr>
          <p:cNvSpPr>
            <a:spLocks noGrp="1"/>
          </p:cNvSpPr>
          <p:nvPr/>
        </p:nvSpPr>
        <p:spPr>
          <a:xfrm>
            <a:off x="304800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Automated script checks the submitted email data.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5AEA0B4-BD74-46F0-BD6C-D1501C110A58}"/>
              </a:ext>
            </a:extLst>
          </p:cNvPr>
          <p:cNvSpPr>
            <a:spLocks noGrp="1"/>
          </p:cNvSpPr>
          <p:nvPr/>
        </p:nvSpPr>
        <p:spPr>
          <a:xfrm>
            <a:off x="4743450" y="2152650"/>
            <a:ext cx="323850" cy="228600"/>
          </a:xfrm>
          <a:prstGeom prst="rightArrow">
            <a:avLst/>
          </a:prstGeom>
          <a:solidFill>
            <a:srgbClr val="16A3B8"/>
          </a:solidFill>
          <a:ln w="0">
            <a:solidFill>
              <a:srgbClr val="16A3B8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E1E2806-8781-440F-8217-A4B18F215A6B}"/>
              </a:ext>
            </a:extLst>
          </p:cNvPr>
          <p:cNvSpPr>
            <a:spLocks noGrp="1"/>
          </p:cNvSpPr>
          <p:nvPr/>
        </p:nvSpPr>
        <p:spPr>
          <a:xfrm>
            <a:off x="5048250" y="1695449"/>
            <a:ext cx="1809750" cy="1244395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F5A5D8-9061-403A-8648-17DD87BB05D8}"/>
              </a:ext>
            </a:extLst>
          </p:cNvPr>
          <p:cNvSpPr>
            <a:spLocks noGrp="1"/>
          </p:cNvSpPr>
          <p:nvPr/>
        </p:nvSpPr>
        <p:spPr>
          <a:xfrm>
            <a:off x="5048250" y="1695450"/>
            <a:ext cx="57150" cy="11620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764F2B-36EB-46CE-B696-F8C48E0265FA}"/>
              </a:ext>
            </a:extLst>
          </p:cNvPr>
          <p:cNvSpPr>
            <a:spLocks noGrp="1"/>
          </p:cNvSpPr>
          <p:nvPr/>
        </p:nvSpPr>
        <p:spPr>
          <a:xfrm>
            <a:off x="52387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3. Approval email sent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30CD66A-6BEE-48C2-B2A8-308730054EDC}"/>
              </a:ext>
            </a:extLst>
          </p:cNvPr>
          <p:cNvSpPr>
            <a:spLocks noGrp="1"/>
          </p:cNvSpPr>
          <p:nvPr/>
        </p:nvSpPr>
        <p:spPr>
          <a:xfrm>
            <a:off x="52387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response goes back to the LSP by email.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E056AE11-D999-4085-B9C3-27DD6E5654EE}"/>
              </a:ext>
            </a:extLst>
          </p:cNvPr>
          <p:cNvSpPr>
            <a:spLocks noGrp="1"/>
          </p:cNvSpPr>
          <p:nvPr/>
        </p:nvSpPr>
        <p:spPr>
          <a:xfrm>
            <a:off x="6934200" y="2152650"/>
            <a:ext cx="32385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0250BFDB-5254-4CB3-ADFB-846302A94524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1809750" cy="1244394"/>
          </a:xfrm>
          <a:prstGeom prst="roundRect">
            <a:avLst>
              <a:gd name="adj" fmla="val 8197"/>
            </a:avLst>
          </a:prstGeom>
          <a:solidFill>
            <a:srgbClr val="ECFDF3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AA79D8A-7AB6-4C5A-89E3-2ED7E62D6067}"/>
              </a:ext>
            </a:extLst>
          </p:cNvPr>
          <p:cNvSpPr>
            <a:spLocks noGrp="1"/>
          </p:cNvSpPr>
          <p:nvPr/>
        </p:nvSpPr>
        <p:spPr>
          <a:xfrm>
            <a:off x="7239000" y="1695450"/>
            <a:ext cx="57150" cy="11620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DA7B8C2-EE86-401F-88B6-F9053782F31B}"/>
              </a:ext>
            </a:extLst>
          </p:cNvPr>
          <p:cNvSpPr>
            <a:spLocks noGrp="1"/>
          </p:cNvSpPr>
          <p:nvPr/>
        </p:nvSpPr>
        <p:spPr>
          <a:xfrm>
            <a:off x="742950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4. LSP disburses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DF8435-B35F-48D6-84CF-A80B2026719C}"/>
              </a:ext>
            </a:extLst>
          </p:cNvPr>
          <p:cNvSpPr>
            <a:spLocks noGrp="1"/>
          </p:cNvSpPr>
          <p:nvPr/>
        </p:nvSpPr>
        <p:spPr>
          <a:xfrm>
            <a:off x="742950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Money movement remains through the LSP's own channel.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B6ACFC9-6C0D-40C1-B4FF-6B5786F643DA}"/>
              </a:ext>
            </a:extLst>
          </p:cNvPr>
          <p:cNvSpPr>
            <a:spLocks noGrp="1"/>
          </p:cNvSpPr>
          <p:nvPr/>
        </p:nvSpPr>
        <p:spPr>
          <a:xfrm>
            <a:off x="9124950" y="2152650"/>
            <a:ext cx="323850" cy="228600"/>
          </a:xfrm>
          <a:prstGeom prst="rightArrow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84C8931-6DB0-46F2-93DB-CE10D45CE1CF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1809750" cy="1162050"/>
          </a:xfrm>
          <a:prstGeom prst="roundRect">
            <a:avLst>
              <a:gd name="adj" fmla="val 8197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87CACE-FC25-4C3F-B1A4-3234EA7F985B}"/>
              </a:ext>
            </a:extLst>
          </p:cNvPr>
          <p:cNvSpPr>
            <a:spLocks noGrp="1"/>
          </p:cNvSpPr>
          <p:nvPr/>
        </p:nvSpPr>
        <p:spPr>
          <a:xfrm>
            <a:off x="9429750" y="1695450"/>
            <a:ext cx="57150" cy="11620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986EE45-E745-46FD-8A7D-0C306996865A}"/>
              </a:ext>
            </a:extLst>
          </p:cNvPr>
          <p:cNvSpPr>
            <a:spLocks noGrp="1"/>
          </p:cNvSpPr>
          <p:nvPr/>
        </p:nvSpPr>
        <p:spPr>
          <a:xfrm>
            <a:off x="9620250" y="1866900"/>
            <a:ext cx="1428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5. PG DB stores approval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F8D923-9A13-41C1-A310-A7884DFC0254}"/>
              </a:ext>
            </a:extLst>
          </p:cNvPr>
          <p:cNvSpPr>
            <a:spLocks noGrp="1"/>
          </p:cNvSpPr>
          <p:nvPr/>
        </p:nvSpPr>
        <p:spPr>
          <a:xfrm>
            <a:off x="9620250" y="2247900"/>
            <a:ext cx="14287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Approval records are stored for reference and control.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38CBEE23-CA5F-4EFF-BD0D-5132626949F3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559F3EF-92DA-4F78-B19E-C5D7DFA02E2D}"/>
              </a:ext>
            </a:extLst>
          </p:cNvPr>
          <p:cNvSpPr>
            <a:spLocks noGrp="1"/>
          </p:cNvSpPr>
          <p:nvPr/>
        </p:nvSpPr>
        <p:spPr>
          <a:xfrm>
            <a:off x="857250" y="3676650"/>
            <a:ext cx="57150" cy="1809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08074-6E5F-4CCE-BA3B-61A513BD3AFD}"/>
              </a:ext>
            </a:extLst>
          </p:cNvPr>
          <p:cNvSpPr>
            <a:spLocks noGrp="1"/>
          </p:cNvSpPr>
          <p:nvPr/>
        </p:nvSpPr>
        <p:spPr>
          <a:xfrm>
            <a:off x="104775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is good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B1FDF535-E882-44A3-984B-A95977B25A16}"/>
              </a:ext>
            </a:extLst>
          </p:cNvPr>
          <p:cNvSpPr>
            <a:spLocks noGrp="1"/>
          </p:cNvSpPr>
          <p:nvPr/>
        </p:nvSpPr>
        <p:spPr>
          <a:xfrm>
            <a:off x="104775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Low cost to prove the concept.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Fast to change while the process evolves.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Keeps disbursement in the LSP channel.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Creates a basic approval record in PostgreSQL.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9C69C245-21CC-4C5D-8ECA-46EDA470EE19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AA557C0-039D-4FF5-B05B-0B45746A3474}"/>
              </a:ext>
            </a:extLst>
          </p:cNvPr>
          <p:cNvSpPr>
            <a:spLocks noGrp="1"/>
          </p:cNvSpPr>
          <p:nvPr/>
        </p:nvSpPr>
        <p:spPr>
          <a:xfrm>
            <a:off x="4495800" y="3676650"/>
            <a:ext cx="57150" cy="18097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FF4AA5E-B049-4210-96DC-86FACD2025FD}"/>
              </a:ext>
            </a:extLst>
          </p:cNvPr>
          <p:cNvSpPr>
            <a:spLocks noGrp="1"/>
          </p:cNvSpPr>
          <p:nvPr/>
        </p:nvSpPr>
        <p:spPr>
          <a:xfrm>
            <a:off x="468630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is not ideal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B83D99B-35E3-4E82-ACC8-AA1B62C20525}"/>
              </a:ext>
            </a:extLst>
          </p:cNvPr>
          <p:cNvSpPr>
            <a:spLocks noGrp="1"/>
          </p:cNvSpPr>
          <p:nvPr/>
        </p:nvSpPr>
        <p:spPr>
          <a:xfrm>
            <a:off x="468630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 is not a strong control surface.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review is still needed.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Audit, access, and change management are limited.</a:t>
            </a: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Many LSPs will create operational drag.</a:t>
            </a:r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E22406C-0513-4C74-8D3F-711F4454751C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3143250" cy="1809750"/>
          </a:xfrm>
          <a:prstGeom prst="roundRect">
            <a:avLst>
              <a:gd name="adj" fmla="val 5263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D79CC385-490B-4248-B654-AE384D3763AD}"/>
              </a:ext>
            </a:extLst>
          </p:cNvPr>
          <p:cNvSpPr>
            <a:spLocks noGrp="1"/>
          </p:cNvSpPr>
          <p:nvPr/>
        </p:nvSpPr>
        <p:spPr>
          <a:xfrm>
            <a:off x="8134350" y="3676650"/>
            <a:ext cx="57150" cy="180975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DF1C5A-4A4C-4F2A-B323-7712C562582F}"/>
              </a:ext>
            </a:extLst>
          </p:cNvPr>
          <p:cNvSpPr>
            <a:spLocks noGrp="1"/>
          </p:cNvSpPr>
          <p:nvPr/>
        </p:nvSpPr>
        <p:spPr>
          <a:xfrm>
            <a:off x="8324850" y="38481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it will not scale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4A5F8E8-1651-4328-8FED-8EEFCF545D87}"/>
              </a:ext>
            </a:extLst>
          </p:cNvPr>
          <p:cNvSpPr>
            <a:spLocks noGrp="1"/>
          </p:cNvSpPr>
          <p:nvPr/>
        </p:nvSpPr>
        <p:spPr>
          <a:xfrm>
            <a:off x="8324850" y="4229100"/>
            <a:ext cx="2762250" cy="1162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process depends on email, people, and ad hoc operations.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is harder to enforce SDLC, security, monitoring, and audit evidence.</a:t>
            </a:r>
          </a:p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does not yet improve the LSP daily experience.</a:t>
            </a:r>
          </a:p>
        </p:txBody>
      </p:sp>
    </p:spTree>
    <p:extLst>
      <p:ext uri="{BB962C8B-B14F-4D97-AF65-F5344CB8AC3E}">
        <p14:creationId xmlns:p14="http://schemas.microsoft.com/office/powerpoint/2010/main" val="75591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AE0CA06-BE3A-449F-9C57-8FE7B2CD45C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Decision to Make: Build vs Buy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0FAADA0-8834-4676-B91D-9672800D905D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executive decision is not just technology; it is ownership, control, adoption, and auditability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C58EDB-C7D8-4112-993B-EC7BD457640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858518F-E7B0-4676-9CF0-35264BA6E754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F5C507-52D4-4469-A993-C92D395059CA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60738AC-5A0E-4B7E-8BF5-57C990531F9C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6422A1C-459E-4E35-85B7-5A5365468919}"/>
              </a:ext>
            </a:extLst>
          </p:cNvPr>
          <p:cNvSpPr>
            <a:spLocks noGrp="1"/>
          </p:cNvSpPr>
          <p:nvPr/>
        </p:nvSpPr>
        <p:spPr>
          <a:xfrm>
            <a:off x="781050" y="1524000"/>
            <a:ext cx="57150" cy="2476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F2E41A-2BDC-4788-97C2-11AF716700B1}"/>
              </a:ext>
            </a:extLst>
          </p:cNvPr>
          <p:cNvSpPr>
            <a:spLocks noGrp="1"/>
          </p:cNvSpPr>
          <p:nvPr/>
        </p:nvSpPr>
        <p:spPr>
          <a:xfrm>
            <a:off x="971550" y="1695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Option A: Build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712FCB-06C4-4E89-9378-93EF4A9745E0}"/>
              </a:ext>
            </a:extLst>
          </p:cNvPr>
          <p:cNvSpPr>
            <a:spLocks noGrp="1"/>
          </p:cNvSpPr>
          <p:nvPr/>
        </p:nvSpPr>
        <p:spPr>
          <a:xfrm>
            <a:off x="971550" y="2076450"/>
            <a:ext cx="4572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 the current prototype as learning, then build an in-house platform.</a:t>
            </a:r>
          </a:p>
          <a:p>
            <a:endParaRPr sz="127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Status: prototype implemented, but not scale-ready, not deployed, and no production infrastructure exists yet.</a:t>
            </a:r>
          </a:p>
          <a:p>
            <a:endParaRPr sz="127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Best when: Bhawana wants long-term control over data, workflow, integrations, and group security standards.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081FF3A-E8D8-45E0-977A-AF32F6395412}"/>
              </a:ext>
            </a:extLst>
          </p:cNvPr>
          <p:cNvSpPr>
            <a:spLocks noGrp="1"/>
          </p:cNvSpPr>
          <p:nvPr/>
        </p:nvSpPr>
        <p:spPr>
          <a:xfrm>
            <a:off x="6457950" y="1524000"/>
            <a:ext cx="4953000" cy="2476500"/>
          </a:xfrm>
          <a:prstGeom prst="roundRect">
            <a:avLst>
              <a:gd name="adj" fmla="val 3846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7609929-C779-4CFA-9744-8C21E16F79D5}"/>
              </a:ext>
            </a:extLst>
          </p:cNvPr>
          <p:cNvSpPr>
            <a:spLocks noGrp="1"/>
          </p:cNvSpPr>
          <p:nvPr/>
        </p:nvSpPr>
        <p:spPr>
          <a:xfrm>
            <a:off x="6457950" y="1524000"/>
            <a:ext cx="57150" cy="24765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FCE35B-7629-412A-9C4C-5A5DA120A63D}"/>
              </a:ext>
            </a:extLst>
          </p:cNvPr>
          <p:cNvSpPr>
            <a:spLocks noGrp="1"/>
          </p:cNvSpPr>
          <p:nvPr/>
        </p:nvSpPr>
        <p:spPr>
          <a:xfrm>
            <a:off x="6648450" y="1695450"/>
            <a:ext cx="4572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Option B: Buy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B00674-B662-41C0-BA96-D496F6CEBFC5}"/>
              </a:ext>
            </a:extLst>
          </p:cNvPr>
          <p:cNvSpPr>
            <a:spLocks noGrp="1"/>
          </p:cNvSpPr>
          <p:nvPr/>
        </p:nvSpPr>
        <p:spPr>
          <a:xfrm>
            <a:off x="6648450" y="2076450"/>
            <a:ext cx="4572000" cy="1828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Assess existing LMS / loan operations vendors and integrate the selected product.</a:t>
            </a:r>
          </a:p>
          <a:p>
            <a:endParaRPr sz="127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Status: multiple vendors need structured assessment over several months with security, compliance, integration, and operating audits.</a:t>
            </a:r>
          </a:p>
          <a:p>
            <a:endParaRPr sz="127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Best when: speed to mature capabilities matters more than full control.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1CCDF4F-BBA1-4C36-B511-B3BBFBC08E35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419100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DAF3EB0-60A1-40CC-BA18-2BFBD882A146}"/>
              </a:ext>
            </a:extLst>
          </p:cNvPr>
          <p:cNvSpPr>
            <a:spLocks noGrp="1"/>
          </p:cNvSpPr>
          <p:nvPr/>
        </p:nvSpPr>
        <p:spPr>
          <a:xfrm>
            <a:off x="1238250" y="4514850"/>
            <a:ext cx="57150" cy="1333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282FC07-B2F1-4111-9208-7464646FF387}"/>
              </a:ext>
            </a:extLst>
          </p:cNvPr>
          <p:cNvSpPr>
            <a:spLocks noGrp="1"/>
          </p:cNvSpPr>
          <p:nvPr/>
        </p:nvSpPr>
        <p:spPr>
          <a:xfrm>
            <a:off x="1428750" y="46863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adoption question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874134-2B78-4B80-8D79-BC6ECE31DBEF}"/>
              </a:ext>
            </a:extLst>
          </p:cNvPr>
          <p:cNvSpPr>
            <a:spLocks noGrp="1"/>
          </p:cNvSpPr>
          <p:nvPr/>
        </p:nvSpPr>
        <p:spPr>
          <a:xfrm>
            <a:off x="1428750" y="5067300"/>
            <a:ext cx="3810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Why would an LSP move? The platform must reduce manual work, improve approval speed, show clear status, simplify audits, and integrate with the existing disbursement channel.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9F0A3E-B662-4DAD-8876-E06338573202}"/>
              </a:ext>
            </a:extLst>
          </p:cNvPr>
          <p:cNvSpPr>
            <a:spLocks noGrp="1"/>
          </p:cNvSpPr>
          <p:nvPr/>
        </p:nvSpPr>
        <p:spPr>
          <a:xfrm>
            <a:off x="6762750" y="4514850"/>
            <a:ext cx="3714750" cy="1333500"/>
          </a:xfrm>
          <a:prstGeom prst="roundRect">
            <a:avLst>
              <a:gd name="adj" fmla="val 7143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3953715-8D40-4A68-8FB9-2B7A0D92E0D7}"/>
              </a:ext>
            </a:extLst>
          </p:cNvPr>
          <p:cNvSpPr>
            <a:spLocks noGrp="1"/>
          </p:cNvSpPr>
          <p:nvPr/>
        </p:nvSpPr>
        <p:spPr>
          <a:xfrm>
            <a:off x="6762750" y="4514850"/>
            <a:ext cx="57150" cy="13335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5E89C76-CE23-4983-92D4-3D3AE59BA90B}"/>
              </a:ext>
            </a:extLst>
          </p:cNvPr>
          <p:cNvSpPr>
            <a:spLocks noGrp="1"/>
          </p:cNvSpPr>
          <p:nvPr/>
        </p:nvSpPr>
        <p:spPr>
          <a:xfrm>
            <a:off x="6953250" y="4686300"/>
            <a:ext cx="3333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Decision needed now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9E6895-8D1D-4B6D-9B8A-A9119FA2B7AA}"/>
              </a:ext>
            </a:extLst>
          </p:cNvPr>
          <p:cNvSpPr>
            <a:spLocks noGrp="1"/>
          </p:cNvSpPr>
          <p:nvPr/>
        </p:nvSpPr>
        <p:spPr>
          <a:xfrm>
            <a:off x="6953250" y="5067300"/>
            <a:ext cx="33337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a structured build-vs-buy assessment with clear criteria, owners, timeline, and go/no-go gates.</a:t>
            </a:r>
          </a:p>
        </p:txBody>
      </p:sp>
    </p:spTree>
    <p:extLst>
      <p:ext uri="{BB962C8B-B14F-4D97-AF65-F5344CB8AC3E}">
        <p14:creationId xmlns:p14="http://schemas.microsoft.com/office/powerpoint/2010/main" val="1817983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AC7BBF0C-CCB1-406A-A72B-0900B493D02D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Prototype Implemented: What It Means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2BF9C51-F59D-46DB-938B-A2939EA6EE9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Informative prototype, not production platform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D1915D2-03D3-4EF8-BA63-27ABE174A775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71E2A-A55A-4E3C-89BE-F72EDEDFEDD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A5DE7D-8EE7-4373-8E05-236A973E149E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CE30A3F-D60A-40F2-B562-F68A7CCD01FD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881A38-768C-4A50-B100-A51917D8D429}"/>
              </a:ext>
            </a:extLst>
          </p:cNvPr>
          <p:cNvSpPr>
            <a:spLocks noGrp="1"/>
          </p:cNvSpPr>
          <p:nvPr/>
        </p:nvSpPr>
        <p:spPr>
          <a:xfrm>
            <a:off x="838200" y="1524000"/>
            <a:ext cx="57150" cy="17907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CEE2AF-6E15-41A8-B4B8-7F7443A91439}"/>
              </a:ext>
            </a:extLst>
          </p:cNvPr>
          <p:cNvSpPr>
            <a:spLocks noGrp="1"/>
          </p:cNvSpPr>
          <p:nvPr/>
        </p:nvSpPr>
        <p:spPr>
          <a:xfrm>
            <a:off x="10287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exists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2ACE24-CFF0-406B-A85E-172D520D4525}"/>
              </a:ext>
            </a:extLst>
          </p:cNvPr>
          <p:cNvSpPr>
            <a:spLocks noGrp="1"/>
          </p:cNvSpPr>
          <p:nvPr/>
        </p:nvSpPr>
        <p:spPr>
          <a:xfrm>
            <a:off x="10287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working concept for validation, approval, data capture, and basic workflow.</a:t>
            </a:r>
          </a:p>
          <a:p>
            <a:endParaRPr sz="1200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Useful for learning and vendor comparison.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91672F3-A456-411D-9FDA-5A4AD276D982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5197E9-9AEE-4470-82CD-DB7580F6089E}"/>
              </a:ext>
            </a:extLst>
          </p:cNvPr>
          <p:cNvSpPr>
            <a:spLocks noGrp="1"/>
          </p:cNvSpPr>
          <p:nvPr/>
        </p:nvSpPr>
        <p:spPr>
          <a:xfrm>
            <a:off x="4572000" y="1524000"/>
            <a:ext cx="57150" cy="17907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4762214-0248-4504-B6AD-D6248353B3D8}"/>
              </a:ext>
            </a:extLst>
          </p:cNvPr>
          <p:cNvSpPr>
            <a:spLocks noGrp="1"/>
          </p:cNvSpPr>
          <p:nvPr/>
        </p:nvSpPr>
        <p:spPr>
          <a:xfrm>
            <a:off x="47625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What does not exist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067A18-6090-4858-9674-24B827FFA7A1}"/>
              </a:ext>
            </a:extLst>
          </p:cNvPr>
          <p:cNvSpPr>
            <a:spLocks noGrp="1"/>
          </p:cNvSpPr>
          <p:nvPr/>
        </p:nvSpPr>
        <p:spPr>
          <a:xfrm>
            <a:off x="47625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deployment.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Azure India subscription or production infrastructure.</a:t>
            </a: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proven HA, DR, monitoring, support model, or security certification.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9D6492-28AF-48CA-9C53-F8D8AFFCE353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3048000" cy="1790700"/>
          </a:xfrm>
          <a:prstGeom prst="roundRect">
            <a:avLst>
              <a:gd name="adj" fmla="val 5319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85214E-8449-4FD8-AE3E-A8B86421B322}"/>
              </a:ext>
            </a:extLst>
          </p:cNvPr>
          <p:cNvSpPr>
            <a:spLocks noGrp="1"/>
          </p:cNvSpPr>
          <p:nvPr/>
        </p:nvSpPr>
        <p:spPr>
          <a:xfrm>
            <a:off x="8305800" y="1524000"/>
            <a:ext cx="57150" cy="17907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391AA0-B635-44B8-8132-A52873E653BF}"/>
              </a:ext>
            </a:extLst>
          </p:cNvPr>
          <p:cNvSpPr>
            <a:spLocks noGrp="1"/>
          </p:cNvSpPr>
          <p:nvPr/>
        </p:nvSpPr>
        <p:spPr>
          <a:xfrm>
            <a:off x="8496300" y="16954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interactions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EF2013-9254-46B4-BC31-041749087CB1}"/>
              </a:ext>
            </a:extLst>
          </p:cNvPr>
          <p:cNvSpPr>
            <a:spLocks noGrp="1"/>
          </p:cNvSpPr>
          <p:nvPr/>
        </p:nvSpPr>
        <p:spPr>
          <a:xfrm>
            <a:off x="8496300" y="2076450"/>
            <a:ext cx="2667000" cy="1143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review exceptions, approve decisions, manage partner issues, and own follow-up.</a:t>
            </a:r>
          </a:p>
          <a:p>
            <a:endParaRPr sz="1163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63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63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The platform should make these steps auditable.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8CA2A17-3585-4EE0-BD9F-E6D843B0EA1F}"/>
              </a:ext>
            </a:extLst>
          </p:cNvPr>
          <p:cNvSpPr>
            <a:spLocks noGrp="1"/>
          </p:cNvSpPr>
          <p:nvPr/>
        </p:nvSpPr>
        <p:spPr>
          <a:xfrm>
            <a:off x="1143000" y="4171950"/>
            <a:ext cx="9906000" cy="571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9479A55-0C0A-4ADD-A315-B130E916BC7F}"/>
              </a:ext>
            </a:extLst>
          </p:cNvPr>
          <p:cNvSpPr>
            <a:spLocks noGrp="1"/>
          </p:cNvSpPr>
          <p:nvPr/>
        </p:nvSpPr>
        <p:spPr>
          <a:xfrm>
            <a:off x="1504950" y="39624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1DE073B-4CE2-4157-8D7B-8038F41092BA}"/>
              </a:ext>
            </a:extLst>
          </p:cNvPr>
          <p:cNvSpPr>
            <a:spLocks noGrp="1"/>
          </p:cNvSpPr>
          <p:nvPr/>
        </p:nvSpPr>
        <p:spPr>
          <a:xfrm>
            <a:off x="15049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3E7F8F7-774E-427F-BDAA-173AAD6EB53C}"/>
              </a:ext>
            </a:extLst>
          </p:cNvPr>
          <p:cNvSpPr>
            <a:spLocks noGrp="1"/>
          </p:cNvSpPr>
          <p:nvPr/>
        </p:nvSpPr>
        <p:spPr>
          <a:xfrm>
            <a:off x="11430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Prototype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AAA73B1-4DF9-44F1-83BC-E88CF14B7492}"/>
              </a:ext>
            </a:extLst>
          </p:cNvPr>
          <p:cNvSpPr>
            <a:spLocks noGrp="1"/>
          </p:cNvSpPr>
          <p:nvPr/>
        </p:nvSpPr>
        <p:spPr>
          <a:xfrm>
            <a:off x="4286250" y="3962400"/>
            <a:ext cx="457200" cy="457200"/>
          </a:xfrm>
          <a:prstGeom prst="ellipse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FD9F67C-E985-4ED8-A1F4-890C009DFFF9}"/>
              </a:ext>
            </a:extLst>
          </p:cNvPr>
          <p:cNvSpPr>
            <a:spLocks noGrp="1"/>
          </p:cNvSpPr>
          <p:nvPr/>
        </p:nvSpPr>
        <p:spPr>
          <a:xfrm>
            <a:off x="42862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895F0E-1B03-495A-9CF8-14976A453592}"/>
              </a:ext>
            </a:extLst>
          </p:cNvPr>
          <p:cNvSpPr>
            <a:spLocks noGrp="1"/>
          </p:cNvSpPr>
          <p:nvPr/>
        </p:nvSpPr>
        <p:spPr>
          <a:xfrm>
            <a:off x="39243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B9E5A14-DD67-46FB-92AB-646BF53C59CC}"/>
              </a:ext>
            </a:extLst>
          </p:cNvPr>
          <p:cNvSpPr>
            <a:spLocks noGrp="1"/>
          </p:cNvSpPr>
          <p:nvPr/>
        </p:nvSpPr>
        <p:spPr>
          <a:xfrm>
            <a:off x="7067550" y="3962400"/>
            <a:ext cx="457200" cy="4572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0BA29C5B-1D30-4D0F-875D-F5AA2BD52F36}"/>
              </a:ext>
            </a:extLst>
          </p:cNvPr>
          <p:cNvSpPr>
            <a:spLocks noGrp="1"/>
          </p:cNvSpPr>
          <p:nvPr/>
        </p:nvSpPr>
        <p:spPr>
          <a:xfrm>
            <a:off x="70675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DB8912-2F20-42D6-AC25-1E690263E8E0}"/>
              </a:ext>
            </a:extLst>
          </p:cNvPr>
          <p:cNvSpPr>
            <a:spLocks noGrp="1"/>
          </p:cNvSpPr>
          <p:nvPr/>
        </p:nvSpPr>
        <p:spPr>
          <a:xfrm>
            <a:off x="67056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Pilot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BB12D59-7AA9-4AFD-8603-1018DF9B70CB}"/>
              </a:ext>
            </a:extLst>
          </p:cNvPr>
          <p:cNvSpPr>
            <a:spLocks noGrp="1"/>
          </p:cNvSpPr>
          <p:nvPr/>
        </p:nvSpPr>
        <p:spPr>
          <a:xfrm>
            <a:off x="9848850" y="3962400"/>
            <a:ext cx="457200" cy="45720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62C9DDE-F7AB-4C31-B60F-B66DCBA1F11A}"/>
              </a:ext>
            </a:extLst>
          </p:cNvPr>
          <p:cNvSpPr>
            <a:spLocks noGrp="1"/>
          </p:cNvSpPr>
          <p:nvPr/>
        </p:nvSpPr>
        <p:spPr>
          <a:xfrm>
            <a:off x="9848850" y="40862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95C0281-765E-43D8-AFCB-7005B29B7EF8}"/>
              </a:ext>
            </a:extLst>
          </p:cNvPr>
          <p:cNvSpPr>
            <a:spLocks noGrp="1"/>
          </p:cNvSpPr>
          <p:nvPr/>
        </p:nvSpPr>
        <p:spPr>
          <a:xfrm>
            <a:off x="9486900" y="4572000"/>
            <a:ext cx="12192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4C9C70-35C1-450D-A67E-73A5856B5D93}"/>
              </a:ext>
            </a:extLst>
          </p:cNvPr>
          <p:cNvSpPr>
            <a:spLocks noGrp="1"/>
          </p:cNvSpPr>
          <p:nvPr/>
        </p:nvSpPr>
        <p:spPr>
          <a:xfrm>
            <a:off x="2286000" y="5257800"/>
            <a:ext cx="7620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Current state sits at the first point: useful evidence, but not ready for external production use.</a:t>
            </a:r>
          </a:p>
        </p:txBody>
      </p:sp>
    </p:spTree>
    <p:extLst>
      <p:ext uri="{BB962C8B-B14F-4D97-AF65-F5344CB8AC3E}">
        <p14:creationId xmlns:p14="http://schemas.microsoft.com/office/powerpoint/2010/main" val="6284709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55661A41-3989-4091-9D2B-B2391A9B1210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Governance and Operational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E50D3A6-DA9A-4D85-917B-A168CA0E85AC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platform should make compliance easier, not add undocumented manual work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67325C-CDD5-459C-BEC6-1BE9DD3DA0C5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5AF099-9CE5-4BD1-8185-9A2BCE5A7511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DBD7D72-8645-40F5-A5B3-F80363F1F1ED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8498999-800D-4CA7-A17E-1B6A68F14B2E}"/>
              </a:ext>
            </a:extLst>
          </p:cNvPr>
          <p:cNvSpPr>
            <a:spLocks noGrp="1"/>
          </p:cNvSpPr>
          <p:nvPr/>
        </p:nvSpPr>
        <p:spPr>
          <a:xfrm>
            <a:off x="552450" y="1466850"/>
            <a:ext cx="10744200" cy="6286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FAE34-A7C6-4838-A678-E6EAD8A0833A}"/>
              </a:ext>
            </a:extLst>
          </p:cNvPr>
          <p:cNvSpPr>
            <a:spLocks noGrp="1"/>
          </p:cNvSpPr>
          <p:nvPr/>
        </p:nvSpPr>
        <p:spPr>
          <a:xfrm>
            <a:off x="647700" y="15430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CE93BB-DFCC-4BEF-A0C6-48D70B988564}"/>
              </a:ext>
            </a:extLst>
          </p:cNvPr>
          <p:cNvSpPr>
            <a:spLocks noGrp="1"/>
          </p:cNvSpPr>
          <p:nvPr/>
        </p:nvSpPr>
        <p:spPr>
          <a:xfrm>
            <a:off x="25527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2783D3D-BEEF-4723-86B1-C620E466FC79}"/>
              </a:ext>
            </a:extLst>
          </p:cNvPr>
          <p:cNvSpPr>
            <a:spLocks noGrp="1"/>
          </p:cNvSpPr>
          <p:nvPr/>
        </p:nvSpPr>
        <p:spPr>
          <a:xfrm>
            <a:off x="2647950" y="15430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Platform control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DF572E-36B5-4897-81D5-FBD34F9172F3}"/>
              </a:ext>
            </a:extLst>
          </p:cNvPr>
          <p:cNvSpPr>
            <a:spLocks noGrp="1"/>
          </p:cNvSpPr>
          <p:nvPr/>
        </p:nvSpPr>
        <p:spPr>
          <a:xfrm>
            <a:off x="60579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F7DD014-CA7F-43C8-9347-E5ECC6F804E1}"/>
              </a:ext>
            </a:extLst>
          </p:cNvPr>
          <p:cNvSpPr>
            <a:spLocks noGrp="1"/>
          </p:cNvSpPr>
          <p:nvPr/>
        </p:nvSpPr>
        <p:spPr>
          <a:xfrm>
            <a:off x="6153150" y="15430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C0A8DBB-034E-43B0-874F-642467E64FBA}"/>
              </a:ext>
            </a:extLst>
          </p:cNvPr>
          <p:cNvSpPr>
            <a:spLocks noGrp="1"/>
          </p:cNvSpPr>
          <p:nvPr/>
        </p:nvSpPr>
        <p:spPr>
          <a:xfrm>
            <a:off x="8610600" y="14668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C82F59-192D-4E57-B217-310867F74B81}"/>
              </a:ext>
            </a:extLst>
          </p:cNvPr>
          <p:cNvSpPr>
            <a:spLocks noGrp="1"/>
          </p:cNvSpPr>
          <p:nvPr/>
        </p:nvSpPr>
        <p:spPr>
          <a:xfrm>
            <a:off x="8705850" y="15430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interaction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C76FD7-4995-4CA0-A1FA-22D652E4E261}"/>
              </a:ext>
            </a:extLst>
          </p:cNvPr>
          <p:cNvSpPr>
            <a:spLocks noGrp="1"/>
          </p:cNvSpPr>
          <p:nvPr/>
        </p:nvSpPr>
        <p:spPr>
          <a:xfrm>
            <a:off x="552450" y="20955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88CAE3B-BD0C-48B5-9190-F3DE648895AE}"/>
              </a:ext>
            </a:extLst>
          </p:cNvPr>
          <p:cNvSpPr>
            <a:spLocks noGrp="1"/>
          </p:cNvSpPr>
          <p:nvPr/>
        </p:nvSpPr>
        <p:spPr>
          <a:xfrm>
            <a:off x="647700" y="21717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 evidence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42601D9-B362-42DD-8247-8C5C9B2640EE}"/>
              </a:ext>
            </a:extLst>
          </p:cNvPr>
          <p:cNvSpPr>
            <a:spLocks noGrp="1"/>
          </p:cNvSpPr>
          <p:nvPr/>
        </p:nvSpPr>
        <p:spPr>
          <a:xfrm>
            <a:off x="25527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76D0690-4636-4861-828C-DC52ED068A89}"/>
              </a:ext>
            </a:extLst>
          </p:cNvPr>
          <p:cNvSpPr>
            <a:spLocks noGrp="1"/>
          </p:cNvSpPr>
          <p:nvPr/>
        </p:nvSpPr>
        <p:spPr>
          <a:xfrm>
            <a:off x="2647950" y="21717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Immutable logs for approvals, status changes, downloads, and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FDCCF4-5F99-4B8B-9E3C-7D96391F171B}"/>
              </a:ext>
            </a:extLst>
          </p:cNvPr>
          <p:cNvSpPr>
            <a:spLocks noGrp="1"/>
          </p:cNvSpPr>
          <p:nvPr/>
        </p:nvSpPr>
        <p:spPr>
          <a:xfrm>
            <a:off x="60579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84EE5D-9C2B-484D-B5D8-E5F63C4EC9DA}"/>
              </a:ext>
            </a:extLst>
          </p:cNvPr>
          <p:cNvSpPr>
            <a:spLocks noGrp="1"/>
          </p:cNvSpPr>
          <p:nvPr/>
        </p:nvSpPr>
        <p:spPr>
          <a:xfrm>
            <a:off x="6153150" y="21717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Platform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1570B7D-BEBF-41E3-BF80-61F49FCF2B09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EBD9850-DF67-4661-8185-4E7E18CBD695}"/>
              </a:ext>
            </a:extLst>
          </p:cNvPr>
          <p:cNvSpPr>
            <a:spLocks noGrp="1"/>
          </p:cNvSpPr>
          <p:nvPr/>
        </p:nvSpPr>
        <p:spPr>
          <a:xfrm>
            <a:off x="8705850" y="21717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reviews exception trail.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483A47F-1B1F-47B1-A9D1-A99F8C4120E3}"/>
              </a:ext>
            </a:extLst>
          </p:cNvPr>
          <p:cNvSpPr>
            <a:spLocks noGrp="1"/>
          </p:cNvSpPr>
          <p:nvPr/>
        </p:nvSpPr>
        <p:spPr>
          <a:xfrm>
            <a:off x="552450" y="27241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A782AD9-7D64-4834-A23A-0D299A3A775D}"/>
              </a:ext>
            </a:extLst>
          </p:cNvPr>
          <p:cNvSpPr>
            <a:spLocks noGrp="1"/>
          </p:cNvSpPr>
          <p:nvPr/>
        </p:nvSpPr>
        <p:spPr>
          <a:xfrm>
            <a:off x="647700" y="28003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standards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3942EF-9A27-4373-9A24-A3762DEE9F52}"/>
              </a:ext>
            </a:extLst>
          </p:cNvPr>
          <p:cNvSpPr>
            <a:spLocks noGrp="1"/>
          </p:cNvSpPr>
          <p:nvPr/>
        </p:nvSpPr>
        <p:spPr>
          <a:xfrm>
            <a:off x="25527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20DE87A-9B9B-4AC2-BD8F-D3A66DFE6643}"/>
              </a:ext>
            </a:extLst>
          </p:cNvPr>
          <p:cNvSpPr>
            <a:spLocks noGrp="1"/>
          </p:cNvSpPr>
          <p:nvPr/>
        </p:nvSpPr>
        <p:spPr>
          <a:xfrm>
            <a:off x="2647950" y="28003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Group SDLC, secure coding, dependency checks, and change approvals.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11E984-85B8-405F-A281-D535734004ED}"/>
              </a:ext>
            </a:extLst>
          </p:cNvPr>
          <p:cNvSpPr>
            <a:spLocks noGrp="1"/>
          </p:cNvSpPr>
          <p:nvPr/>
        </p:nvSpPr>
        <p:spPr>
          <a:xfrm>
            <a:off x="60579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A987690-7D94-40B5-A7B4-51818EE3613E}"/>
              </a:ext>
            </a:extLst>
          </p:cNvPr>
          <p:cNvSpPr>
            <a:spLocks noGrp="1"/>
          </p:cNvSpPr>
          <p:nvPr/>
        </p:nvSpPr>
        <p:spPr>
          <a:xfrm>
            <a:off x="6153150" y="28003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 + Engineering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3F9A597-5B0D-4040-B2FC-E6613FDB7A29}"/>
              </a:ext>
            </a:extLst>
          </p:cNvPr>
          <p:cNvSpPr>
            <a:spLocks noGrp="1"/>
          </p:cNvSpPr>
          <p:nvPr/>
        </p:nvSpPr>
        <p:spPr>
          <a:xfrm>
            <a:off x="8610600" y="27241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0E336C5-C57B-4074-8DF1-51F1CCD8C624}"/>
              </a:ext>
            </a:extLst>
          </p:cNvPr>
          <p:cNvSpPr>
            <a:spLocks noGrp="1"/>
          </p:cNvSpPr>
          <p:nvPr/>
        </p:nvSpPr>
        <p:spPr>
          <a:xfrm>
            <a:off x="8705850" y="28003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signs off gates.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A73DCC-8506-4D37-9BFE-1368ABA39176}"/>
              </a:ext>
            </a:extLst>
          </p:cNvPr>
          <p:cNvSpPr>
            <a:spLocks noGrp="1"/>
          </p:cNvSpPr>
          <p:nvPr/>
        </p:nvSpPr>
        <p:spPr>
          <a:xfrm>
            <a:off x="552450" y="33528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BA0529-12CD-4659-9F9E-12730BA23D92}"/>
              </a:ext>
            </a:extLst>
          </p:cNvPr>
          <p:cNvSpPr>
            <a:spLocks noGrp="1"/>
          </p:cNvSpPr>
          <p:nvPr/>
        </p:nvSpPr>
        <p:spPr>
          <a:xfrm>
            <a:off x="647700" y="34290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requests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E04C5CD-632E-40FA-B00B-F1A34CB9C811}"/>
              </a:ext>
            </a:extLst>
          </p:cNvPr>
          <p:cNvSpPr>
            <a:spLocks noGrp="1"/>
          </p:cNvSpPr>
          <p:nvPr/>
        </p:nvSpPr>
        <p:spPr>
          <a:xfrm>
            <a:off x="25527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A0A862A-AF38-4510-B516-980D9B57CE7F}"/>
              </a:ext>
            </a:extLst>
          </p:cNvPr>
          <p:cNvSpPr>
            <a:spLocks noGrp="1"/>
          </p:cNvSpPr>
          <p:nvPr/>
        </p:nvSpPr>
        <p:spPr>
          <a:xfrm>
            <a:off x="2647950" y="34290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Formal intake, impact analysis, approval, test evidence, release note.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9EE0307-603C-4AC2-850E-146888ABF501}"/>
              </a:ext>
            </a:extLst>
          </p:cNvPr>
          <p:cNvSpPr>
            <a:spLocks noGrp="1"/>
          </p:cNvSpPr>
          <p:nvPr/>
        </p:nvSpPr>
        <p:spPr>
          <a:xfrm>
            <a:off x="60579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92A44A-7999-46A6-9FBD-16A49523061B}"/>
              </a:ext>
            </a:extLst>
          </p:cNvPr>
          <p:cNvSpPr>
            <a:spLocks noGrp="1"/>
          </p:cNvSpPr>
          <p:nvPr/>
        </p:nvSpPr>
        <p:spPr>
          <a:xfrm>
            <a:off x="6153150" y="34290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Governance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63423CD-F9EF-4E81-9555-A1E52AC4115C}"/>
              </a:ext>
            </a:extLst>
          </p:cNvPr>
          <p:cNvSpPr>
            <a:spLocks noGrp="1"/>
          </p:cNvSpPr>
          <p:nvPr/>
        </p:nvSpPr>
        <p:spPr>
          <a:xfrm>
            <a:off x="8610600" y="33528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0BBCD8-EFA7-46DF-8205-C61BAC455A43}"/>
              </a:ext>
            </a:extLst>
          </p:cNvPr>
          <p:cNvSpPr>
            <a:spLocks noGrp="1"/>
          </p:cNvSpPr>
          <p:nvPr/>
        </p:nvSpPr>
        <p:spPr>
          <a:xfrm>
            <a:off x="8705850" y="34290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Change board approves.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6C92434-A6D5-4668-9633-B67F308E6CDB}"/>
              </a:ext>
            </a:extLst>
          </p:cNvPr>
          <p:cNvSpPr>
            <a:spLocks noGrp="1"/>
          </p:cNvSpPr>
          <p:nvPr/>
        </p:nvSpPr>
        <p:spPr>
          <a:xfrm>
            <a:off x="552450" y="39814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71402A7-65B6-459B-B749-5172A6B121AF}"/>
              </a:ext>
            </a:extLst>
          </p:cNvPr>
          <p:cNvSpPr>
            <a:spLocks noGrp="1"/>
          </p:cNvSpPr>
          <p:nvPr/>
        </p:nvSpPr>
        <p:spPr>
          <a:xfrm>
            <a:off x="647700" y="40576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management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CDE26E8-05F4-4411-AF6D-4802366DAE0A}"/>
              </a:ext>
            </a:extLst>
          </p:cNvPr>
          <p:cNvSpPr>
            <a:spLocks noGrp="1"/>
          </p:cNvSpPr>
          <p:nvPr/>
        </p:nvSpPr>
        <p:spPr>
          <a:xfrm>
            <a:off x="25527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E606DC35-3936-4975-8C6C-7A89FA9E38EF}"/>
              </a:ext>
            </a:extLst>
          </p:cNvPr>
          <p:cNvSpPr>
            <a:spLocks noGrp="1"/>
          </p:cNvSpPr>
          <p:nvPr/>
        </p:nvSpPr>
        <p:spPr>
          <a:xfrm>
            <a:off x="2647950" y="40576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ID, role-based access, joiner/mover/leaver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5BD58E1-0B09-44C5-8DD2-1A3512C946DE}"/>
              </a:ext>
            </a:extLst>
          </p:cNvPr>
          <p:cNvSpPr>
            <a:spLocks noGrp="1"/>
          </p:cNvSpPr>
          <p:nvPr/>
        </p:nvSpPr>
        <p:spPr>
          <a:xfrm>
            <a:off x="60579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BFC3484-0C69-4791-8DC6-F3333C7F8AB7}"/>
              </a:ext>
            </a:extLst>
          </p:cNvPr>
          <p:cNvSpPr>
            <a:spLocks noGrp="1"/>
          </p:cNvSpPr>
          <p:nvPr/>
        </p:nvSpPr>
        <p:spPr>
          <a:xfrm>
            <a:off x="6153150" y="40576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IAM + Platform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E85C7189-2915-480C-BA83-8F3D7ABC0BC8}"/>
              </a:ext>
            </a:extLst>
          </p:cNvPr>
          <p:cNvSpPr>
            <a:spLocks noGrp="1"/>
          </p:cNvSpPr>
          <p:nvPr/>
        </p:nvSpPr>
        <p:spPr>
          <a:xfrm>
            <a:off x="8610600" y="39814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BBB29DD-7D9F-4520-881C-F918FD977F7E}"/>
              </a:ext>
            </a:extLst>
          </p:cNvPr>
          <p:cNvSpPr>
            <a:spLocks noGrp="1"/>
          </p:cNvSpPr>
          <p:nvPr/>
        </p:nvSpPr>
        <p:spPr>
          <a:xfrm>
            <a:off x="8705850" y="40576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 owner reviews.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A463122-1C68-4B2E-9322-1741F41FC0E6}"/>
              </a:ext>
            </a:extLst>
          </p:cNvPr>
          <p:cNvSpPr>
            <a:spLocks noGrp="1"/>
          </p:cNvSpPr>
          <p:nvPr/>
        </p:nvSpPr>
        <p:spPr>
          <a:xfrm>
            <a:off x="552450" y="4610100"/>
            <a:ext cx="10744200" cy="6286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42A6FC33-9120-43CA-BDA3-FFAF281B4BB6}"/>
              </a:ext>
            </a:extLst>
          </p:cNvPr>
          <p:cNvSpPr>
            <a:spLocks noGrp="1"/>
          </p:cNvSpPr>
          <p:nvPr/>
        </p:nvSpPr>
        <p:spPr>
          <a:xfrm>
            <a:off x="647700" y="468630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789FCDA-44F9-4815-89ED-82BB2EBEBD11}"/>
              </a:ext>
            </a:extLst>
          </p:cNvPr>
          <p:cNvSpPr>
            <a:spLocks noGrp="1"/>
          </p:cNvSpPr>
          <p:nvPr/>
        </p:nvSpPr>
        <p:spPr>
          <a:xfrm>
            <a:off x="25527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44E4E1-E1B0-4004-8BE3-50F1AB297B62}"/>
              </a:ext>
            </a:extLst>
          </p:cNvPr>
          <p:cNvSpPr>
            <a:spLocks noGrp="1"/>
          </p:cNvSpPr>
          <p:nvPr/>
        </p:nvSpPr>
        <p:spPr>
          <a:xfrm>
            <a:off x="2647950" y="468630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Runbooks, on-call, incidents, SLAs, partner support queue.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06E12CC-A79E-41DD-90E3-A0B164AF5D53}"/>
              </a:ext>
            </a:extLst>
          </p:cNvPr>
          <p:cNvSpPr>
            <a:spLocks noGrp="1"/>
          </p:cNvSpPr>
          <p:nvPr/>
        </p:nvSpPr>
        <p:spPr>
          <a:xfrm>
            <a:off x="60579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A4F8B45-77CF-4022-92F4-7378FECE59A0}"/>
              </a:ext>
            </a:extLst>
          </p:cNvPr>
          <p:cNvSpPr>
            <a:spLocks noGrp="1"/>
          </p:cNvSpPr>
          <p:nvPr/>
        </p:nvSpPr>
        <p:spPr>
          <a:xfrm>
            <a:off x="6153150" y="468630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SRE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3666AAF-D8B7-4313-ABB5-6A726BB08452}"/>
              </a:ext>
            </a:extLst>
          </p:cNvPr>
          <p:cNvSpPr>
            <a:spLocks noGrp="1"/>
          </p:cNvSpPr>
          <p:nvPr/>
        </p:nvSpPr>
        <p:spPr>
          <a:xfrm>
            <a:off x="8610600" y="461010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58CA673C-07BE-4ACF-B40B-FC708767BBC4}"/>
              </a:ext>
            </a:extLst>
          </p:cNvPr>
          <p:cNvSpPr>
            <a:spLocks noGrp="1"/>
          </p:cNvSpPr>
          <p:nvPr/>
        </p:nvSpPr>
        <p:spPr>
          <a:xfrm>
            <a:off x="8705850" y="468630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handles partner issues.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6298BA8-8253-47D3-85BC-5CF813A5A029}"/>
              </a:ext>
            </a:extLst>
          </p:cNvPr>
          <p:cNvSpPr>
            <a:spLocks noGrp="1"/>
          </p:cNvSpPr>
          <p:nvPr/>
        </p:nvSpPr>
        <p:spPr>
          <a:xfrm>
            <a:off x="552450" y="5238750"/>
            <a:ext cx="10744200" cy="6286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4E836F7-A284-4F44-A0FF-57519FD4D461}"/>
              </a:ext>
            </a:extLst>
          </p:cNvPr>
          <p:cNvSpPr>
            <a:spLocks noGrp="1"/>
          </p:cNvSpPr>
          <p:nvPr/>
        </p:nvSpPr>
        <p:spPr>
          <a:xfrm>
            <a:off x="647700" y="5314950"/>
            <a:ext cx="1809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 model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B5A2B9-CEB6-4338-A6A9-989020CF2AD6}"/>
              </a:ext>
            </a:extLst>
          </p:cNvPr>
          <p:cNvSpPr>
            <a:spLocks noGrp="1"/>
          </p:cNvSpPr>
          <p:nvPr/>
        </p:nvSpPr>
        <p:spPr>
          <a:xfrm>
            <a:off x="25527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DC5FB1FC-3C57-42A0-A525-B0119FA4CDFE}"/>
              </a:ext>
            </a:extLst>
          </p:cNvPr>
          <p:cNvSpPr>
            <a:spLocks noGrp="1"/>
          </p:cNvSpPr>
          <p:nvPr/>
        </p:nvSpPr>
        <p:spPr>
          <a:xfrm>
            <a:off x="2647950" y="5314950"/>
            <a:ext cx="33147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 across platform, support, infra, security, governance.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D9BAF5-9021-40B5-8285-1362082C07D8}"/>
              </a:ext>
            </a:extLst>
          </p:cNvPr>
          <p:cNvSpPr>
            <a:spLocks noGrp="1"/>
          </p:cNvSpPr>
          <p:nvPr/>
        </p:nvSpPr>
        <p:spPr>
          <a:xfrm>
            <a:off x="60579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231558C-1D98-4875-87E8-0C9A8779FE74}"/>
              </a:ext>
            </a:extLst>
          </p:cNvPr>
          <p:cNvSpPr>
            <a:spLocks noGrp="1"/>
          </p:cNvSpPr>
          <p:nvPr/>
        </p:nvSpPr>
        <p:spPr>
          <a:xfrm>
            <a:off x="6153150" y="5314950"/>
            <a:ext cx="23622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To finalize in Miro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A32EBDD1-F15C-49A4-9BBF-7944811EF618}"/>
              </a:ext>
            </a:extLst>
          </p:cNvPr>
          <p:cNvSpPr>
            <a:spLocks noGrp="1"/>
          </p:cNvSpPr>
          <p:nvPr/>
        </p:nvSpPr>
        <p:spPr>
          <a:xfrm>
            <a:off x="8610600" y="5238750"/>
            <a:ext cx="9525" cy="6286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04D4FA61-B112-4B24-8944-0CAC65CFCBE7}"/>
              </a:ext>
            </a:extLst>
          </p:cNvPr>
          <p:cNvSpPr>
            <a:spLocks noGrp="1"/>
          </p:cNvSpPr>
          <p:nvPr/>
        </p:nvSpPr>
        <p:spPr>
          <a:xfrm>
            <a:off x="8705850" y="5314950"/>
            <a:ext cx="24955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ownership remains explicit.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47067C0-2019-4174-8698-1B313534DB33}"/>
              </a:ext>
            </a:extLst>
          </p:cNvPr>
          <p:cNvSpPr>
            <a:spLocks noGrp="1"/>
          </p:cNvSpPr>
          <p:nvPr/>
        </p:nvSpPr>
        <p:spPr>
          <a:xfrm>
            <a:off x="914400" y="6115050"/>
            <a:ext cx="103632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7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Principle: automate the evidence, but keep accountable people visible for approvals, exceptions, and operational ownership.</a:t>
            </a:r>
          </a:p>
        </p:txBody>
      </p:sp>
    </p:spTree>
    <p:extLst>
      <p:ext uri="{BB962C8B-B14F-4D97-AF65-F5344CB8AC3E}">
        <p14:creationId xmlns:p14="http://schemas.microsoft.com/office/powerpoint/2010/main" val="401403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CBFEE29B-F3F2-4A81-83C6-FE6D638AA239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CI/CD and Change Management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F3D7FBE-0DBE-46FB-B3DF-9EE97BAF8036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GitHub once the in-house code path is approved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4F135B4-FE4D-4C8E-BB23-AB6D1C519200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DDE3BD5-BF90-4C37-B313-C325B754D0CF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C7BDD-23B4-4A29-B2C7-137F63BD6C3D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2339AD1-CA79-45BE-9CCF-4D5A14BB851E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917547-3F31-4F82-9073-AFADFA5E28A4}"/>
              </a:ext>
            </a:extLst>
          </p:cNvPr>
          <p:cNvSpPr>
            <a:spLocks noGrp="1"/>
          </p:cNvSpPr>
          <p:nvPr/>
        </p:nvSpPr>
        <p:spPr>
          <a:xfrm>
            <a:off x="609600" y="1752600"/>
            <a:ext cx="57150" cy="13335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7F44A7-1007-4E98-B521-40F3B6607950}"/>
              </a:ext>
            </a:extLst>
          </p:cNvPr>
          <p:cNvSpPr>
            <a:spLocks noGrp="1"/>
          </p:cNvSpPr>
          <p:nvPr/>
        </p:nvSpPr>
        <p:spPr>
          <a:xfrm>
            <a:off x="766763" y="18097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Change request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AA94A91-3648-4DE9-9A1A-8C9F87DDE29F}"/>
              </a:ext>
            </a:extLst>
          </p:cNvPr>
          <p:cNvSpPr>
            <a:spLocks noGrp="1"/>
          </p:cNvSpPr>
          <p:nvPr/>
        </p:nvSpPr>
        <p:spPr>
          <a:xfrm>
            <a:off x="8001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Business reason, risk, owner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8BE45EF1-9F94-4EE3-8636-F211F5BBCB61}"/>
              </a:ext>
            </a:extLst>
          </p:cNvPr>
          <p:cNvSpPr>
            <a:spLocks noGrp="1"/>
          </p:cNvSpPr>
          <p:nvPr/>
        </p:nvSpPr>
        <p:spPr>
          <a:xfrm>
            <a:off x="2190750" y="2305050"/>
            <a:ext cx="26670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5D780AD-AF29-4B6A-A44C-B71B410670FB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BBB3EF-225B-4C61-9963-568E1B1ACE75}"/>
              </a:ext>
            </a:extLst>
          </p:cNvPr>
          <p:cNvSpPr>
            <a:spLocks noGrp="1"/>
          </p:cNvSpPr>
          <p:nvPr/>
        </p:nvSpPr>
        <p:spPr>
          <a:xfrm>
            <a:off x="2486025" y="1752600"/>
            <a:ext cx="57150" cy="1333500"/>
          </a:xfrm>
          <a:prstGeom prst="rect">
            <a:avLst/>
          </a:prstGeom>
          <a:solidFill>
            <a:srgbClr val="0B1F45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8DF1849-FD0B-4E1B-9F45-28C5DC108A81}"/>
              </a:ext>
            </a:extLst>
          </p:cNvPr>
          <p:cNvSpPr>
            <a:spLocks noGrp="1"/>
          </p:cNvSpPr>
          <p:nvPr/>
        </p:nvSpPr>
        <p:spPr>
          <a:xfrm>
            <a:off x="26765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GitHub PR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D590CC0-4BD4-41D2-B4FD-67183B5A2D2E}"/>
              </a:ext>
            </a:extLst>
          </p:cNvPr>
          <p:cNvSpPr>
            <a:spLocks noGrp="1"/>
          </p:cNvSpPr>
          <p:nvPr/>
        </p:nvSpPr>
        <p:spPr>
          <a:xfrm>
            <a:off x="26765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Peer review and traceability</a:t>
            </a: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7BA6671-1C10-4C93-B26D-A10ED345FD78}"/>
              </a:ext>
            </a:extLst>
          </p:cNvPr>
          <p:cNvSpPr>
            <a:spLocks noGrp="1"/>
          </p:cNvSpPr>
          <p:nvPr/>
        </p:nvSpPr>
        <p:spPr>
          <a:xfrm>
            <a:off x="4067175" y="2305050"/>
            <a:ext cx="266700" cy="228600"/>
          </a:xfrm>
          <a:prstGeom prst="rightArrow">
            <a:avLst/>
          </a:prstGeom>
          <a:solidFill>
            <a:srgbClr val="0B1F45"/>
          </a:solidFill>
          <a:ln w="0">
            <a:solidFill>
              <a:srgbClr val="0B1F45"/>
            </a:solidFill>
            <a:prstDash val="solid"/>
          </a:ln>
        </p:spPr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A792496F-5777-4369-8A06-B2C0B790F07A}"/>
              </a:ext>
            </a:extLst>
          </p:cNvPr>
          <p:cNvSpPr>
            <a:spLocks noGrp="1"/>
          </p:cNvSpPr>
          <p:nvPr/>
        </p:nvSpPr>
        <p:spPr>
          <a:xfrm>
            <a:off x="437197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75D263B-85A7-47A3-A12D-8029DC407037}"/>
              </a:ext>
            </a:extLst>
          </p:cNvPr>
          <p:cNvSpPr>
            <a:spLocks noGrp="1"/>
          </p:cNvSpPr>
          <p:nvPr/>
        </p:nvSpPr>
        <p:spPr>
          <a:xfrm>
            <a:off x="4362450" y="1752600"/>
            <a:ext cx="57150" cy="13335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AF56642-6FAD-42AA-B9E1-D4046A957835}"/>
              </a:ext>
            </a:extLst>
          </p:cNvPr>
          <p:cNvSpPr>
            <a:spLocks noGrp="1"/>
          </p:cNvSpPr>
          <p:nvPr/>
        </p:nvSpPr>
        <p:spPr>
          <a:xfrm>
            <a:off x="4546190" y="1838325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Automated checks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95CD58D-5E37-4FEC-B573-02A4493810B2}"/>
              </a:ext>
            </a:extLst>
          </p:cNvPr>
          <p:cNvSpPr>
            <a:spLocks noGrp="1"/>
          </p:cNvSpPr>
          <p:nvPr/>
        </p:nvSpPr>
        <p:spPr>
          <a:xfrm>
            <a:off x="455295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Tests, lint, build, API contract</a:t>
            </a: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5F550BC-2156-407E-9A4B-A61D6EAFCFFC}"/>
              </a:ext>
            </a:extLst>
          </p:cNvPr>
          <p:cNvSpPr>
            <a:spLocks noGrp="1"/>
          </p:cNvSpPr>
          <p:nvPr/>
        </p:nvSpPr>
        <p:spPr>
          <a:xfrm>
            <a:off x="5943600" y="2305050"/>
            <a:ext cx="266700" cy="228600"/>
          </a:xfrm>
          <a:prstGeom prst="rightArrow">
            <a:avLst/>
          </a:prstGeom>
          <a:solidFill>
            <a:srgbClr val="16A3B8"/>
          </a:solidFill>
          <a:ln w="0">
            <a:solidFill>
              <a:srgbClr val="16A3B8"/>
            </a:solidFill>
            <a:prstDash val="solid"/>
          </a:ln>
        </p:spPr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0245F4A-220D-4A79-A8D5-FF8953541BD0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852DD1-BD17-4FCC-8BAC-27B840C6B59C}"/>
              </a:ext>
            </a:extLst>
          </p:cNvPr>
          <p:cNvSpPr>
            <a:spLocks noGrp="1"/>
          </p:cNvSpPr>
          <p:nvPr/>
        </p:nvSpPr>
        <p:spPr>
          <a:xfrm>
            <a:off x="6238875" y="1752600"/>
            <a:ext cx="57150" cy="13335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9A6A736-BEF6-4D07-ACB0-D677AA545249}"/>
              </a:ext>
            </a:extLst>
          </p:cNvPr>
          <p:cNvSpPr>
            <a:spLocks noGrp="1"/>
          </p:cNvSpPr>
          <p:nvPr/>
        </p:nvSpPr>
        <p:spPr>
          <a:xfrm>
            <a:off x="6409865" y="182880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layer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B3B7E95-EF24-4E56-88FC-B6B7DF6E24F6}"/>
              </a:ext>
            </a:extLst>
          </p:cNvPr>
          <p:cNvSpPr>
            <a:spLocks noGrp="1"/>
          </p:cNvSpPr>
          <p:nvPr/>
        </p:nvSpPr>
        <p:spPr>
          <a:xfrm>
            <a:off x="642937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GitHub security, dependency and secret checks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4E3D9594-F64C-482D-A6EF-74C7D0EE3191}"/>
              </a:ext>
            </a:extLst>
          </p:cNvPr>
          <p:cNvSpPr>
            <a:spLocks noGrp="1"/>
          </p:cNvSpPr>
          <p:nvPr/>
        </p:nvSpPr>
        <p:spPr>
          <a:xfrm>
            <a:off x="7820025" y="2305050"/>
            <a:ext cx="266700" cy="228600"/>
          </a:xfrm>
          <a:prstGeom prst="rightArrow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1790530-1CBC-4D0D-8CAB-5BAE8CC3CB50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EAF3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68FF30F-7734-4B9B-A291-57CA79A5FDCD}"/>
              </a:ext>
            </a:extLst>
          </p:cNvPr>
          <p:cNvSpPr>
            <a:spLocks noGrp="1"/>
          </p:cNvSpPr>
          <p:nvPr/>
        </p:nvSpPr>
        <p:spPr>
          <a:xfrm>
            <a:off x="8115300" y="1752600"/>
            <a:ext cx="57150" cy="13335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FC806CF-5C67-4ABC-9E52-52517561AB16}"/>
              </a:ext>
            </a:extLst>
          </p:cNvPr>
          <p:cNvSpPr>
            <a:spLocks noGrp="1"/>
          </p:cNvSpPr>
          <p:nvPr/>
        </p:nvSpPr>
        <p:spPr>
          <a:xfrm>
            <a:off x="8315325" y="1838325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gate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429AFE8-3FA0-48AD-9E41-45F132483744}"/>
              </a:ext>
            </a:extLst>
          </p:cNvPr>
          <p:cNvSpPr>
            <a:spLocks noGrp="1"/>
          </p:cNvSpPr>
          <p:nvPr/>
        </p:nvSpPr>
        <p:spPr>
          <a:xfrm>
            <a:off x="8305800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Product, engineering, IT security</a:t>
            </a:r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BF7F2E41-35FF-4C7A-8D54-7A76A9328AF9}"/>
              </a:ext>
            </a:extLst>
          </p:cNvPr>
          <p:cNvSpPr>
            <a:spLocks noGrp="1"/>
          </p:cNvSpPr>
          <p:nvPr/>
        </p:nvSpPr>
        <p:spPr>
          <a:xfrm>
            <a:off x="9696450" y="2305050"/>
            <a:ext cx="266700" cy="228600"/>
          </a:xfrm>
          <a:prstGeom prst="rightArrow">
            <a:avLst/>
          </a:prstGeom>
          <a:solidFill>
            <a:srgbClr val="F59E0B"/>
          </a:solidFill>
          <a:ln w="0">
            <a:solidFill>
              <a:srgbClr val="F59E0B"/>
            </a:solidFill>
            <a:prstDash val="solid"/>
          </a:ln>
        </p:spPr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C59DA31-1999-4487-BA87-EDB8251B4C0F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1543050" cy="13335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25F2C92-6446-4D41-908A-3CE2103A5B4D}"/>
              </a:ext>
            </a:extLst>
          </p:cNvPr>
          <p:cNvSpPr>
            <a:spLocks noGrp="1"/>
          </p:cNvSpPr>
          <p:nvPr/>
        </p:nvSpPr>
        <p:spPr>
          <a:xfrm>
            <a:off x="9991725" y="1752600"/>
            <a:ext cx="57150" cy="13335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D5E91D9-2E42-41CF-969D-5457F2F999EA}"/>
              </a:ext>
            </a:extLst>
          </p:cNvPr>
          <p:cNvSpPr>
            <a:spLocks noGrp="1"/>
          </p:cNvSpPr>
          <p:nvPr/>
        </p:nvSpPr>
        <p:spPr>
          <a:xfrm>
            <a:off x="10182225" y="1924050"/>
            <a:ext cx="11620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Release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EE413FD-A274-4824-92C1-C5D3172D1799}"/>
              </a:ext>
            </a:extLst>
          </p:cNvPr>
          <p:cNvSpPr>
            <a:spLocks noGrp="1"/>
          </p:cNvSpPr>
          <p:nvPr/>
        </p:nvSpPr>
        <p:spPr>
          <a:xfrm>
            <a:off x="10182225" y="2305050"/>
            <a:ext cx="11620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Deploy with rollback plan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84F59C9-D4DB-4C9B-B5D8-B0E409F6AAE5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13B29871-544B-403C-B885-BE1F4D852677}"/>
              </a:ext>
            </a:extLst>
          </p:cNvPr>
          <p:cNvSpPr>
            <a:spLocks noGrp="1"/>
          </p:cNvSpPr>
          <p:nvPr/>
        </p:nvSpPr>
        <p:spPr>
          <a:xfrm>
            <a:off x="1047750" y="3790950"/>
            <a:ext cx="57150" cy="14287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DD52516-B35D-448C-A972-E98526A8D23A}"/>
              </a:ext>
            </a:extLst>
          </p:cNvPr>
          <p:cNvSpPr>
            <a:spLocks noGrp="1"/>
          </p:cNvSpPr>
          <p:nvPr/>
        </p:nvSpPr>
        <p:spPr>
          <a:xfrm>
            <a:off x="1238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Why GitHub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B5A94692-0A7D-47FF-BBE5-D94F1C057EEB}"/>
              </a:ext>
            </a:extLst>
          </p:cNvPr>
          <p:cNvSpPr>
            <a:spLocks noGrp="1"/>
          </p:cNvSpPr>
          <p:nvPr/>
        </p:nvSpPr>
        <p:spPr>
          <a:xfrm>
            <a:off x="1238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place for code review, CI/CD evidence, security alerts, and release traceability.</a:t>
            </a:r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D84176AF-F7F2-412B-AB92-9E53EFD18ED9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61E4231-7A2D-4119-BDD2-E5CE20A8CC3C}"/>
              </a:ext>
            </a:extLst>
          </p:cNvPr>
          <p:cNvSpPr>
            <a:spLocks noGrp="1"/>
          </p:cNvSpPr>
          <p:nvPr/>
        </p:nvSpPr>
        <p:spPr>
          <a:xfrm>
            <a:off x="4667250" y="3790950"/>
            <a:ext cx="57150" cy="14287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510B85B3-9489-4C45-8021-7CBCC1B2E05D}"/>
              </a:ext>
            </a:extLst>
          </p:cNvPr>
          <p:cNvSpPr>
            <a:spLocks noGrp="1"/>
          </p:cNvSpPr>
          <p:nvPr/>
        </p:nvSpPr>
        <p:spPr>
          <a:xfrm>
            <a:off x="48577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checks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433CAF-F63A-42D9-91A9-7D29B918C77D}"/>
              </a:ext>
            </a:extLst>
          </p:cNvPr>
          <p:cNvSpPr>
            <a:spLocks noGrp="1"/>
          </p:cNvSpPr>
          <p:nvPr/>
        </p:nvSpPr>
        <p:spPr>
          <a:xfrm>
            <a:off x="48577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 dirty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Secret scanning, dependency alerts, SAST/container checks, and approvals before deployment.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1E35034-F295-4DFD-A4A6-F15BA7384A9A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2857500" cy="1428750"/>
          </a:xfrm>
          <a:prstGeom prst="roundRect">
            <a:avLst>
              <a:gd name="adj" fmla="val 6667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A2A39B0F-FB8A-48CB-B723-A0825A362D84}"/>
              </a:ext>
            </a:extLst>
          </p:cNvPr>
          <p:cNvSpPr>
            <a:spLocks noGrp="1"/>
          </p:cNvSpPr>
          <p:nvPr/>
        </p:nvSpPr>
        <p:spPr>
          <a:xfrm>
            <a:off x="8286750" y="3790950"/>
            <a:ext cx="57150" cy="142875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665AE85-543B-405F-A2DB-25A5D9B14601}"/>
              </a:ext>
            </a:extLst>
          </p:cNvPr>
          <p:cNvSpPr>
            <a:spLocks noGrp="1"/>
          </p:cNvSpPr>
          <p:nvPr/>
        </p:nvSpPr>
        <p:spPr>
          <a:xfrm>
            <a:off x="8477250" y="3962400"/>
            <a:ext cx="2476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gate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DF252927-907B-4660-BBE9-2D2166DB61C8}"/>
              </a:ext>
            </a:extLst>
          </p:cNvPr>
          <p:cNvSpPr>
            <a:spLocks noGrp="1"/>
          </p:cNvSpPr>
          <p:nvPr/>
        </p:nvSpPr>
        <p:spPr>
          <a:xfrm>
            <a:off x="8477250" y="4343400"/>
            <a:ext cx="2476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 person still approves risk acceptance, production promotion, and emergency changes.</a:t>
            </a:r>
          </a:p>
        </p:txBody>
      </p:sp>
    </p:spTree>
    <p:extLst>
      <p:ext uri="{BB962C8B-B14F-4D97-AF65-F5344CB8AC3E}">
        <p14:creationId xmlns:p14="http://schemas.microsoft.com/office/powerpoint/2010/main" val="130398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634DCF9-AE20-47A0-A452-18373A82955E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Security and Access Model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282110-10BE-4365-A962-A1488009BE42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Use group standards and bank IT Security support from the start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BBFC63-0700-4E3D-9446-85D4FDF88F52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801263E-16F8-41D1-924F-5C26EF0C1CD3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9334F7-9060-415E-AA80-A69A3A5ECBF3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A203F86-3438-420C-875C-F72C08B099E5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5513D3-2581-4A95-9098-8F854171215F}"/>
              </a:ext>
            </a:extLst>
          </p:cNvPr>
          <p:cNvSpPr>
            <a:spLocks noGrp="1"/>
          </p:cNvSpPr>
          <p:nvPr/>
        </p:nvSpPr>
        <p:spPr>
          <a:xfrm>
            <a:off x="781050" y="1581150"/>
            <a:ext cx="57150" cy="16192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A536DC-6E36-45B9-A549-8009D83DEAF1}"/>
              </a:ext>
            </a:extLst>
          </p:cNvPr>
          <p:cNvSpPr>
            <a:spLocks noGrp="1"/>
          </p:cNvSpPr>
          <p:nvPr/>
        </p:nvSpPr>
        <p:spPr>
          <a:xfrm>
            <a:off x="9715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9C5466-F678-4B67-89CB-C60EE7289242}"/>
              </a:ext>
            </a:extLst>
          </p:cNvPr>
          <p:cNvSpPr>
            <a:spLocks noGrp="1"/>
          </p:cNvSpPr>
          <p:nvPr/>
        </p:nvSpPr>
        <p:spPr>
          <a:xfrm>
            <a:off x="9715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Entra ID for users and groups.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Role-based access by function.</a:t>
            </a:r>
          </a:p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Joiner/mover/leaver process.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E901A20-FBB9-49AF-B98B-CFD853C303F8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C0F5B2-227F-43AF-BA34-662B822E24D1}"/>
              </a:ext>
            </a:extLst>
          </p:cNvPr>
          <p:cNvSpPr>
            <a:spLocks noGrp="1"/>
          </p:cNvSpPr>
          <p:nvPr/>
        </p:nvSpPr>
        <p:spPr>
          <a:xfrm>
            <a:off x="4629150" y="1581150"/>
            <a:ext cx="57150" cy="161925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F8B833-BAC1-4E32-8931-80E329BAC7DB}"/>
              </a:ext>
            </a:extLst>
          </p:cNvPr>
          <p:cNvSpPr>
            <a:spLocks noGrp="1"/>
          </p:cNvSpPr>
          <p:nvPr/>
        </p:nvSpPr>
        <p:spPr>
          <a:xfrm>
            <a:off x="48196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and evidence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EA153BF-21D4-4A8A-9874-0C4B0E317D17}"/>
              </a:ext>
            </a:extLst>
          </p:cNvPr>
          <p:cNvSpPr>
            <a:spLocks noGrp="1"/>
          </p:cNvSpPr>
          <p:nvPr/>
        </p:nvSpPr>
        <p:spPr>
          <a:xfrm>
            <a:off x="48196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Every approval, exception, data change, and access event should produce searchable audit evidence.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F2C251-308E-475A-9C31-0B6448D89F56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2952750" cy="1619250"/>
          </a:xfrm>
          <a:prstGeom prst="roundRect">
            <a:avLst>
              <a:gd name="adj" fmla="val 5882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92D2ED-744C-4B8D-896C-8C09DCA6F2D2}"/>
              </a:ext>
            </a:extLst>
          </p:cNvPr>
          <p:cNvSpPr>
            <a:spLocks noGrp="1"/>
          </p:cNvSpPr>
          <p:nvPr/>
        </p:nvSpPr>
        <p:spPr>
          <a:xfrm>
            <a:off x="8477250" y="1581150"/>
            <a:ext cx="57150" cy="161925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45F830-3645-4578-8255-F227DE5CD4B6}"/>
              </a:ext>
            </a:extLst>
          </p:cNvPr>
          <p:cNvSpPr>
            <a:spLocks noGrp="1"/>
          </p:cNvSpPr>
          <p:nvPr/>
        </p:nvSpPr>
        <p:spPr>
          <a:xfrm>
            <a:off x="8667750" y="1752600"/>
            <a:ext cx="2571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Group security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471A754-9568-4460-A2BC-BA4C9B30B861}"/>
              </a:ext>
            </a:extLst>
          </p:cNvPr>
          <p:cNvSpPr>
            <a:spLocks noGrp="1"/>
          </p:cNvSpPr>
          <p:nvPr/>
        </p:nvSpPr>
        <p:spPr>
          <a:xfrm>
            <a:off x="8667750" y="2133600"/>
            <a:ext cx="257175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Bank / group IT Security supports standards, review gates, access model, and production readiness.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85FE853-CA56-4839-A1E3-2B23DCE534F8}"/>
              </a:ext>
            </a:extLst>
          </p:cNvPr>
          <p:cNvSpPr>
            <a:spLocks noGrp="1"/>
          </p:cNvSpPr>
          <p:nvPr/>
        </p:nvSpPr>
        <p:spPr>
          <a:xfrm>
            <a:off x="1238250" y="3905250"/>
            <a:ext cx="8191500" cy="53340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9FA84B-6B81-4E56-B02D-E9BA131F8E4A}"/>
              </a:ext>
            </a:extLst>
          </p:cNvPr>
          <p:cNvSpPr>
            <a:spLocks noGrp="1"/>
          </p:cNvSpPr>
          <p:nvPr/>
        </p:nvSpPr>
        <p:spPr>
          <a:xfrm>
            <a:off x="1333500" y="39814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8A22D14-41A1-4386-B22F-18F6FC336FBF}"/>
              </a:ext>
            </a:extLst>
          </p:cNvPr>
          <p:cNvSpPr>
            <a:spLocks noGrp="1"/>
          </p:cNvSpPr>
          <p:nvPr/>
        </p:nvSpPr>
        <p:spPr>
          <a:xfrm>
            <a:off x="37147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1AD8A11-58EC-4387-AF2B-AD9CE85F8B37}"/>
              </a:ext>
            </a:extLst>
          </p:cNvPr>
          <p:cNvSpPr>
            <a:spLocks noGrp="1"/>
          </p:cNvSpPr>
          <p:nvPr/>
        </p:nvSpPr>
        <p:spPr>
          <a:xfrm>
            <a:off x="38100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 path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E463024-FD13-4823-875E-4357A6CD7720}"/>
              </a:ext>
            </a:extLst>
          </p:cNvPr>
          <p:cNvSpPr>
            <a:spLocks noGrp="1"/>
          </p:cNvSpPr>
          <p:nvPr/>
        </p:nvSpPr>
        <p:spPr>
          <a:xfrm>
            <a:off x="6572250" y="39052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8B5A4A0-0305-4C44-B862-97B455199396}"/>
              </a:ext>
            </a:extLst>
          </p:cNvPr>
          <p:cNvSpPr>
            <a:spLocks noGrp="1"/>
          </p:cNvSpPr>
          <p:nvPr/>
        </p:nvSpPr>
        <p:spPr>
          <a:xfrm>
            <a:off x="6667500" y="39814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Buy path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DBDAE54-BC90-4DC6-A46D-F8993E80A6EF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95CE336-2AEB-48E5-BFC0-72EA10FAC04A}"/>
              </a:ext>
            </a:extLst>
          </p:cNvPr>
          <p:cNvSpPr>
            <a:spLocks noGrp="1"/>
          </p:cNvSpPr>
          <p:nvPr/>
        </p:nvSpPr>
        <p:spPr>
          <a:xfrm>
            <a:off x="1333500" y="45148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Access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5EC24E3-F360-493B-B3D9-60551A20C790}"/>
              </a:ext>
            </a:extLst>
          </p:cNvPr>
          <p:cNvSpPr>
            <a:spLocks noGrp="1"/>
          </p:cNvSpPr>
          <p:nvPr/>
        </p:nvSpPr>
        <p:spPr>
          <a:xfrm>
            <a:off x="37147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06E2333-E7A1-4D6A-A2EF-75E6580E79E9}"/>
              </a:ext>
            </a:extLst>
          </p:cNvPr>
          <p:cNvSpPr>
            <a:spLocks noGrp="1"/>
          </p:cNvSpPr>
          <p:nvPr/>
        </p:nvSpPr>
        <p:spPr>
          <a:xfrm>
            <a:off x="38100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Bhawana defines roles and Entra integration.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E51CE4F-C864-4676-93BE-4B59A74DDB59}"/>
              </a:ext>
            </a:extLst>
          </p:cNvPr>
          <p:cNvSpPr>
            <a:spLocks noGrp="1"/>
          </p:cNvSpPr>
          <p:nvPr/>
        </p:nvSpPr>
        <p:spPr>
          <a:xfrm>
            <a:off x="6572250" y="44386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DD027B-A4F3-4A29-8747-365BAF5362EB}"/>
              </a:ext>
            </a:extLst>
          </p:cNvPr>
          <p:cNvSpPr>
            <a:spLocks noGrp="1"/>
          </p:cNvSpPr>
          <p:nvPr/>
        </p:nvSpPr>
        <p:spPr>
          <a:xfrm>
            <a:off x="6667500" y="45148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must support SSO/RBAC requirements.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F08246B-D2AE-48B5-BE83-A35C3FF9A64A}"/>
              </a:ext>
            </a:extLst>
          </p:cNvPr>
          <p:cNvSpPr>
            <a:spLocks noGrp="1"/>
          </p:cNvSpPr>
          <p:nvPr/>
        </p:nvSpPr>
        <p:spPr>
          <a:xfrm>
            <a:off x="1238250" y="4972050"/>
            <a:ext cx="8191500" cy="53340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CE7C12E-FCA0-409C-AED5-5BD4CB6DAECB}"/>
              </a:ext>
            </a:extLst>
          </p:cNvPr>
          <p:cNvSpPr>
            <a:spLocks noGrp="1"/>
          </p:cNvSpPr>
          <p:nvPr/>
        </p:nvSpPr>
        <p:spPr>
          <a:xfrm>
            <a:off x="1333500" y="50482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Audit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A85CC88-8F9A-4668-B4D2-7DF3BBEF385D}"/>
              </a:ext>
            </a:extLst>
          </p:cNvPr>
          <p:cNvSpPr>
            <a:spLocks noGrp="1"/>
          </p:cNvSpPr>
          <p:nvPr/>
        </p:nvSpPr>
        <p:spPr>
          <a:xfrm>
            <a:off x="37147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116A8D-7FA6-4303-AB8F-60D272A7C4A4}"/>
              </a:ext>
            </a:extLst>
          </p:cNvPr>
          <p:cNvSpPr>
            <a:spLocks noGrp="1"/>
          </p:cNvSpPr>
          <p:nvPr/>
        </p:nvSpPr>
        <p:spPr>
          <a:xfrm>
            <a:off x="38100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Native platform logs and reporting evidence.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E5F082-1F8B-4CDE-BF19-EA81A28AF5DA}"/>
              </a:ext>
            </a:extLst>
          </p:cNvPr>
          <p:cNvSpPr>
            <a:spLocks noGrp="1"/>
          </p:cNvSpPr>
          <p:nvPr/>
        </p:nvSpPr>
        <p:spPr>
          <a:xfrm>
            <a:off x="6572250" y="49720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2A537F7-0B87-4E61-8478-4310AB875A04}"/>
              </a:ext>
            </a:extLst>
          </p:cNvPr>
          <p:cNvSpPr>
            <a:spLocks noGrp="1"/>
          </p:cNvSpPr>
          <p:nvPr/>
        </p:nvSpPr>
        <p:spPr>
          <a:xfrm>
            <a:off x="6667500" y="50482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 export must be tested.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10E309C-BC9C-4AFC-8452-3A876E53D978}"/>
              </a:ext>
            </a:extLst>
          </p:cNvPr>
          <p:cNvSpPr>
            <a:spLocks noGrp="1"/>
          </p:cNvSpPr>
          <p:nvPr/>
        </p:nvSpPr>
        <p:spPr>
          <a:xfrm>
            <a:off x="1238250" y="5505450"/>
            <a:ext cx="8191500" cy="53340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D0F0241-503D-40A9-BBD6-E922F62E2B67}"/>
              </a:ext>
            </a:extLst>
          </p:cNvPr>
          <p:cNvSpPr>
            <a:spLocks noGrp="1"/>
          </p:cNvSpPr>
          <p:nvPr/>
        </p:nvSpPr>
        <p:spPr>
          <a:xfrm>
            <a:off x="1333500" y="5581650"/>
            <a:ext cx="2286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review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83B1001-EBD5-4440-977A-F1E84B0A0E00}"/>
              </a:ext>
            </a:extLst>
          </p:cNvPr>
          <p:cNvSpPr>
            <a:spLocks noGrp="1"/>
          </p:cNvSpPr>
          <p:nvPr/>
        </p:nvSpPr>
        <p:spPr>
          <a:xfrm>
            <a:off x="37147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1E774B-216F-4D4D-9E95-E0A15FACABAC}"/>
              </a:ext>
            </a:extLst>
          </p:cNvPr>
          <p:cNvSpPr>
            <a:spLocks noGrp="1"/>
          </p:cNvSpPr>
          <p:nvPr/>
        </p:nvSpPr>
        <p:spPr>
          <a:xfrm>
            <a:off x="38100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Code and infra reviewed internally.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8A05886-DD50-47B1-B736-7DBD2AEC6E48}"/>
              </a:ext>
            </a:extLst>
          </p:cNvPr>
          <p:cNvSpPr>
            <a:spLocks noGrp="1"/>
          </p:cNvSpPr>
          <p:nvPr/>
        </p:nvSpPr>
        <p:spPr>
          <a:xfrm>
            <a:off x="6572250" y="5505450"/>
            <a:ext cx="9525" cy="5334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9323DFA-77D3-4BFB-A58B-DB84B54868FA}"/>
              </a:ext>
            </a:extLst>
          </p:cNvPr>
          <p:cNvSpPr>
            <a:spLocks noGrp="1"/>
          </p:cNvSpPr>
          <p:nvPr/>
        </p:nvSpPr>
        <p:spPr>
          <a:xfrm>
            <a:off x="6667500" y="5581650"/>
            <a:ext cx="2667000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Vendor audit, penetration test, and contract review.</a:t>
            </a:r>
          </a:p>
        </p:txBody>
      </p:sp>
    </p:spTree>
    <p:extLst>
      <p:ext uri="{BB962C8B-B14F-4D97-AF65-F5344CB8AC3E}">
        <p14:creationId xmlns:p14="http://schemas.microsoft.com/office/powerpoint/2010/main" val="5978860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CC998999-A7FA-4193-8FD5-50C140BB7D50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Target Architecture Direction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3421B8D-D37F-4F92-82F6-ACD0BAE13D81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data must flow into the enterprise DWH on Databricks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D0D6FF4-2C63-4750-B1BA-2F258DBCE3C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4CE01F-4071-4380-8E1B-A254ED9DCD7B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697871-C07A-4603-900C-0B2D385E4B1B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5410F106-2738-4780-8935-C31E2AD9D8C7}"/>
              </a:ext>
            </a:extLst>
          </p:cNvPr>
          <p:cNvSpPr>
            <a:spLocks noGrp="1"/>
          </p:cNvSpPr>
          <p:nvPr/>
        </p:nvSpPr>
        <p:spPr>
          <a:xfrm>
            <a:off x="2324100" y="2362200"/>
            <a:ext cx="5524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7" name="Straight Connector 6">
            <a:extLst>
              <a:ext uri="{FF2B5EF4-FFF2-40B4-BE49-F238E27FC236}">
                <a16:creationId xmlns:a16="http://schemas.microsoft.com/office/drawing/2014/main" id="{A68E3A55-0797-4E1A-BB98-E53994C355D6}"/>
              </a:ext>
            </a:extLst>
          </p:cNvPr>
          <p:cNvSpPr>
            <a:spLocks noGrp="1"/>
          </p:cNvSpPr>
          <p:nvPr/>
        </p:nvSpPr>
        <p:spPr>
          <a:xfrm>
            <a:off x="5143500" y="2101645"/>
            <a:ext cx="857250" cy="0"/>
          </a:xfrm>
          <a:prstGeom prst="line">
            <a:avLst/>
          </a:prstGeom>
          <a:noFill/>
          <a:ln w="19050">
            <a:solidFill>
              <a:srgbClr val="1769E0"/>
            </a:solidFill>
            <a:prstDash val="solid"/>
          </a:ln>
        </p:spPr>
      </p:sp>
      <p:sp>
        <p:nvSpPr>
          <p:cNvPr id="8" name="Straight Connector 7">
            <a:extLst>
              <a:ext uri="{FF2B5EF4-FFF2-40B4-BE49-F238E27FC236}">
                <a16:creationId xmlns:a16="http://schemas.microsoft.com/office/drawing/2014/main" id="{F7D251C4-E2BC-4544-94A1-E4A31922ED00}"/>
              </a:ext>
            </a:extLst>
          </p:cNvPr>
          <p:cNvSpPr>
            <a:spLocks noGrp="1"/>
          </p:cNvSpPr>
          <p:nvPr/>
        </p:nvSpPr>
        <p:spPr>
          <a:xfrm>
            <a:off x="5143500" y="2971800"/>
            <a:ext cx="857250" cy="0"/>
          </a:xfrm>
          <a:prstGeom prst="line">
            <a:avLst/>
          </a:prstGeom>
          <a:noFill/>
          <a:ln w="19050">
            <a:solidFill>
              <a:srgbClr val="16A3B8"/>
            </a:solidFill>
            <a:prstDash val="solid"/>
          </a:ln>
        </p:spPr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894575CE-16E2-45C7-B8EF-DBE6DD054B39}"/>
              </a:ext>
            </a:extLst>
          </p:cNvPr>
          <p:cNvSpPr>
            <a:spLocks noGrp="1"/>
          </p:cNvSpPr>
          <p:nvPr/>
        </p:nvSpPr>
        <p:spPr>
          <a:xfrm>
            <a:off x="7772400" y="1800225"/>
            <a:ext cx="704850" cy="228600"/>
          </a:xfrm>
          <a:prstGeom prst="rightArrow">
            <a:avLst/>
          </a:prstGeom>
          <a:solidFill>
            <a:srgbClr val="16A34A"/>
          </a:solidFill>
          <a:ln w="0">
            <a:solidFill>
              <a:srgbClr val="16A34A"/>
            </a:solidFill>
            <a:prstDash val="solid"/>
          </a:ln>
        </p:spPr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3C7D3E8-F656-4D0B-9594-98E3808E3D7F}"/>
              </a:ext>
            </a:extLst>
          </p:cNvPr>
          <p:cNvSpPr>
            <a:spLocks noGrp="1"/>
          </p:cNvSpPr>
          <p:nvPr/>
        </p:nvSpPr>
        <p:spPr>
          <a:xfrm>
            <a:off x="7820025" y="2978406"/>
            <a:ext cx="781050" cy="228600"/>
          </a:xfrm>
          <a:prstGeom prst="rightArrow">
            <a:avLst/>
          </a:prstGeom>
          <a:solidFill>
            <a:srgbClr val="1769E0"/>
          </a:solidFill>
          <a:ln w="0">
            <a:solidFill>
              <a:srgbClr val="1769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65740A9-FC95-4E58-AB68-898D7C415FF8}"/>
              </a:ext>
            </a:extLst>
          </p:cNvPr>
          <p:cNvSpPr>
            <a:spLocks noGrp="1"/>
          </p:cNvSpPr>
          <p:nvPr/>
        </p:nvSpPr>
        <p:spPr>
          <a:xfrm>
            <a:off x="2400300" y="2095500"/>
            <a:ext cx="6858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Input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7BE33A5-B6DD-457B-A552-CEDC27DEDE81}"/>
              </a:ext>
            </a:extLst>
          </p:cNvPr>
          <p:cNvSpPr>
            <a:spLocks noGrp="1"/>
          </p:cNvSpPr>
          <p:nvPr/>
        </p:nvSpPr>
        <p:spPr>
          <a:xfrm>
            <a:off x="7648575" y="1469923"/>
            <a:ext cx="95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6A34A"/>
                </a:solidFill>
                <a:latin typeface="Aptos"/>
                <a:ea typeface="Aptos"/>
                <a:cs typeface="Aptos"/>
              </a:defRPr>
            </a:pPr>
            <a:r>
              <a:rPr sz="975" b="1" dirty="0">
                <a:solidFill>
                  <a:srgbClr val="16A34A"/>
                </a:solidFill>
                <a:latin typeface="Aptos"/>
                <a:ea typeface="Aptos"/>
                <a:cs typeface="Aptos"/>
              </a:rPr>
              <a:t>Approval outcome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2F7AA36-03DA-4D79-8D56-A8610DB5F13B}"/>
              </a:ext>
            </a:extLst>
          </p:cNvPr>
          <p:cNvSpPr>
            <a:spLocks noGrp="1"/>
          </p:cNvSpPr>
          <p:nvPr/>
        </p:nvSpPr>
        <p:spPr>
          <a:xfrm>
            <a:off x="7658100" y="2624137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Events + portfolio data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4E1ED87-C79A-4B2A-8F9C-BF9337E216AA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1524000" cy="781050"/>
          </a:xfrm>
          <a:prstGeom prst="roundRect">
            <a:avLst>
              <a:gd name="adj" fmla="val 14634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098DB2-3255-4F47-84FC-44B580DBC550}"/>
              </a:ext>
            </a:extLst>
          </p:cNvPr>
          <p:cNvSpPr>
            <a:spLocks noGrp="1"/>
          </p:cNvSpPr>
          <p:nvPr/>
        </p:nvSpPr>
        <p:spPr>
          <a:xfrm>
            <a:off x="762000" y="2266950"/>
            <a:ext cx="13335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systems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and users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F60D11C-777F-442F-A66D-B9490551712B}"/>
              </a:ext>
            </a:extLst>
          </p:cNvPr>
          <p:cNvSpPr>
            <a:spLocks noGrp="1"/>
          </p:cNvSpPr>
          <p:nvPr/>
        </p:nvSpPr>
        <p:spPr>
          <a:xfrm>
            <a:off x="3048000" y="1943100"/>
            <a:ext cx="2095500" cy="108585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0B1F45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14EA103-E221-4C38-BD23-F617AFE48E61}"/>
              </a:ext>
            </a:extLst>
          </p:cNvPr>
          <p:cNvSpPr>
            <a:spLocks noGrp="1"/>
          </p:cNvSpPr>
          <p:nvPr/>
        </p:nvSpPr>
        <p:spPr>
          <a:xfrm>
            <a:off x="3143250" y="2114550"/>
            <a:ext cx="1905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Bhawana LMS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build or vendor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CD9E69E-205A-48E3-8D67-C0E444FB8930}"/>
              </a:ext>
            </a:extLst>
          </p:cNvPr>
          <p:cNvSpPr>
            <a:spLocks noGrp="1"/>
          </p:cNvSpPr>
          <p:nvPr/>
        </p:nvSpPr>
        <p:spPr>
          <a:xfrm>
            <a:off x="6057900" y="1593748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142C07E-DED7-40D5-8C00-F96C77DD152D}"/>
              </a:ext>
            </a:extLst>
          </p:cNvPr>
          <p:cNvSpPr>
            <a:spLocks noGrp="1"/>
          </p:cNvSpPr>
          <p:nvPr/>
        </p:nvSpPr>
        <p:spPr>
          <a:xfrm>
            <a:off x="6096000" y="16002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Approval store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PostgreSQL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4DBDE1F-58CD-49AE-A0D5-653AD5DE3CB3}"/>
              </a:ext>
            </a:extLst>
          </p:cNvPr>
          <p:cNvSpPr>
            <a:spLocks noGrp="1"/>
          </p:cNvSpPr>
          <p:nvPr/>
        </p:nvSpPr>
        <p:spPr>
          <a:xfrm>
            <a:off x="6000750" y="2571750"/>
            <a:ext cx="1619250" cy="857250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DF3D101-770A-4B60-A8A7-BD1E6DBA116E}"/>
              </a:ext>
            </a:extLst>
          </p:cNvPr>
          <p:cNvSpPr>
            <a:spLocks noGrp="1"/>
          </p:cNvSpPr>
          <p:nvPr/>
        </p:nvSpPr>
        <p:spPr>
          <a:xfrm>
            <a:off x="6101531" y="2667000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Audit logs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security evidence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DC43C0C-8F2F-4E78-8445-E85F398B07EF}"/>
              </a:ext>
            </a:extLst>
          </p:cNvPr>
          <p:cNvSpPr>
            <a:spLocks noGrp="1"/>
          </p:cNvSpPr>
          <p:nvPr/>
        </p:nvSpPr>
        <p:spPr>
          <a:xfrm>
            <a:off x="8667750" y="1638300"/>
            <a:ext cx="1809750" cy="723900"/>
          </a:xfrm>
          <a:prstGeom prst="roundRect">
            <a:avLst>
              <a:gd name="adj" fmla="val 15789"/>
            </a:avLst>
          </a:prstGeom>
          <a:solidFill>
            <a:srgbClr val="ECFDF3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9997B87-1B2B-4664-AA97-953733B33CFE}"/>
              </a:ext>
            </a:extLst>
          </p:cNvPr>
          <p:cNvSpPr>
            <a:spLocks noGrp="1"/>
          </p:cNvSpPr>
          <p:nvPr/>
        </p:nvSpPr>
        <p:spPr>
          <a:xfrm>
            <a:off x="8763000" y="1809750"/>
            <a:ext cx="1619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disbursement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channel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73599F04-5828-4C15-AD79-DC7E92D4EBBF}"/>
              </a:ext>
            </a:extLst>
          </p:cNvPr>
          <p:cNvSpPr>
            <a:spLocks noGrp="1"/>
          </p:cNvSpPr>
          <p:nvPr/>
        </p:nvSpPr>
        <p:spPr>
          <a:xfrm>
            <a:off x="8858250" y="2647950"/>
            <a:ext cx="1619250" cy="723900"/>
          </a:xfrm>
          <a:prstGeom prst="roundRect">
            <a:avLst>
              <a:gd name="adj" fmla="val 15789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90EA18B-49AF-4A9E-B9A7-B67A58325719}"/>
              </a:ext>
            </a:extLst>
          </p:cNvPr>
          <p:cNvSpPr>
            <a:spLocks noGrp="1"/>
          </p:cNvSpPr>
          <p:nvPr/>
        </p:nvSpPr>
        <p:spPr>
          <a:xfrm>
            <a:off x="8934450" y="2779456"/>
            <a:ext cx="1428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DWH</a:t>
            </a:r>
          </a:p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Databricks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2585C12-3E6F-45FB-8A68-1ED478380BF1}"/>
              </a:ext>
            </a:extLst>
          </p:cNvPr>
          <p:cNvSpPr>
            <a:spLocks noGrp="1"/>
          </p:cNvSpPr>
          <p:nvPr/>
        </p:nvSpPr>
        <p:spPr>
          <a:xfrm>
            <a:off x="3714750" y="4171950"/>
            <a:ext cx="4953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 dirty="0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Operational data, events, and portfolio reporting end in DWH / Databricks.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2B7CAA7-6375-400C-A227-FF36749B84A4}"/>
              </a:ext>
            </a:extLst>
          </p:cNvPr>
          <p:cNvSpPr>
            <a:spLocks noGrp="1"/>
          </p:cNvSpPr>
          <p:nvPr/>
        </p:nvSpPr>
        <p:spPr>
          <a:xfrm>
            <a:off x="876300" y="4514849"/>
            <a:ext cx="3143250" cy="1352549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01A45377-6A56-42AC-8647-CFFDE99F454C}"/>
              </a:ext>
            </a:extLst>
          </p:cNvPr>
          <p:cNvSpPr>
            <a:spLocks noGrp="1"/>
          </p:cNvSpPr>
          <p:nvPr/>
        </p:nvSpPr>
        <p:spPr>
          <a:xfrm flipH="1">
            <a:off x="922019" y="4514849"/>
            <a:ext cx="45719" cy="1079705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5E8340E-A217-4448-A559-140127D78DD7}"/>
              </a:ext>
            </a:extLst>
          </p:cNvPr>
          <p:cNvSpPr>
            <a:spLocks noGrp="1"/>
          </p:cNvSpPr>
          <p:nvPr/>
        </p:nvSpPr>
        <p:spPr>
          <a:xfrm>
            <a:off x="1066800" y="4686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Manual point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62FE122-5CAF-4CAE-AA01-C6FE30218F86}"/>
              </a:ext>
            </a:extLst>
          </p:cNvPr>
          <p:cNvSpPr>
            <a:spLocks noGrp="1"/>
          </p:cNvSpPr>
          <p:nvPr/>
        </p:nvSpPr>
        <p:spPr>
          <a:xfrm>
            <a:off x="1066800" y="5067300"/>
            <a:ext cx="2762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People still approve exceptions, manage LSP queries, and operate controls.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C61312D-0D96-46F2-94EC-837CCB193221}"/>
              </a:ext>
            </a:extLst>
          </p:cNvPr>
          <p:cNvSpPr>
            <a:spLocks noGrp="1"/>
          </p:cNvSpPr>
          <p:nvPr/>
        </p:nvSpPr>
        <p:spPr>
          <a:xfrm>
            <a:off x="7905750" y="4514850"/>
            <a:ext cx="3143250" cy="1162050"/>
          </a:xfrm>
          <a:prstGeom prst="roundRect">
            <a:avLst>
              <a:gd name="adj" fmla="val 8197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ECC22A33-20B0-45AE-8FE6-DF8B83E7F3C7}"/>
              </a:ext>
            </a:extLst>
          </p:cNvPr>
          <p:cNvSpPr>
            <a:spLocks noGrp="1"/>
          </p:cNvSpPr>
          <p:nvPr/>
        </p:nvSpPr>
        <p:spPr>
          <a:xfrm>
            <a:off x="7905750" y="4514850"/>
            <a:ext cx="57150" cy="116205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8793452-F9C3-49C6-9109-5F72EBEB3D42}"/>
              </a:ext>
            </a:extLst>
          </p:cNvPr>
          <p:cNvSpPr>
            <a:spLocks noGrp="1"/>
          </p:cNvSpPr>
          <p:nvPr/>
        </p:nvSpPr>
        <p:spPr>
          <a:xfrm>
            <a:off x="8096250" y="468630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Design point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3590E4A-A552-44FF-8F87-61649D53E0CA}"/>
              </a:ext>
            </a:extLst>
          </p:cNvPr>
          <p:cNvSpPr>
            <a:spLocks noGrp="1"/>
          </p:cNvSpPr>
          <p:nvPr/>
        </p:nvSpPr>
        <p:spPr>
          <a:xfrm>
            <a:off x="8096250" y="5067300"/>
            <a:ext cx="2762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Whether build or buy, integration to Databricks is a required architecture outcome.</a:t>
            </a:r>
          </a:p>
        </p:txBody>
      </p:sp>
    </p:spTree>
    <p:extLst>
      <p:ext uri="{BB962C8B-B14F-4D97-AF65-F5344CB8AC3E}">
        <p14:creationId xmlns:p14="http://schemas.microsoft.com/office/powerpoint/2010/main" val="11085040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6641BA37-3F78-4391-8521-26A89F191714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 dirty="0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Infrastructure Direction and Indicative Cost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FA1F168-9AE6-4635-A956-117886380160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Start an Azure India subscription only after the decision path is clear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FBA3E7-CA1D-40DA-85D8-146805E3C9F3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F4D908A-4B61-4D5D-AC19-0D4E8A212F3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3802EAE-DE21-4A5A-838D-9C2CD8836D89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F78D268-B99A-4659-9584-91424844907B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ED36FE-0294-4C22-8D77-A72A13B807B7}"/>
              </a:ext>
            </a:extLst>
          </p:cNvPr>
          <p:cNvSpPr>
            <a:spLocks noGrp="1"/>
          </p:cNvSpPr>
          <p:nvPr/>
        </p:nvSpPr>
        <p:spPr>
          <a:xfrm>
            <a:off x="876300" y="15240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E2DD2AB-5E6B-43CC-9C07-E6BCDFFD5E92}"/>
              </a:ext>
            </a:extLst>
          </p:cNvPr>
          <p:cNvSpPr>
            <a:spLocks noGrp="1"/>
          </p:cNvSpPr>
          <p:nvPr/>
        </p:nvSpPr>
        <p:spPr>
          <a:xfrm>
            <a:off x="10668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Initial cloud choice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232C9D-DD78-4B4F-AAA8-E7DAF94B002B}"/>
              </a:ext>
            </a:extLst>
          </p:cNvPr>
          <p:cNvSpPr>
            <a:spLocks noGrp="1"/>
          </p:cNvSpPr>
          <p:nvPr/>
        </p:nvSpPr>
        <p:spPr>
          <a:xfrm>
            <a:off x="10668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 India subscription for data residency and group-aligned operations.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F5BA9E6-6CCD-44EE-81CE-B03DA5576203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FF7ED"/>
          </a:solidFill>
          <a:ln w="9525">
            <a:solidFill>
              <a:srgbClr val="FED7AA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2F908A-5815-4FB7-934C-E599790CD689}"/>
              </a:ext>
            </a:extLst>
          </p:cNvPr>
          <p:cNvSpPr>
            <a:spLocks noGrp="1"/>
          </p:cNvSpPr>
          <p:nvPr/>
        </p:nvSpPr>
        <p:spPr>
          <a:xfrm>
            <a:off x="4533900" y="1524000"/>
            <a:ext cx="57150" cy="1524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FD91590-09E6-46CE-871D-379AF37672D2}"/>
              </a:ext>
            </a:extLst>
          </p:cNvPr>
          <p:cNvSpPr>
            <a:spLocks noGrp="1"/>
          </p:cNvSpPr>
          <p:nvPr/>
        </p:nvSpPr>
        <p:spPr>
          <a:xfrm>
            <a:off x="47244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Indicative run cost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BD0CAC6-87A0-4843-9D01-3D9E6F7DB86C}"/>
              </a:ext>
            </a:extLst>
          </p:cNvPr>
          <p:cNvSpPr>
            <a:spLocks noGrp="1"/>
          </p:cNvSpPr>
          <p:nvPr/>
        </p:nvSpPr>
        <p:spPr>
          <a:xfrm>
            <a:off x="47244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Planning estimate: about EUR 3K per month for a controlled non-large-scale production footprint.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F9E87F7-A8FF-41B1-924A-832B28536268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314325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D59F7F-399C-46C6-A5FF-557B7D4DC451}"/>
              </a:ext>
            </a:extLst>
          </p:cNvPr>
          <p:cNvSpPr>
            <a:spLocks noGrp="1"/>
          </p:cNvSpPr>
          <p:nvPr/>
        </p:nvSpPr>
        <p:spPr>
          <a:xfrm>
            <a:off x="8191500" y="1524000"/>
            <a:ext cx="57150" cy="15240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DA41C5-980F-44A3-B32C-71C611116833}"/>
              </a:ext>
            </a:extLst>
          </p:cNvPr>
          <p:cNvSpPr>
            <a:spLocks noGrp="1"/>
          </p:cNvSpPr>
          <p:nvPr/>
        </p:nvSpPr>
        <p:spPr>
          <a:xfrm>
            <a:off x="8382000" y="1695450"/>
            <a:ext cx="2762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Cost caveat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FD1C365-D46D-464D-9855-90C6BD7B9803}"/>
              </a:ext>
            </a:extLst>
          </p:cNvPr>
          <p:cNvSpPr>
            <a:spLocks noGrp="1"/>
          </p:cNvSpPr>
          <p:nvPr/>
        </p:nvSpPr>
        <p:spPr>
          <a:xfrm>
            <a:off x="8382000" y="2076450"/>
            <a:ext cx="27622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Actual cost depends on HA, DR, logs retention, data volume, Databricks integration, and vendor contracts.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A0E2EBE-B754-46BC-A56A-B32A537C1AB9}"/>
              </a:ext>
            </a:extLst>
          </p:cNvPr>
          <p:cNvSpPr>
            <a:spLocks noGrp="1"/>
          </p:cNvSpPr>
          <p:nvPr/>
        </p:nvSpPr>
        <p:spPr>
          <a:xfrm>
            <a:off x="1162050" y="3790950"/>
            <a:ext cx="85725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9B0C5EC-73B3-41E5-82FD-FB1D9A53D44B}"/>
              </a:ext>
            </a:extLst>
          </p:cNvPr>
          <p:cNvSpPr>
            <a:spLocks noGrp="1"/>
          </p:cNvSpPr>
          <p:nvPr/>
        </p:nvSpPr>
        <p:spPr>
          <a:xfrm>
            <a:off x="1257300" y="38671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Infra area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4DD1510-926A-43DE-A277-5C7888979EAC}"/>
              </a:ext>
            </a:extLst>
          </p:cNvPr>
          <p:cNvSpPr>
            <a:spLocks noGrp="1"/>
          </p:cNvSpPr>
          <p:nvPr/>
        </p:nvSpPr>
        <p:spPr>
          <a:xfrm>
            <a:off x="363855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8861AE0-078B-4921-AC2A-A4955AE92C26}"/>
              </a:ext>
            </a:extLst>
          </p:cNvPr>
          <p:cNvSpPr>
            <a:spLocks noGrp="1"/>
          </p:cNvSpPr>
          <p:nvPr/>
        </p:nvSpPr>
        <p:spPr>
          <a:xfrm>
            <a:off x="3733800" y="38671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Likely components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C9E19AF-BE81-4B7C-AB42-A06E571E9C25}"/>
              </a:ext>
            </a:extLst>
          </p:cNvPr>
          <p:cNvSpPr>
            <a:spLocks noGrp="1"/>
          </p:cNvSpPr>
          <p:nvPr/>
        </p:nvSpPr>
        <p:spPr>
          <a:xfrm>
            <a:off x="6400800" y="37909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2B31FCD-14B3-42A0-A1D1-100637B35EE7}"/>
              </a:ext>
            </a:extLst>
          </p:cNvPr>
          <p:cNvSpPr>
            <a:spLocks noGrp="1"/>
          </p:cNvSpPr>
          <p:nvPr/>
        </p:nvSpPr>
        <p:spPr>
          <a:xfrm>
            <a:off x="6496050" y="38671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needed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674487D-028C-42B8-92E6-F82C5A214F0D}"/>
              </a:ext>
            </a:extLst>
          </p:cNvPr>
          <p:cNvSpPr>
            <a:spLocks noGrp="1"/>
          </p:cNvSpPr>
          <p:nvPr/>
        </p:nvSpPr>
        <p:spPr>
          <a:xfrm>
            <a:off x="1162050" y="43434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7E873A1-5371-4580-841D-552535C9A810}"/>
              </a:ext>
            </a:extLst>
          </p:cNvPr>
          <p:cNvSpPr>
            <a:spLocks noGrp="1"/>
          </p:cNvSpPr>
          <p:nvPr/>
        </p:nvSpPr>
        <p:spPr>
          <a:xfrm>
            <a:off x="1257300" y="44196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Application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FA1ACCF-7798-4946-B209-34436A0E9ACC}"/>
              </a:ext>
            </a:extLst>
          </p:cNvPr>
          <p:cNvSpPr>
            <a:spLocks noGrp="1"/>
          </p:cNvSpPr>
          <p:nvPr/>
        </p:nvSpPr>
        <p:spPr>
          <a:xfrm>
            <a:off x="363855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322D617-A321-49FF-B2C5-075EA2C91E48}"/>
              </a:ext>
            </a:extLst>
          </p:cNvPr>
          <p:cNvSpPr>
            <a:spLocks noGrp="1"/>
          </p:cNvSpPr>
          <p:nvPr/>
        </p:nvSpPr>
        <p:spPr>
          <a:xfrm>
            <a:off x="3733800" y="44196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 Service / AKS, gateway, monitoring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5F20375-45AD-4999-BF89-DF269B77BBED}"/>
              </a:ext>
            </a:extLst>
          </p:cNvPr>
          <p:cNvSpPr>
            <a:spLocks noGrp="1"/>
          </p:cNvSpPr>
          <p:nvPr/>
        </p:nvSpPr>
        <p:spPr>
          <a:xfrm>
            <a:off x="6400800" y="43434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A6D281C-8BAA-4C19-AE98-D6851EEED31B}"/>
              </a:ext>
            </a:extLst>
          </p:cNvPr>
          <p:cNvSpPr>
            <a:spLocks noGrp="1"/>
          </p:cNvSpPr>
          <p:nvPr/>
        </p:nvSpPr>
        <p:spPr>
          <a:xfrm>
            <a:off x="6496050" y="44196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vendor deployment model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FEE08E9-AA1C-4AF2-939D-72C1AFBC05DF}"/>
              </a:ext>
            </a:extLst>
          </p:cNvPr>
          <p:cNvSpPr>
            <a:spLocks noGrp="1"/>
          </p:cNvSpPr>
          <p:nvPr/>
        </p:nvSpPr>
        <p:spPr>
          <a:xfrm>
            <a:off x="1162050" y="4895850"/>
            <a:ext cx="85725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4AD06C4-2FB6-4BDB-B1A5-2BBA46C6D895}"/>
              </a:ext>
            </a:extLst>
          </p:cNvPr>
          <p:cNvSpPr>
            <a:spLocks noGrp="1"/>
          </p:cNvSpPr>
          <p:nvPr/>
        </p:nvSpPr>
        <p:spPr>
          <a:xfrm>
            <a:off x="1257300" y="497205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2B7A84A-3968-4A2B-9471-9E017F5578C6}"/>
              </a:ext>
            </a:extLst>
          </p:cNvPr>
          <p:cNvSpPr>
            <a:spLocks noGrp="1"/>
          </p:cNvSpPr>
          <p:nvPr/>
        </p:nvSpPr>
        <p:spPr>
          <a:xfrm>
            <a:off x="363855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D71AD15-F1CB-471D-BC73-8193EB0D8F9D}"/>
              </a:ext>
            </a:extLst>
          </p:cNvPr>
          <p:cNvSpPr>
            <a:spLocks noGrp="1"/>
          </p:cNvSpPr>
          <p:nvPr/>
        </p:nvSpPr>
        <p:spPr>
          <a:xfrm>
            <a:off x="3733800" y="497205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PostgreSQL, storage, backup, retention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13AD22A-3087-4EE7-9DCB-7978E4D9BB31}"/>
              </a:ext>
            </a:extLst>
          </p:cNvPr>
          <p:cNvSpPr>
            <a:spLocks noGrp="1"/>
          </p:cNvSpPr>
          <p:nvPr/>
        </p:nvSpPr>
        <p:spPr>
          <a:xfrm>
            <a:off x="6400800" y="48958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183188E-AD85-4B5F-904F-683BF308F8D2}"/>
              </a:ext>
            </a:extLst>
          </p:cNvPr>
          <p:cNvSpPr>
            <a:spLocks noGrp="1"/>
          </p:cNvSpPr>
          <p:nvPr/>
        </p:nvSpPr>
        <p:spPr>
          <a:xfrm>
            <a:off x="6496050" y="497205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RPO/RTO and data residency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9C54B7B-B033-4717-9DD2-589B01E78C7A}"/>
              </a:ext>
            </a:extLst>
          </p:cNvPr>
          <p:cNvSpPr>
            <a:spLocks noGrp="1"/>
          </p:cNvSpPr>
          <p:nvPr/>
        </p:nvSpPr>
        <p:spPr>
          <a:xfrm>
            <a:off x="1162050" y="5448300"/>
            <a:ext cx="85725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644481D-CE49-4A50-BD2F-E572CD954897}"/>
              </a:ext>
            </a:extLst>
          </p:cNvPr>
          <p:cNvSpPr>
            <a:spLocks noGrp="1"/>
          </p:cNvSpPr>
          <p:nvPr/>
        </p:nvSpPr>
        <p:spPr>
          <a:xfrm>
            <a:off x="1257300" y="5524500"/>
            <a:ext cx="2286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9DBEE82-B8A0-445A-955A-AA2C9F747C32}"/>
              </a:ext>
            </a:extLst>
          </p:cNvPr>
          <p:cNvSpPr>
            <a:spLocks noGrp="1"/>
          </p:cNvSpPr>
          <p:nvPr/>
        </p:nvSpPr>
        <p:spPr>
          <a:xfrm>
            <a:off x="363855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3ECA8996-D612-49AA-8C51-6CEFA5657DEB}"/>
              </a:ext>
            </a:extLst>
          </p:cNvPr>
          <p:cNvSpPr>
            <a:spLocks noGrp="1"/>
          </p:cNvSpPr>
          <p:nvPr/>
        </p:nvSpPr>
        <p:spPr>
          <a:xfrm>
            <a:off x="3733800" y="5524500"/>
            <a:ext cx="2571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Databricks DWH, email, LSP channels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D997914-4901-4706-9FEE-3D1A0F46EB60}"/>
              </a:ext>
            </a:extLst>
          </p:cNvPr>
          <p:cNvSpPr>
            <a:spLocks noGrp="1"/>
          </p:cNvSpPr>
          <p:nvPr/>
        </p:nvSpPr>
        <p:spPr>
          <a:xfrm>
            <a:off x="6400800" y="54483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D454A32-9560-4E33-8CAC-81BDBB30DC6E}"/>
              </a:ext>
            </a:extLst>
          </p:cNvPr>
          <p:cNvSpPr>
            <a:spLocks noGrp="1"/>
          </p:cNvSpPr>
          <p:nvPr/>
        </p:nvSpPr>
        <p:spPr>
          <a:xfrm>
            <a:off x="6496050" y="5524500"/>
            <a:ext cx="3143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Interface ownership and support</a:t>
            </a:r>
          </a:p>
        </p:txBody>
      </p:sp>
    </p:spTree>
    <p:extLst>
      <p:ext uri="{BB962C8B-B14F-4D97-AF65-F5344CB8AC3E}">
        <p14:creationId xmlns:p14="http://schemas.microsoft.com/office/powerpoint/2010/main" val="1509373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24F3A90-F81A-4C85-84C8-1AC76310367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Buy Option: Assessment Required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D57E6F5-6C3B-4BC9-8463-FDD95EE007D8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A vendor decision needs months of diligence, not a demo-only comparison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1828A66-A495-4A31-AB0B-F701F9CC6A05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124681C-90DA-425C-9788-21F1F446D48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58E4403-3DC1-42DC-A5D5-49F2946150B5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32915E1-9604-4993-A3F4-FBE2834279C5}"/>
              </a:ext>
            </a:extLst>
          </p:cNvPr>
          <p:cNvSpPr>
            <a:spLocks noGrp="1"/>
          </p:cNvSpPr>
          <p:nvPr/>
        </p:nvSpPr>
        <p:spPr>
          <a:xfrm>
            <a:off x="628650" y="1466850"/>
            <a:ext cx="10477500" cy="5905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C8BBE6-BCA6-4C7B-B91B-5A5DB9C218F0}"/>
              </a:ext>
            </a:extLst>
          </p:cNvPr>
          <p:cNvSpPr>
            <a:spLocks noGrp="1"/>
          </p:cNvSpPr>
          <p:nvPr/>
        </p:nvSpPr>
        <p:spPr>
          <a:xfrm>
            <a:off x="723900" y="15430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Assessment area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DE05096-7CFC-4DAA-9FC9-EB920C618F41}"/>
              </a:ext>
            </a:extLst>
          </p:cNvPr>
          <p:cNvSpPr>
            <a:spLocks noGrp="1"/>
          </p:cNvSpPr>
          <p:nvPr/>
        </p:nvSpPr>
        <p:spPr>
          <a:xfrm>
            <a:off x="27241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1AE036-0197-4380-AC0C-B339D719DB5F}"/>
              </a:ext>
            </a:extLst>
          </p:cNvPr>
          <p:cNvSpPr>
            <a:spLocks noGrp="1"/>
          </p:cNvSpPr>
          <p:nvPr/>
        </p:nvSpPr>
        <p:spPr>
          <a:xfrm>
            <a:off x="2819400" y="15430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What to verify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607577D-B6D1-4FFC-B9F0-4A36D92F9076}"/>
              </a:ext>
            </a:extLst>
          </p:cNvPr>
          <p:cNvSpPr>
            <a:spLocks noGrp="1"/>
          </p:cNvSpPr>
          <p:nvPr/>
        </p:nvSpPr>
        <p:spPr>
          <a:xfrm>
            <a:off x="586740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46B433-4AAB-4B5A-8D7D-357050AD9C3A}"/>
              </a:ext>
            </a:extLst>
          </p:cNvPr>
          <p:cNvSpPr>
            <a:spLocks noGrp="1"/>
          </p:cNvSpPr>
          <p:nvPr/>
        </p:nvSpPr>
        <p:spPr>
          <a:xfrm>
            <a:off x="5962650" y="15430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D537EB-A221-4388-ABFD-44ADD77E2DC4}"/>
              </a:ext>
            </a:extLst>
          </p:cNvPr>
          <p:cNvSpPr>
            <a:spLocks noGrp="1"/>
          </p:cNvSpPr>
          <p:nvPr/>
        </p:nvSpPr>
        <p:spPr>
          <a:xfrm>
            <a:off x="8248650" y="14668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C3CD50-32ED-48B8-87C7-0DC5AF3B361C}"/>
              </a:ext>
            </a:extLst>
          </p:cNvPr>
          <p:cNvSpPr>
            <a:spLocks noGrp="1"/>
          </p:cNvSpPr>
          <p:nvPr/>
        </p:nvSpPr>
        <p:spPr>
          <a:xfrm>
            <a:off x="8343900" y="15430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7C6D021-4060-4531-AD2E-BD2FED050EC2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264E1B-2469-4C8F-BBFC-ED694E402AB8}"/>
              </a:ext>
            </a:extLst>
          </p:cNvPr>
          <p:cNvSpPr>
            <a:spLocks noGrp="1"/>
          </p:cNvSpPr>
          <p:nvPr/>
        </p:nvSpPr>
        <p:spPr>
          <a:xfrm>
            <a:off x="723900" y="21336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Functional fit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206F96-C619-4094-8DD8-382930F4F63A}"/>
              </a:ext>
            </a:extLst>
          </p:cNvPr>
          <p:cNvSpPr>
            <a:spLocks noGrp="1"/>
          </p:cNvSpPr>
          <p:nvPr/>
        </p:nvSpPr>
        <p:spPr>
          <a:xfrm>
            <a:off x="27241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F017E33-F70F-4314-9C6B-724ED6F743BD}"/>
              </a:ext>
            </a:extLst>
          </p:cNvPr>
          <p:cNvSpPr>
            <a:spLocks noGrp="1"/>
          </p:cNvSpPr>
          <p:nvPr/>
        </p:nvSpPr>
        <p:spPr>
          <a:xfrm>
            <a:off x="2819400" y="21336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Origination, approval, audit, reporting, exceptions.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AA3292-1341-40C6-9D7C-EC1675ED1F8E}"/>
              </a:ext>
            </a:extLst>
          </p:cNvPr>
          <p:cNvSpPr>
            <a:spLocks noGrp="1"/>
          </p:cNvSpPr>
          <p:nvPr/>
        </p:nvSpPr>
        <p:spPr>
          <a:xfrm>
            <a:off x="586740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753AE9E-D77A-49EB-80EF-6D316AB47A16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Ops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0B5BDAF-DF3D-4270-86EC-076DA61558A3}"/>
              </a:ext>
            </a:extLst>
          </p:cNvPr>
          <p:cNvSpPr>
            <a:spLocks noGrp="1"/>
          </p:cNvSpPr>
          <p:nvPr/>
        </p:nvSpPr>
        <p:spPr>
          <a:xfrm>
            <a:off x="8248650" y="20574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BFDA0C-E42C-45EA-AEEE-70BD3BC1E898}"/>
              </a:ext>
            </a:extLst>
          </p:cNvPr>
          <p:cNvSpPr>
            <a:spLocks noGrp="1"/>
          </p:cNvSpPr>
          <p:nvPr/>
        </p:nvSpPr>
        <p:spPr>
          <a:xfrm>
            <a:off x="8343900" y="21336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Fit-gap matrix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23E545-3226-4D0D-91F8-C7D848127A53}"/>
              </a:ext>
            </a:extLst>
          </p:cNvPr>
          <p:cNvSpPr>
            <a:spLocks noGrp="1"/>
          </p:cNvSpPr>
          <p:nvPr/>
        </p:nvSpPr>
        <p:spPr>
          <a:xfrm>
            <a:off x="628650" y="26479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E363AC3-BED6-4389-A45B-3BD1E2695E99}"/>
              </a:ext>
            </a:extLst>
          </p:cNvPr>
          <p:cNvSpPr>
            <a:spLocks noGrp="1"/>
          </p:cNvSpPr>
          <p:nvPr/>
        </p:nvSpPr>
        <p:spPr>
          <a:xfrm>
            <a:off x="723900" y="27241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audit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863ED3D-8949-47C5-AEE3-069A6108E14F}"/>
              </a:ext>
            </a:extLst>
          </p:cNvPr>
          <p:cNvSpPr>
            <a:spLocks noGrp="1"/>
          </p:cNvSpPr>
          <p:nvPr/>
        </p:nvSpPr>
        <p:spPr>
          <a:xfrm>
            <a:off x="27241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E4DD3C-9968-4BEE-AECB-F5CEF643B2D4}"/>
              </a:ext>
            </a:extLst>
          </p:cNvPr>
          <p:cNvSpPr>
            <a:spLocks noGrp="1"/>
          </p:cNvSpPr>
          <p:nvPr/>
        </p:nvSpPr>
        <p:spPr>
          <a:xfrm>
            <a:off x="2819400" y="27241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SSO, RBAC, logs, encryption, vulnerability posture.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9BA4E94D-FD48-41A3-8FB9-9C9640CCFEC1}"/>
              </a:ext>
            </a:extLst>
          </p:cNvPr>
          <p:cNvSpPr>
            <a:spLocks noGrp="1"/>
          </p:cNvSpPr>
          <p:nvPr/>
        </p:nvSpPr>
        <p:spPr>
          <a:xfrm>
            <a:off x="586740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752ACFD-E43F-42D0-A749-680A691AE5AA}"/>
              </a:ext>
            </a:extLst>
          </p:cNvPr>
          <p:cNvSpPr>
            <a:spLocks noGrp="1"/>
          </p:cNvSpPr>
          <p:nvPr/>
        </p:nvSpPr>
        <p:spPr>
          <a:xfrm>
            <a:off x="5962650" y="27241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IT Security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7E6BAB7-AA71-4A38-807F-3BECB0DBF76A}"/>
              </a:ext>
            </a:extLst>
          </p:cNvPr>
          <p:cNvSpPr>
            <a:spLocks noGrp="1"/>
          </p:cNvSpPr>
          <p:nvPr/>
        </p:nvSpPr>
        <p:spPr>
          <a:xfrm>
            <a:off x="8248650" y="26479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073AC1-308E-4D9B-A37A-E111D24110A5}"/>
              </a:ext>
            </a:extLst>
          </p:cNvPr>
          <p:cNvSpPr>
            <a:spLocks noGrp="1"/>
          </p:cNvSpPr>
          <p:nvPr/>
        </p:nvSpPr>
        <p:spPr>
          <a:xfrm>
            <a:off x="8343900" y="27241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Security sign-off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0BFF819-9ADD-4686-BD6B-72B144C108FE}"/>
              </a:ext>
            </a:extLst>
          </p:cNvPr>
          <p:cNvSpPr>
            <a:spLocks noGrp="1"/>
          </p:cNvSpPr>
          <p:nvPr/>
        </p:nvSpPr>
        <p:spPr>
          <a:xfrm>
            <a:off x="628650" y="32385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A22E957-8F6D-4551-87AB-1150CDD2DECC}"/>
              </a:ext>
            </a:extLst>
          </p:cNvPr>
          <p:cNvSpPr>
            <a:spLocks noGrp="1"/>
          </p:cNvSpPr>
          <p:nvPr/>
        </p:nvSpPr>
        <p:spPr>
          <a:xfrm>
            <a:off x="723900" y="33147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77B5219-D859-4C27-8C60-5638A9E2A308}"/>
              </a:ext>
            </a:extLst>
          </p:cNvPr>
          <p:cNvSpPr>
            <a:spLocks noGrp="1"/>
          </p:cNvSpPr>
          <p:nvPr/>
        </p:nvSpPr>
        <p:spPr>
          <a:xfrm>
            <a:off x="27241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8D5183B-0E37-48E0-B8B3-322FA61E4390}"/>
              </a:ext>
            </a:extLst>
          </p:cNvPr>
          <p:cNvSpPr>
            <a:spLocks noGrp="1"/>
          </p:cNvSpPr>
          <p:nvPr/>
        </p:nvSpPr>
        <p:spPr>
          <a:xfrm>
            <a:off x="2819400" y="33147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channels, email, PG/DWH/Databricks, APIs.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6030487-E069-4864-AACB-2692FAFEA70C}"/>
              </a:ext>
            </a:extLst>
          </p:cNvPr>
          <p:cNvSpPr>
            <a:spLocks noGrp="1"/>
          </p:cNvSpPr>
          <p:nvPr/>
        </p:nvSpPr>
        <p:spPr>
          <a:xfrm>
            <a:off x="586740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C4700D5C-5EB6-4287-8E26-157AC3F7C615}"/>
              </a:ext>
            </a:extLst>
          </p:cNvPr>
          <p:cNvSpPr>
            <a:spLocks noGrp="1"/>
          </p:cNvSpPr>
          <p:nvPr/>
        </p:nvSpPr>
        <p:spPr>
          <a:xfrm>
            <a:off x="5962650" y="33147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79D1EF7-B7BF-4F33-B8A5-23BFE3CA9BF3}"/>
              </a:ext>
            </a:extLst>
          </p:cNvPr>
          <p:cNvSpPr>
            <a:spLocks noGrp="1"/>
          </p:cNvSpPr>
          <p:nvPr/>
        </p:nvSpPr>
        <p:spPr>
          <a:xfrm>
            <a:off x="8248650" y="32385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80E87EC-67C2-42FB-A20E-3CD204D9A578}"/>
              </a:ext>
            </a:extLst>
          </p:cNvPr>
          <p:cNvSpPr>
            <a:spLocks noGrp="1"/>
          </p:cNvSpPr>
          <p:nvPr/>
        </p:nvSpPr>
        <p:spPr>
          <a:xfrm>
            <a:off x="8343900" y="33147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Integration plan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D6E72B34-46E4-4B3A-98B0-B911F415C3B0}"/>
              </a:ext>
            </a:extLst>
          </p:cNvPr>
          <p:cNvSpPr>
            <a:spLocks noGrp="1"/>
          </p:cNvSpPr>
          <p:nvPr/>
        </p:nvSpPr>
        <p:spPr>
          <a:xfrm>
            <a:off x="628650" y="38290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CEA7D09-1454-4393-AB40-D8C0851D26B9}"/>
              </a:ext>
            </a:extLst>
          </p:cNvPr>
          <p:cNvSpPr>
            <a:spLocks noGrp="1"/>
          </p:cNvSpPr>
          <p:nvPr/>
        </p:nvSpPr>
        <p:spPr>
          <a:xfrm>
            <a:off x="723900" y="39052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9FB87EA-CC2E-4FC0-871D-89C8640EC694}"/>
              </a:ext>
            </a:extLst>
          </p:cNvPr>
          <p:cNvSpPr>
            <a:spLocks noGrp="1"/>
          </p:cNvSpPr>
          <p:nvPr/>
        </p:nvSpPr>
        <p:spPr>
          <a:xfrm>
            <a:off x="27241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289B8A9-B748-42E5-91E1-AA6F27F8BB41}"/>
              </a:ext>
            </a:extLst>
          </p:cNvPr>
          <p:cNvSpPr>
            <a:spLocks noGrp="1"/>
          </p:cNvSpPr>
          <p:nvPr/>
        </p:nvSpPr>
        <p:spPr>
          <a:xfrm>
            <a:off x="2819400" y="39052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model, SLAs, incident process, release process.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ACAB7C8-1A1E-4ADD-B26F-CA99354994D0}"/>
              </a:ext>
            </a:extLst>
          </p:cNvPr>
          <p:cNvSpPr>
            <a:spLocks noGrp="1"/>
          </p:cNvSpPr>
          <p:nvPr/>
        </p:nvSpPr>
        <p:spPr>
          <a:xfrm>
            <a:off x="586740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A0B4E3C-9390-47E4-A24A-3398DA772175}"/>
              </a:ext>
            </a:extLst>
          </p:cNvPr>
          <p:cNvSpPr>
            <a:spLocks noGrp="1"/>
          </p:cNvSpPr>
          <p:nvPr/>
        </p:nvSpPr>
        <p:spPr>
          <a:xfrm>
            <a:off x="5962650" y="39052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Support + Vendor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D0CDC6FA-2D6F-4D8B-8D50-12C1135983E5}"/>
              </a:ext>
            </a:extLst>
          </p:cNvPr>
          <p:cNvSpPr>
            <a:spLocks noGrp="1"/>
          </p:cNvSpPr>
          <p:nvPr/>
        </p:nvSpPr>
        <p:spPr>
          <a:xfrm>
            <a:off x="8248650" y="38290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C9E057C7-22C3-4E6C-A2DC-FDD34A4ECCB8}"/>
              </a:ext>
            </a:extLst>
          </p:cNvPr>
          <p:cNvSpPr>
            <a:spLocks noGrp="1"/>
          </p:cNvSpPr>
          <p:nvPr/>
        </p:nvSpPr>
        <p:spPr>
          <a:xfrm>
            <a:off x="8343900" y="39052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RACI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4145175A-9E36-41DA-A1A1-8D20AF111B0B}"/>
              </a:ext>
            </a:extLst>
          </p:cNvPr>
          <p:cNvSpPr>
            <a:spLocks noGrp="1"/>
          </p:cNvSpPr>
          <p:nvPr/>
        </p:nvSpPr>
        <p:spPr>
          <a:xfrm>
            <a:off x="628650" y="4419600"/>
            <a:ext cx="10477500" cy="5905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801B497B-C0D2-4D5C-9BDD-1357A5AADB18}"/>
              </a:ext>
            </a:extLst>
          </p:cNvPr>
          <p:cNvSpPr>
            <a:spLocks noGrp="1"/>
          </p:cNvSpPr>
          <p:nvPr/>
        </p:nvSpPr>
        <p:spPr>
          <a:xfrm>
            <a:off x="723900" y="449580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Commercials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4613EBF-7B54-43C3-8709-3F7E08B2F96C}"/>
              </a:ext>
            </a:extLst>
          </p:cNvPr>
          <p:cNvSpPr>
            <a:spLocks noGrp="1"/>
          </p:cNvSpPr>
          <p:nvPr/>
        </p:nvSpPr>
        <p:spPr>
          <a:xfrm>
            <a:off x="27241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FF87C2C-061C-4B5E-ADE2-DBD9934DABE0}"/>
              </a:ext>
            </a:extLst>
          </p:cNvPr>
          <p:cNvSpPr>
            <a:spLocks noGrp="1"/>
          </p:cNvSpPr>
          <p:nvPr/>
        </p:nvSpPr>
        <p:spPr>
          <a:xfrm>
            <a:off x="2819400" y="449580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License, implementation, change costs, exit rights.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815A7D2-4043-45D9-BDF3-EE34401FD305}"/>
              </a:ext>
            </a:extLst>
          </p:cNvPr>
          <p:cNvSpPr>
            <a:spLocks noGrp="1"/>
          </p:cNvSpPr>
          <p:nvPr/>
        </p:nvSpPr>
        <p:spPr>
          <a:xfrm>
            <a:off x="586740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925518E-4CDD-4A5E-BC55-9EC388D4051F}"/>
              </a:ext>
            </a:extLst>
          </p:cNvPr>
          <p:cNvSpPr>
            <a:spLocks noGrp="1"/>
          </p:cNvSpPr>
          <p:nvPr/>
        </p:nvSpPr>
        <p:spPr>
          <a:xfrm>
            <a:off x="5962650" y="449580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Finance + Legal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10665DA6-9AB1-4E22-9DA9-41A36A2A351F}"/>
              </a:ext>
            </a:extLst>
          </p:cNvPr>
          <p:cNvSpPr>
            <a:spLocks noGrp="1"/>
          </p:cNvSpPr>
          <p:nvPr/>
        </p:nvSpPr>
        <p:spPr>
          <a:xfrm>
            <a:off x="8248650" y="441960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85A6375-45C4-47F2-8D50-F65A1BC2B1CB}"/>
              </a:ext>
            </a:extLst>
          </p:cNvPr>
          <p:cNvSpPr>
            <a:spLocks noGrp="1"/>
          </p:cNvSpPr>
          <p:nvPr/>
        </p:nvSpPr>
        <p:spPr>
          <a:xfrm>
            <a:off x="8343900" y="449580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TCO and contract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4594FA35-8666-4078-B34F-AC5D630FB34C}"/>
              </a:ext>
            </a:extLst>
          </p:cNvPr>
          <p:cNvSpPr>
            <a:spLocks noGrp="1"/>
          </p:cNvSpPr>
          <p:nvPr/>
        </p:nvSpPr>
        <p:spPr>
          <a:xfrm>
            <a:off x="628650" y="5010150"/>
            <a:ext cx="10477500" cy="5905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0664B56-7BA9-4B16-962F-E594B7A726F2}"/>
              </a:ext>
            </a:extLst>
          </p:cNvPr>
          <p:cNvSpPr>
            <a:spLocks noGrp="1"/>
          </p:cNvSpPr>
          <p:nvPr/>
        </p:nvSpPr>
        <p:spPr>
          <a:xfrm>
            <a:off x="723900" y="5086350"/>
            <a:ext cx="1905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Data governance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2271746-7CE6-483D-B9A8-884A3F228F82}"/>
              </a:ext>
            </a:extLst>
          </p:cNvPr>
          <p:cNvSpPr>
            <a:spLocks noGrp="1"/>
          </p:cNvSpPr>
          <p:nvPr/>
        </p:nvSpPr>
        <p:spPr>
          <a:xfrm>
            <a:off x="27241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1870EEA0-B308-4B95-9494-68E4C09A375F}"/>
              </a:ext>
            </a:extLst>
          </p:cNvPr>
          <p:cNvSpPr>
            <a:spLocks noGrp="1"/>
          </p:cNvSpPr>
          <p:nvPr/>
        </p:nvSpPr>
        <p:spPr>
          <a:xfrm>
            <a:off x="2819400" y="5086350"/>
            <a:ext cx="295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Ownership, retention, exports, residency, audit access.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7B26A859-F8FA-417C-A5FD-1D06FA1A2012}"/>
              </a:ext>
            </a:extLst>
          </p:cNvPr>
          <p:cNvSpPr>
            <a:spLocks noGrp="1"/>
          </p:cNvSpPr>
          <p:nvPr/>
        </p:nvSpPr>
        <p:spPr>
          <a:xfrm>
            <a:off x="586740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EB362100-2406-42ED-A1E5-CAA8D4D8380C}"/>
              </a:ext>
            </a:extLst>
          </p:cNvPr>
          <p:cNvSpPr>
            <a:spLocks noGrp="1"/>
          </p:cNvSpPr>
          <p:nvPr/>
        </p:nvSpPr>
        <p:spPr>
          <a:xfrm>
            <a:off x="5962650" y="5086350"/>
            <a:ext cx="2190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Governance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F71A6100-3405-4A5E-B333-DFBC9988134B}"/>
              </a:ext>
            </a:extLst>
          </p:cNvPr>
          <p:cNvSpPr>
            <a:spLocks noGrp="1"/>
          </p:cNvSpPr>
          <p:nvPr/>
        </p:nvSpPr>
        <p:spPr>
          <a:xfrm>
            <a:off x="8248650" y="5010150"/>
            <a:ext cx="9525" cy="5905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366361B-78EC-4A55-9CD4-6094FF41B232}"/>
              </a:ext>
            </a:extLst>
          </p:cNvPr>
          <p:cNvSpPr>
            <a:spLocks noGrp="1"/>
          </p:cNvSpPr>
          <p:nvPr/>
        </p:nvSpPr>
        <p:spPr>
          <a:xfrm>
            <a:off x="8343900" y="5086350"/>
            <a:ext cx="2667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Control evidence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ED3FA59-5AE6-42A9-9429-E5C7C9EB9071}"/>
              </a:ext>
            </a:extLst>
          </p:cNvPr>
          <p:cNvSpPr>
            <a:spLocks noGrp="1"/>
          </p:cNvSpPr>
          <p:nvPr/>
        </p:nvSpPr>
        <p:spPr>
          <a:xfrm>
            <a:off x="1200150" y="5981700"/>
            <a:ext cx="97917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Key question: who manages what after go-live? Vendor capability does not remove Bhawana ownership of controls, approvals, data, and LSP experience.</a:t>
            </a:r>
          </a:p>
        </p:txBody>
      </p:sp>
    </p:spTree>
    <p:extLst>
      <p:ext uri="{BB962C8B-B14F-4D97-AF65-F5344CB8AC3E}">
        <p14:creationId xmlns:p14="http://schemas.microsoft.com/office/powerpoint/2010/main" val="35792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8E5BD2B8-7D21-43B9-BEA6-F0BFA0985878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Build Option: Gated Roadmap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23ABAD1-44C2-481F-8CFF-F097057AF6EF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current prototype is the starting evidence, not the production end state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62592E7-8501-4EB6-A3ED-75A7E6D1FC2E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1B471C0-64E0-47F3-8DB9-F0C1A42D7F2A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8A6642-A95D-4DED-A4B9-46475E8C80B6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BEDD6D3-8D0E-4886-93F0-B014B6307050}"/>
              </a:ext>
            </a:extLst>
          </p:cNvPr>
          <p:cNvSpPr>
            <a:spLocks noGrp="1"/>
          </p:cNvSpPr>
          <p:nvPr/>
        </p:nvSpPr>
        <p:spPr>
          <a:xfrm>
            <a:off x="1123950" y="2857500"/>
            <a:ext cx="9906000" cy="7620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9FE8D8F-73E9-4EE8-9795-0C07439EA3E0}"/>
              </a:ext>
            </a:extLst>
          </p:cNvPr>
          <p:cNvSpPr>
            <a:spLocks noGrp="1"/>
          </p:cNvSpPr>
          <p:nvPr/>
        </p:nvSpPr>
        <p:spPr>
          <a:xfrm>
            <a:off x="1581150" y="2667000"/>
            <a:ext cx="457200" cy="457200"/>
          </a:xfrm>
          <a:prstGeom prst="ellipse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786374-745D-466C-AC6E-37324C1D4CAC}"/>
              </a:ext>
            </a:extLst>
          </p:cNvPr>
          <p:cNvSpPr>
            <a:spLocks noGrp="1"/>
          </p:cNvSpPr>
          <p:nvPr/>
        </p:nvSpPr>
        <p:spPr>
          <a:xfrm>
            <a:off x="15811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47F8C4E-5D05-4224-82F8-5342FC98D17F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5446BD-C1A5-440B-B4E6-A826E3F43D9B}"/>
              </a:ext>
            </a:extLst>
          </p:cNvPr>
          <p:cNvSpPr>
            <a:spLocks noGrp="1"/>
          </p:cNvSpPr>
          <p:nvPr/>
        </p:nvSpPr>
        <p:spPr>
          <a:xfrm>
            <a:off x="819150" y="3619500"/>
            <a:ext cx="57150" cy="15240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852F8-138F-4B06-AD98-3580BCA5F0BC}"/>
              </a:ext>
            </a:extLst>
          </p:cNvPr>
          <p:cNvSpPr>
            <a:spLocks noGrp="1"/>
          </p:cNvSpPr>
          <p:nvPr/>
        </p:nvSpPr>
        <p:spPr>
          <a:xfrm>
            <a:off x="10096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0-1 month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F9AD76B-EE68-4535-B57E-529F269731D1}"/>
              </a:ext>
            </a:extLst>
          </p:cNvPr>
          <p:cNvSpPr>
            <a:spLocks noGrp="1"/>
          </p:cNvSpPr>
          <p:nvPr/>
        </p:nvSpPr>
        <p:spPr>
          <a:xfrm>
            <a:off x="10096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Decision and scope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owner, target process, LSP value case.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091EF47-130B-4259-BE8A-2F4E79B756B7}"/>
              </a:ext>
            </a:extLst>
          </p:cNvPr>
          <p:cNvSpPr>
            <a:spLocks noGrp="1"/>
          </p:cNvSpPr>
          <p:nvPr/>
        </p:nvSpPr>
        <p:spPr>
          <a:xfrm>
            <a:off x="4362450" y="2667000"/>
            <a:ext cx="457200" cy="457200"/>
          </a:xfrm>
          <a:prstGeom prst="ellipse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DC19B59-B78A-4265-9784-2C2522B15D13}"/>
              </a:ext>
            </a:extLst>
          </p:cNvPr>
          <p:cNvSpPr>
            <a:spLocks noGrp="1"/>
          </p:cNvSpPr>
          <p:nvPr/>
        </p:nvSpPr>
        <p:spPr>
          <a:xfrm>
            <a:off x="43624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FF474A4A-6EA0-441B-972C-A3C53C4B0379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4107B4-A168-4E30-8A36-7754D4FCD7EA}"/>
              </a:ext>
            </a:extLst>
          </p:cNvPr>
          <p:cNvSpPr>
            <a:spLocks noGrp="1"/>
          </p:cNvSpPr>
          <p:nvPr/>
        </p:nvSpPr>
        <p:spPr>
          <a:xfrm>
            <a:off x="3600450" y="3619500"/>
            <a:ext cx="57150" cy="15240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8F5E907-C907-4743-82E2-132C96DDACE5}"/>
              </a:ext>
            </a:extLst>
          </p:cNvPr>
          <p:cNvSpPr>
            <a:spLocks noGrp="1"/>
          </p:cNvSpPr>
          <p:nvPr/>
        </p:nvSpPr>
        <p:spPr>
          <a:xfrm>
            <a:off x="37909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1-3 months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E0CDA0F-26B1-4F9F-B676-18FDCDA24019}"/>
              </a:ext>
            </a:extLst>
          </p:cNvPr>
          <p:cNvSpPr>
            <a:spLocks noGrp="1"/>
          </p:cNvSpPr>
          <p:nvPr/>
        </p:nvSpPr>
        <p:spPr>
          <a:xfrm>
            <a:off x="37909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MVP hardening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Azure, Entra ID, audit, GitHub CI/CD, SDLC.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EE6DE15-3CBB-45F0-BFE7-74BBF2669AA9}"/>
              </a:ext>
            </a:extLst>
          </p:cNvPr>
          <p:cNvSpPr>
            <a:spLocks noGrp="1"/>
          </p:cNvSpPr>
          <p:nvPr/>
        </p:nvSpPr>
        <p:spPr>
          <a:xfrm>
            <a:off x="7143750" y="2667000"/>
            <a:ext cx="457200" cy="457200"/>
          </a:xfrm>
          <a:prstGeom prst="ellipse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BAA1BB9-D5CF-4105-9FF8-C8E1886C1D49}"/>
              </a:ext>
            </a:extLst>
          </p:cNvPr>
          <p:cNvSpPr>
            <a:spLocks noGrp="1"/>
          </p:cNvSpPr>
          <p:nvPr/>
        </p:nvSpPr>
        <p:spPr>
          <a:xfrm>
            <a:off x="71437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DFA568A9-C5EC-475C-9067-4D313FE7AA7D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EAF3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1D0A3A8-6645-4DA2-821C-8B3281873764}"/>
              </a:ext>
            </a:extLst>
          </p:cNvPr>
          <p:cNvSpPr>
            <a:spLocks noGrp="1"/>
          </p:cNvSpPr>
          <p:nvPr/>
        </p:nvSpPr>
        <p:spPr>
          <a:xfrm>
            <a:off x="6381750" y="3619500"/>
            <a:ext cx="57150" cy="15240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E762904-8950-42FD-84D7-F0B733B895A9}"/>
              </a:ext>
            </a:extLst>
          </p:cNvPr>
          <p:cNvSpPr>
            <a:spLocks noGrp="1"/>
          </p:cNvSpPr>
          <p:nvPr/>
        </p:nvSpPr>
        <p:spPr>
          <a:xfrm>
            <a:off x="65722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3-5 months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552171B-6470-4E5E-B2F4-DA1180D4F125}"/>
              </a:ext>
            </a:extLst>
          </p:cNvPr>
          <p:cNvSpPr>
            <a:spLocks noGrp="1"/>
          </p:cNvSpPr>
          <p:nvPr/>
        </p:nvSpPr>
        <p:spPr>
          <a:xfrm>
            <a:off x="65722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One or two LSPs, manual exception flow, reporting.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32AF2C0-0155-44CD-8EA0-4448EF876042}"/>
              </a:ext>
            </a:extLst>
          </p:cNvPr>
          <p:cNvSpPr>
            <a:spLocks noGrp="1"/>
          </p:cNvSpPr>
          <p:nvPr/>
        </p:nvSpPr>
        <p:spPr>
          <a:xfrm>
            <a:off x="9925050" y="2667000"/>
            <a:ext cx="457200" cy="457200"/>
          </a:xfrm>
          <a:prstGeom prst="ellipse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97EE1A3-2BB8-4FD0-9B00-AE3DE8B3D9D7}"/>
              </a:ext>
            </a:extLst>
          </p:cNvPr>
          <p:cNvSpPr>
            <a:spLocks noGrp="1"/>
          </p:cNvSpPr>
          <p:nvPr/>
        </p:nvSpPr>
        <p:spPr>
          <a:xfrm>
            <a:off x="9925050" y="2790825"/>
            <a:ext cx="4572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0C193D25-D1ED-431B-9E1F-E7EDF77807D3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2247900" cy="152400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A299465-E5C2-4C71-BD29-EEAE6C123F6C}"/>
              </a:ext>
            </a:extLst>
          </p:cNvPr>
          <p:cNvSpPr>
            <a:spLocks noGrp="1"/>
          </p:cNvSpPr>
          <p:nvPr/>
        </p:nvSpPr>
        <p:spPr>
          <a:xfrm>
            <a:off x="9163050" y="3619500"/>
            <a:ext cx="57150" cy="15240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399A7F5-F478-482D-B292-85564DBE94D6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8669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5-8 months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9715C93-ACB7-461A-B3A4-E1B9AACF612A}"/>
              </a:ext>
            </a:extLst>
          </p:cNvPr>
          <p:cNvSpPr>
            <a:spLocks noGrp="1"/>
          </p:cNvSpPr>
          <p:nvPr/>
        </p:nvSpPr>
        <p:spPr>
          <a:xfrm>
            <a:off x="9353550" y="4171950"/>
            <a:ext cx="18669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Scale readiness</a:t>
            </a:r>
          </a:p>
          <a:p>
            <a:endParaRPr sz="1125" b="0">
              <a:solidFill>
                <a:srgbClr val="17324D"/>
              </a:solidFill>
              <a:latin typeface="Aptos"/>
              <a:ea typeface="Aptos"/>
              <a:cs typeface="Aptos"/>
            </a:endParaRPr>
          </a:p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Monitoring, DR, performance, Databricks DWH.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135F56FA-F07B-4162-9460-1D207874BBC3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3905250" cy="1257300"/>
          </a:xfrm>
          <a:prstGeom prst="roundRect">
            <a:avLst>
              <a:gd name="adj" fmla="val 8929"/>
            </a:avLst>
          </a:prstGeom>
          <a:solidFill>
            <a:srgbClr val="FFF5F5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7BF346A-94E2-4AFE-85EB-8995BD817EB4}"/>
              </a:ext>
            </a:extLst>
          </p:cNvPr>
          <p:cNvSpPr>
            <a:spLocks noGrp="1"/>
          </p:cNvSpPr>
          <p:nvPr/>
        </p:nvSpPr>
        <p:spPr>
          <a:xfrm>
            <a:off x="1562100" y="1390650"/>
            <a:ext cx="57150" cy="1066800"/>
          </a:xfrm>
          <a:prstGeom prst="rect">
            <a:avLst/>
          </a:prstGeom>
          <a:solidFill>
            <a:srgbClr val="D92D20"/>
          </a:solidFill>
          <a:ln w="9525">
            <a:solidFill>
              <a:srgbClr val="D92D20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AFCCC8B-FA14-4E82-B7FC-A600581003B5}"/>
              </a:ext>
            </a:extLst>
          </p:cNvPr>
          <p:cNvSpPr>
            <a:spLocks noGrp="1"/>
          </p:cNvSpPr>
          <p:nvPr/>
        </p:nvSpPr>
        <p:spPr>
          <a:xfrm>
            <a:off x="17526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Hard gate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E9FB8A6D-0833-4834-B082-1ED1856672A7}"/>
              </a:ext>
            </a:extLst>
          </p:cNvPr>
          <p:cNvSpPr>
            <a:spLocks noGrp="1"/>
          </p:cNvSpPr>
          <p:nvPr/>
        </p:nvSpPr>
        <p:spPr>
          <a:xfrm>
            <a:off x="17526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8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No production LSP migration until ownership, security, audit, infra, and manual exception operations are proven.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1CC6ECD-7C7E-4C2C-81B9-76229C482BBA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3905250" cy="1066800"/>
          </a:xfrm>
          <a:prstGeom prst="roundRect">
            <a:avLst>
              <a:gd name="adj" fmla="val 8929"/>
            </a:avLst>
          </a:prstGeom>
          <a:solidFill>
            <a:srgbClr val="ECFDF3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21241C0-909A-4381-94E2-1CBCAD491443}"/>
              </a:ext>
            </a:extLst>
          </p:cNvPr>
          <p:cNvSpPr>
            <a:spLocks noGrp="1"/>
          </p:cNvSpPr>
          <p:nvPr/>
        </p:nvSpPr>
        <p:spPr>
          <a:xfrm>
            <a:off x="6705600" y="1390650"/>
            <a:ext cx="57150" cy="10668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67D6101D-92FB-470F-B227-91953399411C}"/>
              </a:ext>
            </a:extLst>
          </p:cNvPr>
          <p:cNvSpPr>
            <a:spLocks noGrp="1"/>
          </p:cNvSpPr>
          <p:nvPr/>
        </p:nvSpPr>
        <p:spPr>
          <a:xfrm>
            <a:off x="6896100" y="1562100"/>
            <a:ext cx="3524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LSP value proof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0CC60BA-346A-4FAB-9878-876D96CAB0CE}"/>
              </a:ext>
            </a:extLst>
          </p:cNvPr>
          <p:cNvSpPr>
            <a:spLocks noGrp="1"/>
          </p:cNvSpPr>
          <p:nvPr/>
        </p:nvSpPr>
        <p:spPr>
          <a:xfrm>
            <a:off x="6896100" y="1943100"/>
            <a:ext cx="35242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Pilot must prove the platform is easier for LSPs than email and manual follow-up.</a:t>
            </a:r>
          </a:p>
        </p:txBody>
      </p:sp>
    </p:spTree>
    <p:extLst>
      <p:ext uri="{BB962C8B-B14F-4D97-AF65-F5344CB8AC3E}">
        <p14:creationId xmlns:p14="http://schemas.microsoft.com/office/powerpoint/2010/main" val="112157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>
            <a:extLst>
              <a:ext uri="{FF2B5EF4-FFF2-40B4-BE49-F238E27FC236}">
                <a16:creationId xmlns:a16="http://schemas.microsoft.com/office/drawing/2014/main" id="{4B6B3C2C-50F7-419E-BEA7-B6FA4A0E83F2}"/>
              </a:ext>
            </a:extLst>
          </p:cNvPr>
          <p:cNvSpPr>
            <a:spLocks noGrp="1"/>
          </p:cNvSpPr>
          <p:nvPr/>
        </p:nvSpPr>
        <p:spPr>
          <a:xfrm>
            <a:off x="533400" y="342900"/>
            <a:ext cx="8858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defRPr>
            </a:pPr>
            <a:r>
              <a:rPr sz="2625" b="1">
                <a:solidFill>
                  <a:srgbClr val="0B1F45"/>
                </a:solidFill>
                <a:latin typeface="Aptos Display"/>
                <a:ea typeface="Aptos Display"/>
                <a:cs typeface="Aptos Display"/>
              </a:rPr>
              <a:t>Key Challenges and Executive Asks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8C6A3B5-B394-49CD-AC50-19BC37BB3323}"/>
              </a:ext>
            </a:extLst>
          </p:cNvPr>
          <p:cNvSpPr>
            <a:spLocks noGrp="1"/>
          </p:cNvSpPr>
          <p:nvPr/>
        </p:nvSpPr>
        <p:spPr>
          <a:xfrm>
            <a:off x="552450" y="819150"/>
            <a:ext cx="9334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The decision can move forward if these questions are explicitly owned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BCB2FCC-4F45-4E81-8E47-503598959668}"/>
              </a:ext>
            </a:extLst>
          </p:cNvPr>
          <p:cNvSpPr>
            <a:spLocks noGrp="1"/>
          </p:cNvSpPr>
          <p:nvPr/>
        </p:nvSpPr>
        <p:spPr>
          <a:xfrm>
            <a:off x="533400" y="1181100"/>
            <a:ext cx="11125200" cy="28575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1FF116-AFB8-4EE4-9F7E-FF23BA7F27D0}"/>
              </a:ext>
            </a:extLst>
          </p:cNvPr>
          <p:cNvSpPr>
            <a:spLocks noGrp="1"/>
          </p:cNvSpPr>
          <p:nvPr/>
        </p:nvSpPr>
        <p:spPr>
          <a:xfrm>
            <a:off x="533400" y="6496050"/>
            <a:ext cx="4095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50" b="0">
                <a:solidFill>
                  <a:srgbClr val="5B6B7E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5B6B7E"/>
                </a:solidFill>
                <a:latin typeface="Aptos"/>
                <a:ea typeface="Aptos"/>
                <a:cs typeface="Aptos"/>
              </a:rPr>
              <a:t>Bhawana Capital | LMS platform decision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7E8AA9-B53C-4430-9CB1-A34C4497515A}"/>
              </a:ext>
            </a:extLst>
          </p:cNvPr>
          <p:cNvSpPr>
            <a:spLocks noGrp="1"/>
          </p:cNvSpPr>
          <p:nvPr/>
        </p:nvSpPr>
        <p:spPr>
          <a:xfrm>
            <a:off x="11315700" y="647700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>
                <a:solidFill>
                  <a:srgbClr val="1769E0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769E0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CFB2EE-C245-44E4-B70A-9EF9169219B7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5F2B9A3-3411-4F7D-9E60-D35504747BDA}"/>
              </a:ext>
            </a:extLst>
          </p:cNvPr>
          <p:cNvSpPr>
            <a:spLocks noGrp="1"/>
          </p:cNvSpPr>
          <p:nvPr/>
        </p:nvSpPr>
        <p:spPr>
          <a:xfrm>
            <a:off x="781050" y="1504950"/>
            <a:ext cx="57150" cy="1600200"/>
          </a:xfrm>
          <a:prstGeom prst="rect">
            <a:avLst/>
          </a:prstGeom>
          <a:solidFill>
            <a:srgbClr val="1769E0"/>
          </a:solidFill>
          <a:ln w="9525">
            <a:solidFill>
              <a:srgbClr val="1769E0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2E6228-D42F-4AB6-8591-BB2049F8F4A3}"/>
              </a:ext>
            </a:extLst>
          </p:cNvPr>
          <p:cNvSpPr>
            <a:spLocks noGrp="1"/>
          </p:cNvSpPr>
          <p:nvPr/>
        </p:nvSpPr>
        <p:spPr>
          <a:xfrm>
            <a:off x="9715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Technology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8C8D97A-8A7F-4A2F-9E00-761507F1FE03}"/>
              </a:ext>
            </a:extLst>
          </p:cNvPr>
          <p:cNvSpPr>
            <a:spLocks noGrp="1"/>
          </p:cNvSpPr>
          <p:nvPr/>
        </p:nvSpPr>
        <p:spPr>
          <a:xfrm>
            <a:off x="9715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is not deployed or scale-ready. Build path needs infra, SDLC, observability, and DWH integration.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AB3007C-1E73-4280-A958-574D182AED85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3DC2C8-0A1C-4E5B-BBD2-B41C1D31F2E4}"/>
              </a:ext>
            </a:extLst>
          </p:cNvPr>
          <p:cNvSpPr>
            <a:spLocks noGrp="1"/>
          </p:cNvSpPr>
          <p:nvPr/>
        </p:nvSpPr>
        <p:spPr>
          <a:xfrm>
            <a:off x="3562350" y="1504950"/>
            <a:ext cx="57150" cy="1600200"/>
          </a:xfrm>
          <a:prstGeom prst="rect">
            <a:avLst/>
          </a:prstGeom>
          <a:solidFill>
            <a:srgbClr val="F59E0B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ACDC07A-E4B9-47EE-87DF-34E52CA1597A}"/>
              </a:ext>
            </a:extLst>
          </p:cNvPr>
          <p:cNvSpPr>
            <a:spLocks noGrp="1"/>
          </p:cNvSpPr>
          <p:nvPr/>
        </p:nvSpPr>
        <p:spPr>
          <a:xfrm>
            <a:off x="37528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Operations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AF876-C7E5-49FB-B535-FAF22DC3B0B4}"/>
              </a:ext>
            </a:extLst>
          </p:cNvPr>
          <p:cNvSpPr>
            <a:spLocks noGrp="1"/>
          </p:cNvSpPr>
          <p:nvPr/>
        </p:nvSpPr>
        <p:spPr>
          <a:xfrm>
            <a:off x="37528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Manual interactions remain. The platform must define who approves, who supports, and who escalates.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1CFED553-5F1E-4805-89D9-FAA53DBBD641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CC031AF-3BCA-4604-95EF-1F523309178B}"/>
              </a:ext>
            </a:extLst>
          </p:cNvPr>
          <p:cNvSpPr>
            <a:spLocks noGrp="1"/>
          </p:cNvSpPr>
          <p:nvPr/>
        </p:nvSpPr>
        <p:spPr>
          <a:xfrm>
            <a:off x="6343650" y="1504950"/>
            <a:ext cx="57150" cy="1600200"/>
          </a:xfrm>
          <a:prstGeom prst="rect">
            <a:avLst/>
          </a:prstGeom>
          <a:solidFill>
            <a:srgbClr val="16A3B8"/>
          </a:solidFill>
          <a:ln w="9525">
            <a:solidFill>
              <a:srgbClr val="16A3B8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B0C17E-D703-4FD7-A6FB-8C1EE72F65A6}"/>
              </a:ext>
            </a:extLst>
          </p:cNvPr>
          <p:cNvSpPr>
            <a:spLocks noGrp="1"/>
          </p:cNvSpPr>
          <p:nvPr/>
        </p:nvSpPr>
        <p:spPr>
          <a:xfrm>
            <a:off x="65341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Scalability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DE2EB7F-FE83-43FA-839D-AE0C499A1AD9}"/>
              </a:ext>
            </a:extLst>
          </p:cNvPr>
          <p:cNvSpPr>
            <a:spLocks noGrp="1"/>
          </p:cNvSpPr>
          <p:nvPr/>
        </p:nvSpPr>
        <p:spPr>
          <a:xfrm>
            <a:off x="65341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Email-based process and ad hoc approvals will not scale across multiple LSPs without control automation.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1103788-02CF-4695-A2B9-66D48E44C1BA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2381250" cy="1600200"/>
          </a:xfrm>
          <a:prstGeom prst="roundRect">
            <a:avLst>
              <a:gd name="adj" fmla="val 5952"/>
            </a:avLst>
          </a:prstGeom>
          <a:solidFill>
            <a:srgbClr val="FFFFFF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7743BD9-F932-4C76-B4C3-8830731CF4A0}"/>
              </a:ext>
            </a:extLst>
          </p:cNvPr>
          <p:cNvSpPr>
            <a:spLocks noGrp="1"/>
          </p:cNvSpPr>
          <p:nvPr/>
        </p:nvSpPr>
        <p:spPr>
          <a:xfrm>
            <a:off x="9124950" y="1504950"/>
            <a:ext cx="57150" cy="1600200"/>
          </a:xfrm>
          <a:prstGeom prst="rect">
            <a:avLst/>
          </a:prstGeom>
          <a:solidFill>
            <a:srgbClr val="16A34A"/>
          </a:solidFill>
          <a:ln w="9525">
            <a:solidFill>
              <a:srgbClr val="16A34A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223C93-9A83-4934-8EC3-8F64E45112D6}"/>
              </a:ext>
            </a:extLst>
          </p:cNvPr>
          <p:cNvSpPr>
            <a:spLocks noGrp="1"/>
          </p:cNvSpPr>
          <p:nvPr/>
        </p:nvSpPr>
        <p:spPr>
          <a:xfrm>
            <a:off x="9315450" y="1676400"/>
            <a:ext cx="2000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725" b="1">
                <a:solidFill>
                  <a:srgbClr val="0B1F4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0B1F45"/>
                </a:solidFill>
                <a:latin typeface="Aptos"/>
                <a:ea typeface="Aptos"/>
                <a:cs typeface="Aptos"/>
              </a:rPr>
              <a:t>Business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552F31-E7D5-4DFA-AF6B-31646E7646C5}"/>
              </a:ext>
            </a:extLst>
          </p:cNvPr>
          <p:cNvSpPr>
            <a:spLocks noGrp="1"/>
          </p:cNvSpPr>
          <p:nvPr/>
        </p:nvSpPr>
        <p:spPr>
          <a:xfrm>
            <a:off x="9315450" y="2057400"/>
            <a:ext cx="200025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LSP motivation depends on lower effort, faster answers, better transparency, and clean integration.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A107348-7952-402D-A886-0BE46B7EABE8}"/>
              </a:ext>
            </a:extLst>
          </p:cNvPr>
          <p:cNvSpPr>
            <a:spLocks noGrp="1"/>
          </p:cNvSpPr>
          <p:nvPr/>
        </p:nvSpPr>
        <p:spPr>
          <a:xfrm>
            <a:off x="1162050" y="3905250"/>
            <a:ext cx="9144000" cy="552450"/>
          </a:xfrm>
          <a:prstGeom prst="rect">
            <a:avLst/>
          </a:prstGeom>
          <a:solidFill>
            <a:srgbClr val="0B1F45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F2C9302-4D21-449F-89F3-8C17E036F02D}"/>
              </a:ext>
            </a:extLst>
          </p:cNvPr>
          <p:cNvSpPr>
            <a:spLocks noGrp="1"/>
          </p:cNvSpPr>
          <p:nvPr/>
        </p:nvSpPr>
        <p:spPr>
          <a:xfrm>
            <a:off x="1257300" y="39814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Executive ask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3E608B-1946-45F4-B230-1FCAE0320FC7}"/>
              </a:ext>
            </a:extLst>
          </p:cNvPr>
          <p:cNvSpPr>
            <a:spLocks noGrp="1"/>
          </p:cNvSpPr>
          <p:nvPr/>
        </p:nvSpPr>
        <p:spPr>
          <a:xfrm>
            <a:off x="43053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3D0BF00-335E-4697-89B1-493A5A115C55}"/>
              </a:ext>
            </a:extLst>
          </p:cNvPr>
          <p:cNvSpPr>
            <a:spLocks noGrp="1"/>
          </p:cNvSpPr>
          <p:nvPr/>
        </p:nvSpPr>
        <p:spPr>
          <a:xfrm>
            <a:off x="4400550" y="39814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 required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B922FEE-708B-4027-835E-A7C96B2357C3}"/>
              </a:ext>
            </a:extLst>
          </p:cNvPr>
          <p:cNvSpPr>
            <a:spLocks noGrp="1"/>
          </p:cNvSpPr>
          <p:nvPr/>
        </p:nvSpPr>
        <p:spPr>
          <a:xfrm>
            <a:off x="7924800" y="39052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ACDBBFF-7CB1-4EDC-8937-E179E8074093}"/>
              </a:ext>
            </a:extLst>
          </p:cNvPr>
          <p:cNvSpPr>
            <a:spLocks noGrp="1"/>
          </p:cNvSpPr>
          <p:nvPr/>
        </p:nvSpPr>
        <p:spPr>
          <a:xfrm>
            <a:off x="8020050" y="39814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Owner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164041C-AAB0-438F-9A64-2FDE3D2A488D}"/>
              </a:ext>
            </a:extLst>
          </p:cNvPr>
          <p:cNvSpPr>
            <a:spLocks noGrp="1"/>
          </p:cNvSpPr>
          <p:nvPr/>
        </p:nvSpPr>
        <p:spPr>
          <a:xfrm>
            <a:off x="1162050" y="44577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A352E81-264E-41B6-BEA5-0A54A79A4776}"/>
              </a:ext>
            </a:extLst>
          </p:cNvPr>
          <p:cNvSpPr>
            <a:spLocks noGrp="1"/>
          </p:cNvSpPr>
          <p:nvPr/>
        </p:nvSpPr>
        <p:spPr>
          <a:xfrm>
            <a:off x="1257300" y="45339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Build vs buy assessment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FE4AE0C-202B-418A-83F1-3DB2D7074124}"/>
              </a:ext>
            </a:extLst>
          </p:cNvPr>
          <p:cNvSpPr>
            <a:spLocks noGrp="1"/>
          </p:cNvSpPr>
          <p:nvPr/>
        </p:nvSpPr>
        <p:spPr>
          <a:xfrm>
            <a:off x="43053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81F2D6-10CF-42E0-AF6A-64B73F5D0557}"/>
              </a:ext>
            </a:extLst>
          </p:cNvPr>
          <p:cNvSpPr>
            <a:spLocks noGrp="1"/>
          </p:cNvSpPr>
          <p:nvPr/>
        </p:nvSpPr>
        <p:spPr>
          <a:xfrm>
            <a:off x="4400550" y="45339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Approve criteria, timeline, and vendor shortlist.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5BB128C-688D-4D44-A189-D5BC60AFC112}"/>
              </a:ext>
            </a:extLst>
          </p:cNvPr>
          <p:cNvSpPr>
            <a:spLocks noGrp="1"/>
          </p:cNvSpPr>
          <p:nvPr/>
        </p:nvSpPr>
        <p:spPr>
          <a:xfrm>
            <a:off x="7924800" y="44577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908B37B-A433-403E-9857-07527D3CD05D}"/>
              </a:ext>
            </a:extLst>
          </p:cNvPr>
          <p:cNvSpPr>
            <a:spLocks noGrp="1"/>
          </p:cNvSpPr>
          <p:nvPr/>
        </p:nvSpPr>
        <p:spPr>
          <a:xfrm>
            <a:off x="8020050" y="45339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Leadership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BC797F2-5DFB-4534-BFCF-BE3F2902A29C}"/>
              </a:ext>
            </a:extLst>
          </p:cNvPr>
          <p:cNvSpPr>
            <a:spLocks noGrp="1"/>
          </p:cNvSpPr>
          <p:nvPr/>
        </p:nvSpPr>
        <p:spPr>
          <a:xfrm>
            <a:off x="1162050" y="5010150"/>
            <a:ext cx="9144000" cy="552450"/>
          </a:xfrm>
          <a:prstGeom prst="rect">
            <a:avLst/>
          </a:prstGeom>
          <a:solidFill>
            <a:srgbClr val="F7FB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588ACE1D-9E5C-46E9-B9DE-DA7AE5E01A15}"/>
              </a:ext>
            </a:extLst>
          </p:cNvPr>
          <p:cNvSpPr>
            <a:spLocks noGrp="1"/>
          </p:cNvSpPr>
          <p:nvPr/>
        </p:nvSpPr>
        <p:spPr>
          <a:xfrm>
            <a:off x="1257300" y="508635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Prototype path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729211E-42CA-441F-AD90-99C15D868223}"/>
              </a:ext>
            </a:extLst>
          </p:cNvPr>
          <p:cNvSpPr>
            <a:spLocks noGrp="1"/>
          </p:cNvSpPr>
          <p:nvPr/>
        </p:nvSpPr>
        <p:spPr>
          <a:xfrm>
            <a:off x="43053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2CB7BA0-1826-4F78-B448-61C232D935C6}"/>
              </a:ext>
            </a:extLst>
          </p:cNvPr>
          <p:cNvSpPr>
            <a:spLocks noGrp="1"/>
          </p:cNvSpPr>
          <p:nvPr/>
        </p:nvSpPr>
        <p:spPr>
          <a:xfrm>
            <a:off x="4400550" y="508635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Decide whether prototype becomes MVP or remains learning artifact.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BC93D3D-A5A1-41FA-ABBB-2730F0EEC778}"/>
              </a:ext>
            </a:extLst>
          </p:cNvPr>
          <p:cNvSpPr>
            <a:spLocks noGrp="1"/>
          </p:cNvSpPr>
          <p:nvPr/>
        </p:nvSpPr>
        <p:spPr>
          <a:xfrm>
            <a:off x="7924800" y="501015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F4C7F062-0863-4271-A186-EE58AEDEB66C}"/>
              </a:ext>
            </a:extLst>
          </p:cNvPr>
          <p:cNvSpPr>
            <a:spLocks noGrp="1"/>
          </p:cNvSpPr>
          <p:nvPr/>
        </p:nvSpPr>
        <p:spPr>
          <a:xfrm>
            <a:off x="8020050" y="508635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Product + Engineering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6E422233-EE35-4F24-AA80-3672B0B903EC}"/>
              </a:ext>
            </a:extLst>
          </p:cNvPr>
          <p:cNvSpPr>
            <a:spLocks noGrp="1"/>
          </p:cNvSpPr>
          <p:nvPr/>
        </p:nvSpPr>
        <p:spPr>
          <a:xfrm>
            <a:off x="1162050" y="5562600"/>
            <a:ext cx="9144000" cy="552450"/>
          </a:xfrm>
          <a:prstGeom prst="rect">
            <a:avLst/>
          </a:prstGeom>
          <a:solidFill>
            <a:srgbClr val="FFFF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D72E6EB9-57A3-4777-A6AD-A1169AA4B2D4}"/>
              </a:ext>
            </a:extLst>
          </p:cNvPr>
          <p:cNvSpPr>
            <a:spLocks noGrp="1"/>
          </p:cNvSpPr>
          <p:nvPr/>
        </p:nvSpPr>
        <p:spPr>
          <a:xfrm>
            <a:off x="1257300" y="5638800"/>
            <a:ext cx="2952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324D"/>
                </a:solidFill>
                <a:latin typeface="Aptos"/>
                <a:ea typeface="Aptos"/>
                <a:cs typeface="Aptos"/>
              </a:rPr>
              <a:t>Operating model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E3953C1-D772-4D31-A7EB-EFC953B1C4CC}"/>
              </a:ext>
            </a:extLst>
          </p:cNvPr>
          <p:cNvSpPr>
            <a:spLocks noGrp="1"/>
          </p:cNvSpPr>
          <p:nvPr/>
        </p:nvSpPr>
        <p:spPr>
          <a:xfrm>
            <a:off x="43053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B05FFE4-0C3C-442D-A6FA-B0BCADB5DA96}"/>
              </a:ext>
            </a:extLst>
          </p:cNvPr>
          <p:cNvSpPr>
            <a:spLocks noGrp="1"/>
          </p:cNvSpPr>
          <p:nvPr/>
        </p:nvSpPr>
        <p:spPr>
          <a:xfrm>
            <a:off x="4400550" y="5638800"/>
            <a:ext cx="3429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Confirm RACI, manual approvals, support, and security gates.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941E08-0734-4832-ABF3-71958F1A5061}"/>
              </a:ext>
            </a:extLst>
          </p:cNvPr>
          <p:cNvSpPr>
            <a:spLocks noGrp="1"/>
          </p:cNvSpPr>
          <p:nvPr/>
        </p:nvSpPr>
        <p:spPr>
          <a:xfrm>
            <a:off x="7924800" y="5562600"/>
            <a:ext cx="9525" cy="552450"/>
          </a:xfrm>
          <a:prstGeom prst="rect">
            <a:avLst/>
          </a:prstGeom>
          <a:solidFill>
            <a:srgbClr val="B9D7FF"/>
          </a:solidFill>
          <a:ln w="9525">
            <a:solidFill>
              <a:srgbClr val="B9D7FF"/>
            </a:solidFill>
            <a:prstDash val="solid"/>
          </a:ln>
        </p:spPr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87C78AE-CB8C-4320-9F64-147ACFBEA5CE}"/>
              </a:ext>
            </a:extLst>
          </p:cNvPr>
          <p:cNvSpPr>
            <a:spLocks noGrp="1"/>
          </p:cNvSpPr>
          <p:nvPr/>
        </p:nvSpPr>
        <p:spPr>
          <a:xfrm>
            <a:off x="8020050" y="5638800"/>
            <a:ext cx="2190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0">
                <a:solidFill>
                  <a:srgbClr val="17324D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324D"/>
                </a:solidFill>
                <a:latin typeface="Aptos"/>
                <a:ea typeface="Aptos"/>
                <a:cs typeface="Aptos"/>
              </a:rPr>
              <a:t>Ops + Governance</a:t>
            </a:r>
          </a:p>
        </p:txBody>
      </p:sp>
    </p:spTree>
    <p:extLst>
      <p:ext uri="{BB962C8B-B14F-4D97-AF65-F5344CB8AC3E}">
        <p14:creationId xmlns:p14="http://schemas.microsoft.com/office/powerpoint/2010/main" val="169717204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1683</Words>
  <Application>Microsoft Office PowerPoint</Application>
  <DocSecurity>0</DocSecurity>
  <PresentationFormat>Widescreen</PresentationFormat>
  <Paragraphs>292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Siddhant</cp:lastModifiedBy>
  <cp:revision>1</cp:revision>
  <dcterms:created xsi:type="dcterms:W3CDTF">2026-06-23T08:38:28Z</dcterms:created>
  <dcterms:modified xsi:type="dcterms:W3CDTF">2026-06-23T10:39:36Z</dcterms:modified>
</cp:coreProperties>
</file>