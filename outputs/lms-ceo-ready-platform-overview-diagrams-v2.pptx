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8a8efcca244d2" /><Relationship Type="http://schemas.openxmlformats.org/officeDocument/2006/relationships/extended-properties" Target="/docProps/app.xml" Id="Rd78445eead6042a5" /><Relationship Type="http://schemas.openxmlformats.org/officeDocument/2006/relationships/officeDocument" Target="/ppt/presentation.xml" Id="Re6b1df2fdb64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46814bb544dd4"/>
  </p:sldMasterIdLst>
  <p:notesMasterIdLst>
    <p:notesMasterId xmlns:r="http://schemas.openxmlformats.org/officeDocument/2006/relationships" r:id="R0bb96b9e549743a0"/>
  </p:notesMasterIdLst>
  <p:sldIdLst>
    <p:sldId xmlns:r="http://schemas.openxmlformats.org/officeDocument/2006/relationships" id="256" r:id="R8aa5a162e3aa4608"/>
    <p:sldId xmlns:r="http://schemas.openxmlformats.org/officeDocument/2006/relationships" id="257" r:id="R8ec7a936f31f47a6"/>
    <p:sldId xmlns:r="http://schemas.openxmlformats.org/officeDocument/2006/relationships" id="258" r:id="R1a50ef88d6e84b13"/>
    <p:sldId xmlns:r="http://schemas.openxmlformats.org/officeDocument/2006/relationships" id="259" r:id="R90a28f64339e4c21"/>
    <p:sldId xmlns:r="http://schemas.openxmlformats.org/officeDocument/2006/relationships" id="260" r:id="R680f8b0e33e342e2"/>
    <p:sldId xmlns:r="http://schemas.openxmlformats.org/officeDocument/2006/relationships" id="261" r:id="R3f6c940c7dd44fd5"/>
    <p:sldId xmlns:r="http://schemas.openxmlformats.org/officeDocument/2006/relationships" id="262" r:id="Re2ed7087bc1b461e"/>
    <p:sldId xmlns:r="http://schemas.openxmlformats.org/officeDocument/2006/relationships" id="263" r:id="Ra5d7da01d6e4463d"/>
    <p:sldId xmlns:r="http://schemas.openxmlformats.org/officeDocument/2006/relationships" id="264" r:id="Re69f748222b34df7"/>
    <p:sldId xmlns:r="http://schemas.openxmlformats.org/officeDocument/2006/relationships" id="265" r:id="R0f4e1e265f9340b0"/>
    <p:sldId xmlns:r="http://schemas.openxmlformats.org/officeDocument/2006/relationships" id="266" r:id="R382bd1ebea444d60"/>
    <p:sldId xmlns:r="http://schemas.openxmlformats.org/officeDocument/2006/relationships" id="267" r:id="R3eb924dd5b7d4a39"/>
    <p:sldId xmlns:r="http://schemas.openxmlformats.org/officeDocument/2006/relationships" id="268" r:id="R0707ed3ba8c24814"/>
    <p:sldId xmlns:r="http://schemas.openxmlformats.org/officeDocument/2006/relationships" id="269" r:id="R9b7ce56fbc2642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282b3fdcb24fe2" /><Relationship Type="http://schemas.openxmlformats.org/officeDocument/2006/relationships/slideMaster" Target="/ppt/slideMasters/slideMaster1.xml" Id="Rf2c46814bb544dd4" /><Relationship Type="http://schemas.openxmlformats.org/officeDocument/2006/relationships/notesMaster" Target="/ppt/notesMasters/notesMaster1.xml" Id="R0bb96b9e549743a0" /><Relationship Type="http://schemas.openxmlformats.org/officeDocument/2006/relationships/presProps" Target="/ppt/presProps.xml" Id="R285aead6a2414622" /><Relationship Type="http://schemas.openxmlformats.org/officeDocument/2006/relationships/tableStyles" Target="/ppt/tableStyles.xml" Id="Rd95bf5b3dc234279" /><Relationship Type="http://schemas.openxmlformats.org/officeDocument/2006/relationships/slide" Target="/ppt/slides/slide1.xml" Id="R8aa5a162e3aa4608" /><Relationship Type="http://schemas.openxmlformats.org/officeDocument/2006/relationships/slide" Target="/ppt/slides/slide2.xml" Id="R8ec7a936f31f47a6" /><Relationship Type="http://schemas.openxmlformats.org/officeDocument/2006/relationships/slide" Target="/ppt/slides/slide3.xml" Id="R1a50ef88d6e84b13" /><Relationship Type="http://schemas.openxmlformats.org/officeDocument/2006/relationships/slide" Target="/ppt/slides/slide4.xml" Id="R90a28f64339e4c21" /><Relationship Type="http://schemas.openxmlformats.org/officeDocument/2006/relationships/slide" Target="/ppt/slides/slide5.xml" Id="R680f8b0e33e342e2" /><Relationship Type="http://schemas.openxmlformats.org/officeDocument/2006/relationships/slide" Target="/ppt/slides/slide6.xml" Id="R3f6c940c7dd44fd5" /><Relationship Type="http://schemas.openxmlformats.org/officeDocument/2006/relationships/slide" Target="/ppt/slides/slide7.xml" Id="Re2ed7087bc1b461e" /><Relationship Type="http://schemas.openxmlformats.org/officeDocument/2006/relationships/slide" Target="/ppt/slides/slide8.xml" Id="Ra5d7da01d6e4463d" /><Relationship Type="http://schemas.openxmlformats.org/officeDocument/2006/relationships/slide" Target="/ppt/slides/slide9.xml" Id="Re69f748222b34df7" /><Relationship Type="http://schemas.openxmlformats.org/officeDocument/2006/relationships/slide" Target="/ppt/slides/slide10.xml" Id="R0f4e1e265f9340b0" /><Relationship Type="http://schemas.openxmlformats.org/officeDocument/2006/relationships/slide" Target="/ppt/slides/slide11.xml" Id="R382bd1ebea444d60" /><Relationship Type="http://schemas.openxmlformats.org/officeDocument/2006/relationships/slide" Target="/ppt/slides/slide12.xml" Id="R3eb924dd5b7d4a39" /><Relationship Type="http://schemas.openxmlformats.org/officeDocument/2006/relationships/slide" Target="/ppt/slides/slide13.xml" Id="R0707ed3ba8c24814" /><Relationship Type="http://schemas.openxmlformats.org/officeDocument/2006/relationships/slide" Target="/ppt/slides/slide14.xml" Id="R9b7ce56fbc2642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cc72c876a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f2899a21440e8" /><Relationship Type="http://schemas.openxmlformats.org/officeDocument/2006/relationships/notesMaster" Target="/ppt/notesMasters/notesMaster1.xml" Id="R6bb08c0bb05642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2b79b77a944ce3" /><Relationship Type="http://schemas.openxmlformats.org/officeDocument/2006/relationships/notesMaster" Target="/ppt/notesMasters/notesMaster1.xml" Id="R40e9b9360725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8e24726d954cc2" /><Relationship Type="http://schemas.openxmlformats.org/officeDocument/2006/relationships/notesMaster" Target="/ppt/notesMasters/notesMaster1.xml" Id="R3f3ed85d8b4f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8f43a0e841433c" /><Relationship Type="http://schemas.openxmlformats.org/officeDocument/2006/relationships/notesMaster" Target="/ppt/notesMasters/notesMaster1.xml" Id="Rb8f3e18f425c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eca977af44049" /><Relationship Type="http://schemas.openxmlformats.org/officeDocument/2006/relationships/notesMaster" Target="/ppt/notesMasters/notesMaster1.xml" Id="R53ecfc81f39a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4985e5bab44bb" /><Relationship Type="http://schemas.openxmlformats.org/officeDocument/2006/relationships/notesMaster" Target="/ppt/notesMasters/notesMaster1.xml" Id="Radf5c0bed8534b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dfd55a62c4afd" /><Relationship Type="http://schemas.openxmlformats.org/officeDocument/2006/relationships/notesMaster" Target="/ppt/notesMasters/notesMaster1.xml" Id="R83f7f204afd14a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f1420e79404974" /><Relationship Type="http://schemas.openxmlformats.org/officeDocument/2006/relationships/notesMaster" Target="/ppt/notesMasters/notesMaster1.xml" Id="R2780bbb7f7b642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7ff5d8e79b4603" /><Relationship Type="http://schemas.openxmlformats.org/officeDocument/2006/relationships/notesMaster" Target="/ppt/notesMasters/notesMaster1.xml" Id="R929214bc538d4a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250fc257a49d0" /><Relationship Type="http://schemas.openxmlformats.org/officeDocument/2006/relationships/notesMaster" Target="/ppt/notesMasters/notesMaster1.xml" Id="R4d167fa6183f40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743d697f5c4e75" /><Relationship Type="http://schemas.openxmlformats.org/officeDocument/2006/relationships/notesMaster" Target="/ppt/notesMasters/notesMaster1.xml" Id="Rb87b70e92e964f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e9502b8bff45a6" /><Relationship Type="http://schemas.openxmlformats.org/officeDocument/2006/relationships/notesMaster" Target="/ppt/notesMasters/notesMaster1.xml" Id="Ra3a48564ab8440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a71dae300b4165" /><Relationship Type="http://schemas.openxmlformats.org/officeDocument/2006/relationships/notesMaster" Target="/ppt/notesMasters/notesMaster1.xml" Id="Rc70e423798fd47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10c47503fa449b" /><Relationship Type="http://schemas.openxmlformats.org/officeDocument/2006/relationships/notesMaster" Target="/ppt/notesMasters/notesMaster1.xml" Id="R8fa2e0cd734047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c0ba0278f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07f243d4b49eb" /><Relationship Type="http://schemas.openxmlformats.org/officeDocument/2006/relationships/slideLayout" Target="/ppt/slideLayouts/slideLayout1.xml" Id="R7dd94628876743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94628876743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5d3e31d564cbb" /><Relationship Type="http://schemas.openxmlformats.org/officeDocument/2006/relationships/notesSlide" Target="/ppt/notesSlides/notesSlide1.xml" Id="R2fa55fc3fd2942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0e87716014152" /><Relationship Type="http://schemas.openxmlformats.org/officeDocument/2006/relationships/notesSlide" Target="/ppt/notesSlides/notesSlide2.xml" Id="R6fd0241489d446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c549da2f424e" /><Relationship Type="http://schemas.openxmlformats.org/officeDocument/2006/relationships/notesSlide" Target="/ppt/notesSlides/notesSlide3.xml" Id="R9a35379c2aa043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65fdeb9ec4fb8" /><Relationship Type="http://schemas.openxmlformats.org/officeDocument/2006/relationships/notesSlide" Target="/ppt/notesSlides/notesSlide4.xml" Id="Rf869b2007003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5c0f1696c4d10" /><Relationship Type="http://schemas.openxmlformats.org/officeDocument/2006/relationships/notesSlide" Target="/ppt/notesSlides/notesSlide5.xml" Id="R84f87615c8f6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a214ce82649aa" /><Relationship Type="http://schemas.openxmlformats.org/officeDocument/2006/relationships/notesSlide" Target="/ppt/notesSlides/notesSlide6.xml" Id="R62f2bcd25563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01606e15c4421" /><Relationship Type="http://schemas.openxmlformats.org/officeDocument/2006/relationships/notesSlide" Target="/ppt/notesSlides/notesSlide7.xml" Id="R79b9577c6cf241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7dbb147cc468c" /><Relationship Type="http://schemas.openxmlformats.org/officeDocument/2006/relationships/notesSlide" Target="/ppt/notesSlides/notesSlide8.xml" Id="R183b37adc14945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f48bbfe6049b4" /><Relationship Type="http://schemas.openxmlformats.org/officeDocument/2006/relationships/notesSlide" Target="/ppt/notesSlides/notesSlide9.xml" Id="R81421a2f03d743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df4211b84e0f" /><Relationship Type="http://schemas.openxmlformats.org/officeDocument/2006/relationships/notesSlide" Target="/ppt/notesSlides/notesSlide10.xml" Id="R56e4fe16ac214e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82b271064886" /><Relationship Type="http://schemas.openxmlformats.org/officeDocument/2006/relationships/notesSlide" Target="/ppt/notesSlides/notesSlide11.xml" Id="Rbc3cf8e6387a43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9f97dae34472" /><Relationship Type="http://schemas.openxmlformats.org/officeDocument/2006/relationships/notesSlide" Target="/ppt/notesSlides/notesSlide12.xml" Id="Rad4ff1e59d1446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26e7151ae408c" /><Relationship Type="http://schemas.openxmlformats.org/officeDocument/2006/relationships/notesSlide" Target="/ppt/notesSlides/notesSlide13.xml" Id="R81650c3cc36d4a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810775ccf4c9f" /><Relationship Type="http://schemas.openxmlformats.org/officeDocument/2006/relationships/notesSlide" Target="/ppt/notesSlides/notesSlide14.xml" Id="R6bcb0c3b8ba845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E1D7D-3710-4663-8112-3A8119C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7AE3D-9412-4A20-A083-9C9F9CC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75B"/>
          </a:solidFill>
          <a:ln xmlns:a="http://schemas.openxmlformats.org/drawingml/2006/main" w="0">
            <a:solidFill>
              <a:srgbClr val="0927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FCD7-DC69-4854-A2F2-AEB047D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CF7A4-2DA7-406E-B554-F6AE1FD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8700"/>
            <a:ext cx="20574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805FA-1F06-43A0-8194-C605B15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3825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D8F9-8C27-4067-AC40-A4F8383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47800"/>
            <a:ext cx="1600200" cy="160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44B84-95F3-47DB-8751-6F3F312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57350"/>
            <a:ext cx="13716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A4604-04B3-4876-9558-6B37379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Bhawana LMS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2E1A1-7948-48F3-B893-404C454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CEO-ready platform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063C-1C97-404B-9923-ED3BE49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Architecture, deployment, operating model, security, roadmap, and future challenges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5DC7C-0A3A-4664-B1A6-A4FBC60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34156-7F90-4FC5-851B-16FC328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65A9C-A4C2-45FC-B47C-AD7ECF92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67417-A138-4C54-B979-A77626EF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D698C-4833-4582-ADCA-138E9B1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B0F5D-2031-489C-AEBE-13C7870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4A94D-FAC3-4072-9ED8-3FAE930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72CC2-41F7-4E16-B71D-99CAB42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Disburse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D1EB1-B91D-4AFB-BAAB-C081951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A4061-5135-452E-9992-4415927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3B9BD-BC56-4980-9452-BC23425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05611-7199-4BA2-AD76-65C9814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EB169-86A4-4613-9CEA-568D674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F69C0-07F7-4A7F-8EAA-5A5B4D9D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4BC84-F19B-4F70-B292-B1CA6C8C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366F"/>
          </a:solidFill>
          <a:ln xmlns:a="http://schemas.openxmlformats.org/drawingml/2006/main" w="9525">
            <a:solidFill>
              <a:srgbClr val="2D64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BC853-F2A9-4EBE-85E1-714C898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5231D-B03C-4BDD-B245-AF42625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decision frame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C63156-BF94-47D5-BBF5-44A032E3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Strong product foundation. Scale readiness and money-path hardening are the gates before live volume.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AC892-53B7-4997-B732-F81051A8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from repository architecture, security, roadmap, and graphify sources. As of 2026-06-19.</a:t>
            </a:r>
          </a:p>
        </p:txBody>
      </p:sp>
    </p:spTree>
    <p:extLst>
      <p:ext uri="{BB962C8B-B14F-4D97-AF65-F5344CB8AC3E}">
        <p14:creationId xmlns:p14="http://schemas.microsoft.com/office/powerpoint/2010/main" val="119990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2B061-49CC-491D-846D-ED4A00A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07F9-83A4-45F2-A25D-F9A794D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What leadership needs to know before production scale-up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E2A85-9DC6-4E51-9A1A-7D0173B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109E6-2FA2-4E42-B8EB-7B7AF70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CB080-E394-4E3C-8C85-FD8CBEC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F56B4-184C-4547-B280-EC71A4C2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24C94-7CFC-4E83-858B-296A4BFB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C5BE-3797-4944-B6C1-30AE6A33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E9316-5AFE-4112-9C84-75CF484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67824-C533-4931-9009-E4528A6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Platform 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84077-5F36-489C-9D40-178787A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Multi-tenant lending platform where LSP partners originate by API and internal teams control the loan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60A43-8F14-47B2-A0A7-66970A5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2F0B7-87E6-41FD-A1A4-3C1676CA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A899B-8E7F-437A-9B9B-BC995EE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1DD41-A9D8-4AB1-951D-D3F3DC1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1936F-D592-4B31-93B8-7350BC86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3F7C3-5766-4835-8960-342587C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monolith, React portal, PostgreSQL, Redis, S3 storage, webhooks, and async reporting.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63057-5ED8-4156-A789-33BC141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9FC9C-FA6D-4784-ACCD-9071D2AF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87DD6-2D19-4308-BEB5-CD61CB5C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C260F-122B-4763-87DA-FC7BEBFF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F188C-A246-4233-9108-9122038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EB0C8-5049-4174-8D63-B90CA4E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1M+/month, and 10+ LSP tenants. Current high-volume readiness is about 32%.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01733-5743-4E49-B43E-8DB4362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7675D-ABC0-4E56-961A-EE9A3E5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75D2D-FA53-4508-B6A3-F7FE1AC2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B1A73-CE9C-4348-AA2F-EF8A7F76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CAD2D-D3EB-471C-9C62-A07B0C8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Go-live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D8E06-2C6C-4AC1-A05A-2347A205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flows exist, but real-bank volume needs money-path safety, observability, and performance isolation first.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C5B8D2-1B27-4B15-9AA1-68AC51F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D4E2C-738D-4F6E-9DD0-8C9559A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47A33-24CF-4270-8D7C-7E09E99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CEO-level 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4AA7B9-2FAB-4D9F-B758-45FFEE95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This is not a rebuild. It is a gated hardening program: protect funds movement, prove operations, then ramp partners.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54D65-4C5B-4BE3-8F78-CEBC3F3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945202-B2C3-4CAD-8343-E12DF89A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51BB6A-6C26-454E-835F-75531B1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Recommended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65BDA9-1966-4F5C-988B-2DBE386B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Endorse P0 as the hard gate before live volume and confirm cloud/region plus recovery targets.</a:t>
            </a:r>
          </a:p>
        </p:txBody>
      </p:sp>
    </p:spTree>
    <p:extLst>
      <p:ext uri="{BB962C8B-B14F-4D97-AF65-F5344CB8AC3E}">
        <p14:creationId xmlns:p14="http://schemas.microsoft.com/office/powerpoint/2010/main" val="559407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E5B24-7D18-425E-940B-29C1DB5C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Architecture Diagram: Platform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BDA5B-AFE8-4788-AE66-1C30702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LSP, Bhawana service, data stores, bank, reporting, and outbound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77E0C-3F7C-44D5-860E-A8FD9558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9B1D2-1BDC-41F7-BDBC-D26D3C7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24B55-C618-4642-A387-9C8943C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B0DFA-4E99-4D84-ABB5-45C86FC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90650"/>
            <a:ext cx="7334250" cy="40386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6EF29-CE0E-4680-9738-4533078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9065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08334-E41C-4686-9451-683F4DC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457325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Bhawana LMS Platform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DEC8E-8249-499E-B4FE-80443CA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2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D5FD9-C7B2-4442-9890-BD106A08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Ops / Admin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BBE0-3062-405C-849F-EF102D8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2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277CB-DDBF-4084-940D-B7C84775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Systems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API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58228-EC19-4FE3-AC5E-72EDA20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A6245-8A80-4A6B-AFAD-5CD2C8BD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526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React SPA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Ops + LSP triage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65805-E60A-4CFD-8390-E02ABF3F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543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1F42C-D370-443E-9E21-88DFAE88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73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Spring Boot API</a:t>
            </a:r>
          </a:p>
          <a:p xmlns:a="http://schemas.openxmlformats.org/drawingml/2006/main">
            <a:pPr algn="ctr">
              <a:defRPr sz="773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Auth, RBAC, Tenant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316A4-F2E0-4BE6-BB8F-9779ACC8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1543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E6CCF-09AF-46F5-A655-E8B6A37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957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Worker Tier</a:t>
            </a:r>
          </a:p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Disbursement, Webhooks,</a:t>
            </a:r>
          </a:p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Reports, Alerts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FAB84-726F-478A-AB21-E56621DC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9CD23-62B0-4CBF-BD4D-31F41E5F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76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RLS + queues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71301-EFD3-4EFB-A817-00B45C3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123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A064D-03B1-42C2-A004-449D86E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Redis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Rate limits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A873E-EFF0-4640-A150-248AAF5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448DC-2963-45A5-87FF-A3533F3F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Object Storage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Docs +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2736C-EFA7-4D0E-8886-A93D4BF8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112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169AD-4023-4B4B-8E64-D02E7AA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DWH / MIS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 views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C13BB-E31F-4442-8770-76C7407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104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B218B-F163-4D30-8EBB-56EACCA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Explorer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15 streams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0F68C-9D4C-47A4-B376-69440D9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F3154-21EA-4FD7-AC1B-31BEF79C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Webhook Outbox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Signed delivery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FCBD2-B53E-40BC-A77C-E21DE50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43050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C6FC53-A4E4-4A5D-A03D-BD90B38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1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ICICI Bank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D6D2B-0413-4959-A92B-F80E1FD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10776-7570-4FA5-ADE6-59C4F97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5282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Webhooks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Status events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3B1772-7875-44F1-8AEB-05B640E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75887A-F523-491A-AB22-C394E8C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00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SMTP / Email</a:t>
            </a:r>
          </a:p>
          <a:p xmlns:a="http://schemas.openxmlformats.org/drawingml/2006/main">
            <a:pPr algn="ctr">
              <a:defRPr sz="788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 alerts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34AF3-4CC1-4217-AA19-491E1AA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4790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E4CE41-9BEF-440E-918B-D5A5EF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DA91CB-DA06-49D3-98EA-952250A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4F6223-6E17-4F98-BDF8-5BD1CE3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200046-ECAC-4146-8678-C6F9BE9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203AFA-F3B3-4ED8-9B0B-1814A67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89AC69-A4F4-4D34-8B59-49EFD1A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A7512-7571-48FF-9BB8-23B29AA5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670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1F45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1B89DE-EBC4-4C29-83D3-B13DFE46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87C3C5-FF50-4C9F-9369-A5873F96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338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69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416487-7F2F-417A-BC07-69443F78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B18C0E-F9C8-4B11-8633-50DBF57E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A263D7-7E7B-4884-B09C-E42563C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2D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60036B-CFD5-47F3-B961-C1D62EE2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REST + JWT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21AD57-72EC-4851-AE2B-85350A95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383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HTTPS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7C9BE-3A9A-4FB4-8FF3-22561A3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57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Private data plane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D8B00A-DB1C-46FF-A37B-88ABDEF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38800"/>
            <a:ext cx="2266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D2EDD0-4F5C-43D1-BD32-24CDB17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Tenant scope + audit on every request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73136C-4EF8-48C0-96E0-17CEB223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38800"/>
            <a:ext cx="3105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AFC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3252FA-F1A4-47BE-9E8E-F82EA6A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959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Documents and MIS are stored, not emailed as raw files</a:t>
            </a:r>
          </a:p>
        </p:txBody>
      </p:sp>
    </p:spTree>
    <p:extLst>
      <p:ext uri="{BB962C8B-B14F-4D97-AF65-F5344CB8AC3E}">
        <p14:creationId xmlns:p14="http://schemas.microsoft.com/office/powerpoint/2010/main" val="1476820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0FA31-7AAC-49AB-B40F-4961646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Data Flow: Loan Origination to Repayment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58C85-F844-4A3F-835A-F3390F5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Swimlane view of LSP API calls, LMS processing, disbursement, reporting, and repayment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150F7-1EC2-4B8A-82FD-2A4CF4EA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98D82-0455-4F4E-A809-93A9703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FD871-50D6-4872-AF86-5B66AEA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8C763-2C8A-4CD6-9D5A-E44F1195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926DF-4A90-4DF3-9BC1-8E92642C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5F1E9-9700-4DC6-A02B-3962A05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/ Partner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E652-B550-484B-A05E-F74C0F0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Bhawana LMS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3D0D-B030-4EC8-8EB1-7C00C40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1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7DC3F-976C-4E4B-AFA3-6680DEC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9065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1F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ABE16-951E-45A5-94CB-2BDEA87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573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calls from LSP and callback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34C63-0E91-4833-B80D-DE467E30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573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processing, approvals, storage, and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CF053-B19E-4806-B274-31680F6E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EED44-C6BD-43B4-9F00-90894F73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 Login / Token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JWT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244AD-08C0-4E8D-989E-55F9E0C6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420CD-FEFC-47D7-8CC2-1035D233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Auth + Tenant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RBAC, IP allowlist,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rate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5C952-4524-4FD5-823E-100B5EA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47993-1EE0-4D73-A804-BD8BF4AF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60DA2-12A8-41CB-AA9B-F19304C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6B2A5-A862-4FBA-9876-B60DABD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 Create Loan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borrower + loan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802EF-4A70-46CA-9AFD-E23930D6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040C-21AE-4433-BB45-8D2AEFE6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Borrower Check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PAN dedupe +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one-open-loan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A5655-0882-4029-B34F-60099EE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E9BE9-491D-4B70-8706-A3477FF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149FE-E857-48AC-84B5-07FC034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4B335-0849-4A2C-A605-2D3EE02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 Upload Docs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KYC files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29110-A06E-47D5-B600-D585130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D858A-36BC-47F8-93A7-61C8D47C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Document Review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checklist +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risk flags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26422-BA14-41A1-9A27-2D15AD0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46B6E-7B46-4B18-BA4F-2BADA79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36E940-3DE8-41B5-AC29-CE42644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8FD95A-1618-4EC5-B43B-B8924C4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 Status / Approval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poll or webhook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71F74E-0C4F-444D-B76E-DAF80AE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DC8F4-6D5F-4F66-A890-9E53EAD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Queue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/ rule-based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67FE6-017A-4BC4-B7D8-47F9578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A0CEB-4B9E-40C7-AB20-4D8F1A8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56E9D7-EBA6-49C3-A8E5-EC45E022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F95676-0539-407D-9A51-1260D6F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 Disbursement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account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769183-66F4-4141-9F4A-41BE879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F21CC4-734C-4528-8EE3-6D797316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Awaiting Disbursal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worker claims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request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41E387-AEFA-4126-B532-607C922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E4DBA3-5CE3-49B0-8781-FFA75D4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A31311-CFE4-4C1F-A618-7BBEBC3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067BC1-E411-4D90-A5C0-E96920D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6 Repayment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schedule + collection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0315EA-EEB7-4914-91D7-C54B695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8E7F02-6AE7-429C-9608-D80F11A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Under Repayment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schedule, EMI,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DPD tracking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A42225-06D4-4690-98F4-74D534B8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DE8A03-397E-46A0-9F0F-90320D6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336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8505C-0CA9-4EAF-893A-3324D470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58CA82-B2DE-4AB4-BF63-7C87EDE7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7 Reports</a:t>
            </a:r>
          </a:p>
          <a:p xmlns:a="http://schemas.openxmlformats.org/drawingml/2006/main">
            <a:pPr algn="ctr">
              <a:defRPr sz="70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MIS request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CDC49E-B05B-4538-B3E0-5EE3757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F7F907-8352-4814-A46A-CB8C9A61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MIS / Audit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CSV report,</a:t>
            </a:r>
          </a:p>
          <a:p xmlns:a="http://schemas.openxmlformats.org/drawingml/2006/main">
            <a:pPr algn="ctr">
              <a:defRPr sz="69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explorer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012904-F6C3-407A-AA33-10CF2A4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7E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1E403A-98B5-42B0-A096-FE65498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78105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99022A-ED8A-49E1-A326-07F88C4C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1738"/>
            <a:ext cx="590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Existing open loan?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4F6897-2637-44D4-A3AE-65C42E87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91050"/>
            <a:ext cx="78105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7D3966-50F3-4ADE-96D0-836A4EA8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61738"/>
            <a:ext cx="590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Docs complete?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06A131-0C8A-4B8B-A921-5FBF46A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78105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D18B0B-FF79-4BDF-86A3-1727C7D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1738"/>
            <a:ext cx="590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success?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78AFF2-A7A3-4ADB-95D7-DAF609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A3B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883C28-2A08-4ED8-8DB7-28E21D8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4AB32E-74EC-4110-877E-E1365197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C0C696-B679-4CAD-9743-B25A6E14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910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B2F4CB-40C2-413F-8639-FA807316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67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Reject /</a:t>
            </a:r>
          </a:p>
          <a:p xmlns:a="http://schemas.openxmlformats.org/drawingml/2006/main">
            <a:pPr algn="ctr">
              <a:defRPr sz="6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CCF4B9-9B97-4DCF-829A-6D3A2C0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91050"/>
            <a:ext cx="895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39C4BB-BB1D-42C3-9935-B125E2A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672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Loan Closed /</a:t>
            </a:r>
          </a:p>
          <a:p xmlns:a="http://schemas.openxmlformats.org/drawingml/2006/main">
            <a:pPr algn="ctr">
              <a:defRPr sz="6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Webhook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74B83E-ABCC-4C70-B5A5-8FB6399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132DC6-E6D5-44B9-B4EE-5FC17E1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-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2D20"/>
            </a:solidFill>
            <a:prstDash val="dash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C2D292-2E66-4F15-B065-3FC473DC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10E8A8-7956-4905-B873-F80AA205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Legend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606A53-BD8A-4734-BF65-922885FE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67350"/>
            <a:ext cx="20955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9690E7-9DC1-4CDA-B5A9-23D9ED7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483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LSP/API step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CB65A9-0EB1-4A25-8929-0A295C6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67350"/>
            <a:ext cx="20955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A1BF78-BD7E-4CD4-8AF4-6597938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48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Frontend / UI stage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8D3F45-22A0-4B3F-9A20-55478737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20955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73CED2-D417-4EFA-9F0E-2288263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48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Backend process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C3C22A-4616-4275-A9DB-8DA11B0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10200"/>
            <a:ext cx="2667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47F76D-5179-4802-AA56-F8FBF3AF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71160"/>
            <a:ext cx="7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77D52B-952F-4C75-80CF-528D85FF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29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/ control gate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6DBA9A-029F-4BDB-9382-8F3E492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48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Dotted vertical lines show request handoff from LSP API action to LMS processing.</a:t>
            </a:r>
          </a:p>
        </p:txBody>
      </p:sp>
    </p:spTree>
    <p:extLst>
      <p:ext uri="{BB962C8B-B14F-4D97-AF65-F5344CB8AC3E}">
        <p14:creationId xmlns:p14="http://schemas.microsoft.com/office/powerpoint/2010/main" val="446740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806E0-5887-4321-9AC6-62F7AC3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5CC02-A6AB-4B21-806A-193270B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Mainstream, hireable technologies with cloud-agnostic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258DB-D484-465D-ADDD-9E5FE5A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81020-519D-4F50-9531-E5C0DA0E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28E9-907E-496A-B3CC-CD1AF71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D373D-F8EA-4B1B-83E9-2570ED7C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869F2-81FF-49B4-BC9E-0C974BD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151C7-74FF-476D-AED6-CBE8C822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Java 21, Spring Boot 3.5, Spring Security, JPA, Flyway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3BE8A-DD0A-423B-9D4B-6E70674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D6F2E-1D94-43FA-AC24-01B171E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C5199-1B22-4A43-811E-5989FC05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98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React 19, Vite, TypeScript, Tailwind, shadcn/Radix, Recharts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A3191-1F8C-40DA-B5C5-9931030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1ACC4-F674-4474-A88D-D40AB93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69ED7-3EF7-420B-B498-652EF4DD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527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Row-Level Security, Redis, S3-compatible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22A1F-65AA-4FFC-AEB3-6B762727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B794F-0848-4197-9EAB-5F33BD87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EB3A6-034F-4932-94A6-4D60F65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957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REST + JWT, OpenAPI generated types, HMAC webhooks, SMTP, bank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7CA61-E3C9-4E52-B920-CAF8E6D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5EAD4-AEBA-4031-9274-6400152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 and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DE3C5-5E3D-456B-94C8-95FB4F5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JUnit, Testcontainers, ArchUnit, Vitest, Playwright, GitHub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84C84-DD2C-4C71-BE22-0EFD70B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E785C-94E0-4336-B67F-5419949E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C180F-21C7-4819-8EFA-AD6DC9C0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BBDBA-B11D-4E0D-88FC-168EC9D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D2D1E-7409-4276-9696-261631B2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1A2D8-6F6B-44F7-8962-E3AC7BD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Transaction-mode DB pooler. Mandatory because database connections bind before CPU.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92605-3071-4705-B96D-8F9A67C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C5A26-D7A9-4315-9B12-9535879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7F73D-EEE3-457D-89D7-145B1C85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67B6E-95DC-466F-BF35-B031C619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FDBC6-C80F-4C4C-AB63-E2CBA82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194CF-6B2E-44C4-92D8-BC900ED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Prometheus, Grafana, structured logs, and alert fan-out for production operations.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A17AA-4CC5-4126-8CD9-0A9B61B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1931B-7BAF-45A1-B71D-05D5F0DB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0CEB7-0B96-4C38-A9A6-9B19358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503676-B12C-480A-A129-287B448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10047-96CD-47E1-A185-2BDB3A9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EF8FA-8C27-4BDC-945B-9CD0FF0B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Partitioning and retention for audit, idempotency, webhook, and payment growth.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773B4-4BAA-4E48-967B-44274DA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D7C5CB-7392-4A61-A898-2B21B0D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2A60A4-CBA9-41B3-A5CA-0C9D544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DDF327-2A72-4613-B838-0F0822E3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FF97A-DDDC-4FC8-A3DB-291B748F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BC4B00-CE6B-42B8-A2DE-2609244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 scanning, upload AV, and dependency/SAST checks in the pipeline.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C2D961-76E0-456A-82CB-F38CBEE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Design principle: the app depends on portable protocols: Kubernetes, PostgreSQL, Redis, S3 API, SMTP, Prometheus, and 12-factor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224174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246B3-AA34-46CF-B78A-C1F735B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Deployment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3632A-5CB1-45C8-B4DB-07872241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Controlled promotion from local development to production ramp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9159C-3496-419A-B365-532AE0E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DB5D0-26F6-4900-A26C-E3143DA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6F5C8-4FB0-4D38-AA3B-A689297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7C2D5-367F-49B2-B026-92F69D07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377D5-EB91-4C8D-B35E-5325008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D0997-5849-4C52-A666-70C7B450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0E7D7-678F-42B3-B48C-8F5C35EC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A9F59-82D5-413B-921F-0CE626B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4F567-A426-4D89-993C-9D4730A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full stack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engineer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CFFED-5C10-4CB4-861F-BE2F280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C8D50-A0EB-4030-A632-B34A581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A194E-8FD3-4051-981D-48303E5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EDA8F-54BC-47CD-B1E4-6301B90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7CA80-613C-4CE4-81D5-C377DBC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3F6D-A3E0-4C03-B687-D1B5C5F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4EB6E-CBDB-4BFA-B2DE-83A0D1F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and partner validation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acceptance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CF6B3-3859-44C6-89B9-DD10C913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63E30-C63D-413A-8302-D63DE04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09703-A070-4A0D-9038-6A9B7AD1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AF649-2F69-4D7F-A8B2-74EA824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60CD5-D575-4DD9-B423-C0860EF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5650D-5584-46C8-85C0-DBB0793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E8911-95CD-4E99-A7E6-F6BC6B9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 topology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Load and noisy-neighbor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E5572-E3E6-4442-9AC2-51894B9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6BC1C-0407-4952-9796-06F13629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234B1-A4DC-4AC0-92ED-CCE0895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53A00-89D2-4D36-8622-4D6F4F7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83BA1-34F8-48BF-AE32-4F79F35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F22F8-843C-4D5A-B0AF-2D52BD0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EF07B9-2923-4049-9F2E-2DD29FA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Multi-AZ, autoscaled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Controlled volume ramp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55707-93D3-4ABA-83D1-17FB9EE3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E4D7F-864A-48A6-B680-55B177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066153-0A9E-446E-8995-9211AC7B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33737-EBE6-423A-A72A-D67CFC4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Green CI: tests, lint, typecheck, 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194CC-0AA8-4C54-B67F-FAE2A71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55AC5-8C3A-47AC-9402-F46E65D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5E6C20-8BAC-46B7-8A9F-24867B22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A95BC-A58F-4990-9106-F122911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UAT sign-off with at least one LSP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81A0BB-5895-486F-8AAB-E9BC9C0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29A14A-09C5-4DF1-AD67-E677784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A936D6-02BF-4D56-959B-2BF29661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BBF75-8714-4A8E-88A2-7F548D83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Performance matrix and staging validation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52F2AF-5AD1-4349-B612-F3253D0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8B7F7F-C4B2-4C95-9A79-B7837D8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221829-26FD-490A-B67F-9EB2EF3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6D4976-DBFA-45E8-AFB9-17C43C3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hardening cleared before live volume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61D9C8-A790-4BCD-AB3C-71BA6CF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migrations run as a pre-deploy Flyway job using expand -&gt; migrate -&gt; contract so rolling deploys remain compatible.</a:t>
            </a:r>
          </a:p>
        </p:txBody>
      </p:sp>
    </p:spTree>
    <p:extLst>
      <p:ext uri="{BB962C8B-B14F-4D97-AF65-F5344CB8AC3E}">
        <p14:creationId xmlns:p14="http://schemas.microsoft.com/office/powerpoint/2010/main" val="251049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0F2F2-9A95-436E-98CC-5BBF7588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Pipeline and Release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48893-47A2-4030-AFAC-F349E6AF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Every production change should be tested, traceable, reversible, and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C13A9-4827-408A-91CB-FA7F056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3378-9AB7-46B4-9765-FE9A72B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FD50B-D933-4F51-913A-EC0B6AF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A3061-1445-49CC-AF75-E942448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4E66F-D970-4770-B9FC-4D357FBF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3F1BB-6B7A-42C2-ABA4-BB20AEC5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29872-51EA-4DF6-989C-FC14657F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33837-934A-48B8-80AB-9A50A5CC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5047C-6166-435D-9477-6A5182E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CB01A-F9FA-4684-AD5F-25C91988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7F5D9-D129-4F86-8C9F-EBD61B3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D9B11-2CDA-4251-A5E0-0530AD9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34850-EF77-4348-9785-446D624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C46F6-3336-4179-962B-0700CFA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CF112-3AB8-43A1-A4B6-0893260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A993D-1D95-4D14-AE06-619950BA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contract, scans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9DAE3-9D47-43B0-979B-E7AFA3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D52A4-02FD-48FE-A5A5-816F885F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EFDAC-C80C-447C-A86E-6516B4C9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C11D5-2EA0-403B-ACCB-377893E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8F2F9-A15E-4788-91BF-758B10B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D132F-B04C-4663-8DC3-DEBA165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5CCF4-6C99-4442-8BCD-E3453F2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Container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07DBA-28C5-4F30-A65A-A46B346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1B4D6-3E20-48EB-81C5-13D9EDDA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5F38F-911E-4B5F-B3D1-7CEB2EB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CE81E-8333-418C-AE5E-FFEC3A5D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9B832-D9A9-48B5-A96D-6B44197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8D67D3-B817-4A8E-BA0A-C38EB8D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C80BB-7BA2-439F-8938-1997713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and 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3B868-1D7A-48CC-889E-E16D335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43029F-7422-43ED-884E-EAD2D2C3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6396B-4023-4888-8E0C-74D613D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E5B736-0642-4E01-A53B-7652AA0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EA79A-F1AB-449B-8545-D81C67F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862537-E9B5-4F5E-96E4-0287EFA7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E9563-8D9D-4EB1-91AC-62643DFC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+ risk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C440CB-DD86-4987-8283-CCD7E41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778A5-829F-4E2B-82DD-06C3C2E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53CC3F-8D0F-416D-8C7B-1E737F74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CCDF51-02AF-4B3A-81A1-5E9B3FED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2DEF26-C1F4-4216-A989-7729E978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5FB115-3EE1-469F-9CF3-007FD4D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8EF3B-9639-4353-AB46-24B265BD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Rolling deploy or flag flip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D14052-91BB-4CEB-99EA-94E159C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6D934C-49F0-463D-BE89-0079B55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42D8D1-C563-49C5-9061-7486DA71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A987B8-2DCA-4DDE-8C6B-F8BCD2F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2B555-FE26-426D-A148-C2B8B151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AFFF0-4DA4-4A07-8707-4FD3B82D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or API contract change -&gt; ADR and sign-off. Behavior changes ship behind feature flags by default.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19A2F6-A880-42A1-8F57-06C3B8C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DE340F-C291-43EE-B4F4-8EAACF7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27A7D9-C904-46FC-81FD-F53E6AD9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3D1A08-A2BA-45E6-A7FA-C3ACD41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RB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4C525F-3360-4324-939D-22A3D7F6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9FDEBE-4CB9-406B-B94C-D3A4D91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Flag flip for behavior. Previous image for bad builds. Expand/contract schema keeps prior app compatible.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4A68D8-3F6A-41E4-8A1D-32D362E2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BC9E19-955C-4034-940F-D084A443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11DB5D-17F6-427D-8035-A6B71F4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9EA659-0923-4460-8852-E5E4B6B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BFA3A4-F94E-4C5C-B868-B839D7A4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99B797-0D17-4B3B-893E-D06E35F3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 includes dependency scans, SAST, container scanning, signed images,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1256407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CDF76-271F-4CEE-B2CA-46BD84EF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Operating Model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E0E1B-498A-4C6E-B701-FC16F4D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Clear accountability across build, test, support, infrastructure, governance,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AE35B-4477-426F-8177-326556C5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30377-EB7E-4800-8CFD-E30B7BB2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A9923-32A7-4AA8-BAB8-A2862EF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96CD-7366-4128-A99B-2BB931C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9B112-6F05-4801-A551-59BA0C7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32504-E89A-4EF2-8311-2900B407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0FCEC-9096-434A-85B8-E0DD399C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3CCA-A3E2-4D29-983B-C71AA1F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A7F21-548F-434F-9E2A-AC864A1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/ Platform Engineering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Backend, frontend, domain rules, OpenAPI contracts, migrations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EB693-31E7-4264-966B-BE0CC5C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91E2D-47A6-4BCF-8FE1-1AC5D8E3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A92F6-A7D4-44B3-9E50-32F8F8B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09686-44C0-4D13-A776-17CDF2B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2C783-741C-4D72-A961-D97FC14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DF267-2AB0-4D41-857D-47B8C71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 + Ops UAT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Unit, integration, e2e, partner validation, release acceptance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D17E4-CF6C-46CE-A06F-AD5DC25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E4674-FC00-4F07-A081-85DD4617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B3128-DE62-40C3-AF9B-7DA4FEE5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0166B-3837-4B26-9062-F2AD932B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978B-7E32-4B14-8767-01EAB54C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E39FA-C1CD-4C04-BF82-16E0F73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/ Support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Loan lifecycle tickets, LSP onboarding, alert triage, partner queries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8F746-508D-4386-841E-429797B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69ED1-BAAB-4E5F-84C3-23B69876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9B6AF-A5B4-4C44-9A9B-86BB4359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3A715-0678-42D4-8AE7-E6D8EFC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9AF2E-6D9B-4F39-A85F-47493148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C061F-96BA-4CB5-BF74-8C3DB80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/ SRE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Kubernetes, Helm, DB pooler, backups, scaling, DR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762CC-5A2B-4D1C-899C-15266CA1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396F5-76CF-41DD-B08B-5BCDE38B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72FCA-A4C7-4AB1-97BE-A6E773D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D9A5F-9873-43B2-B3EF-952A176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843426-A7D3-40C0-B8AE-4D1F7396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340697-A0E4-47C8-A867-F0B6F48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+ DevOps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ADRs, change control, release approvals, roadmap gates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FF0241-146D-4CBB-8B93-DD3B679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9E812-537E-4DC5-81E7-1E0C468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9753D4-DC98-41A0-A69D-2A0EBAD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AC4D82-68F3-40B4-B997-CFA7AE6F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31179-41D1-4E45-9563-755FCD50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DCD002-FECB-435F-A0D6-9D9E3EA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/ Compliance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Secrets, RBAC policy, audit, data residency, incident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2867F4-387C-4AA1-86F6-AECF034A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B93248-D131-4E6C-A704-4A4E6FA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A3E37-5707-41EF-8E92-4A6DF12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Access principle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33C370-E128-42FB-A2A8-AF58043D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Least privilege by default; elevated production access is time-boxed and audited.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8A6863-02F4-44D9-98E4-815F7AD2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449669-F4DB-4FE4-A909-88414B0F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E178C7-C305-4402-B777-D12B0A81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operating item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46EA6B-767D-49D2-8D02-138FD45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RACI and worker-tier on-call ownership need closure before ramp.</a:t>
            </a:r>
          </a:p>
        </p:txBody>
      </p:sp>
    </p:spTree>
    <p:extLst>
      <p:ext uri="{BB962C8B-B14F-4D97-AF65-F5344CB8AC3E}">
        <p14:creationId xmlns:p14="http://schemas.microsoft.com/office/powerpoint/2010/main" val="189874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54B7C-ABAC-416D-91CC-56C6C21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Permissions and Tenant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573A-C971-4215-BEF2-FCA3FAF2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Fail closed, prove tenant scope, then allow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F623B-69CC-4BBA-90A5-8D314FA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BF3D-A2D3-4923-8612-D0A4BFE8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A8D84-C8C6-4D40-A6AF-4EA9193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AF8DD-7CB6-4937-82E0-401DCE8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37B8F-88B2-4CB6-9D99-F67D3876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4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44EDC-FB42-4FAC-92A8-D35FC4C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93AA2-EBEA-44F3-8EDD-83C6FD4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33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Authenticated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73F6E-7C4D-470E-9316-FC988679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JWT for users and API clients; token versions enable instant revocation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05881-E273-407C-BFF9-33457F8D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382C3-7978-49C7-8D4B-922F3B9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AC1B6-6588-4F7E-AC70-3B782E6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39F38-92CB-42F8-BEAA-6E94EEC2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52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Role and permission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ED449-33B6-41D4-9424-D2250F4E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SYSTEM_ADMIN, OPS_USER, PRODUCT_ADMIN, LSP_UI_READ/WRITE, LSP_API_CLIENT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9911C-8A83-4FE1-B21E-9C1E961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A5509-752B-407E-BA4C-D201E2D8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4465D-622A-4419-8B68-6AC437BE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07D1C-BA78-4FF3-802F-1B5294D0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71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Tenant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648B5-6CE4-48F0-8F37-9B530CF9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users and machines see only their tenant; internal roles can see all LSPs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37EED-5AD1-49D5-9FFB-E55E0F2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93C3A-F178-4A8B-9AB4-9E011D1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4EB26-96FA-4802-A7AE-BB662CC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6ECBD-C227-40D4-A2FE-E5B78AE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90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enforcement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7E144-FB53-49C7-86F8-F5EA606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 RLS, tenant DB role, and fail-closed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9712D-99CC-4071-8773-34415E6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38BEE-CF57-4661-BAF3-0AD7066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6401D-E07A-495F-BF4E-B06E33D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62DC9-8DEB-42C0-832F-E6C45882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0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Operational guardrails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F91940-AD56-4633-8BE8-E7C3940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IP allowlists, rate limits, audit events, and correlation IDs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95607C-644E-46FD-A9E0-02094E7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1847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703F1F-D255-44AF-830C-EF6B9D3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15A78-4D49-4650-A029-40B9530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1D45A-82B9-440C-8E64-E1F4E80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7B70F-AE15-4CEB-A093-101FFDB5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Strong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9AF38-FCBB-4982-ADD6-93CB8BA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Tenant data isolation is designed around RLS and fail-closed scoping.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9519B7-A559-4BE1-84E7-9601EB07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8478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126398-B15C-4C8D-AB65-71D777E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3586B-4F14-4395-BF98-882041D9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0387C-CE7A-4383-A87B-AA67B8E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7C75E1-ED33-4C3D-B972-DEE4EA1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gaps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DCB34E-31F8-4A8F-AA4D-C547D86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PII masking, API-client lockout, CORS config,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420963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EF05E-0866-443C-8F4B-A829B97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Environments, Secrets, and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873F7-2375-4BBC-8707-AA51ACAA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Production is separated by network, credentials, approvals, and 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A53C6-26B3-4E65-9279-672B472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B6BA-D16C-4A1D-8F66-875D5AB3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8AFA6-408B-41AA-A215-6165A188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70A46-59BF-4981-AF94-3ADAC893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2D76-00B2-416F-9AC1-71E5DAB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9299-3710-4447-9B19-48333C2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5D395-BD93-49B1-99E3-3E7BAE9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79C95-62EF-4814-9416-D3A58B01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E888F-E9B5-4510-99B7-0027897E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data, local services, no production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CFB11-135E-494E-9DD4-1B036A97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5B929-D5D0-49D7-9270-AF8E557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0F369-23D0-4A12-A266-40F40BB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C3EB-CD82-4BCB-8758-5D20FC5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5714A-F907-4CCF-A073-ADED8CCF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2D4F9-CA06-4FBB-97D7-4A1C16F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B1308-745A-4E44-9AC7-A24E24B6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Synthetic or approved test data, partner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C7390-C96D-408D-AD0A-D5B98C74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E3D60-78FD-4B43-820F-E518911A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4302-6B48-4493-B230-FB3E5D5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FB8EB-D101-44D0-AC63-CC39BBFA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7ABE9-37D6-4A1F-AC76-E5DF94D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22CBD-D8E0-4203-8937-48FBAC70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DDB8E-5775-4110-B05B-D397D0AF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Prod-shaped, small scale, load tests, no live borrowers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8A0AB-F93C-466D-8EB9-4B97A757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772F4-E99E-4AD7-A371-64923021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61484-031B-4312-9F98-FD300D12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A15EF-5007-4469-924C-94C3B515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09509-F903-43E0-9006-075FEE1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3CCA0-126A-49AD-A7CE-B6F31C4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EF325-C5EB-463B-91F1-607ADFF9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Private networks, managed secrets, audited access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7BC57-4532-44D1-86AD-06AA990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BA61CC-C088-4287-9234-42D3A042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76ADF0-6D7C-4ABC-A7F0-0B58F885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DA421-4394-449A-84BC-D758F46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C18D77-2523-45EB-A5CA-E3F8EDC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Secrets and config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F0BE3-AFAA-4F7F-8669-D7F11291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12-factor env injection from provider secret store. No secrets in images. Startup blocks placeholder secrets outside local/test.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7C1070-43E7-4117-A0B9-A95A519E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F48927-8378-4549-8E53-EAEF38A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D2276-481F-4C38-83CE-09E7AB13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92D657-6D41-49DD-A154-8C22604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NET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39D663-552F-41D0-BEBD-688F4DD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Network controls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23FC33-6380-4DD2-A247-22708359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TLS at the edge. Database, Redis, and storage remain private. WAF and coarse edge rate limits add defense in depth.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8AE32D-9054-4E57-A3C6-10F1ADDD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F998E8-D703-4625-91CC-039AE198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FF6B57-A62C-48E8-8DB5-1EE36DD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F46E14-6BEF-4AED-B933-ED96F11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8E7C85-4712-4B7C-BC27-2941CED2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Pipeline security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30BD9E-C069-477E-9DB8-F9B80AE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state: scan dependencies, source, containers, and partner uploads. Sign images and use private registries.</a:t>
            </a:r>
          </a:p>
        </p:txBody>
      </p:sp>
    </p:spTree>
    <p:extLst>
      <p:ext uri="{BB962C8B-B14F-4D97-AF65-F5344CB8AC3E}">
        <p14:creationId xmlns:p14="http://schemas.microsoft.com/office/powerpoint/2010/main" val="885437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3DAAF-72B6-40A5-8747-1882E2F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Roadmap Timeline: Gated Path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1F01C-A3DB-4C1B-AED0-C77DC4F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Relative timing is shown because source docs do not commit calendar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9524E-4ED8-4D3E-9AC0-1D8C8C2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548FA-C1D2-48D1-9803-933E20F2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8A150-0C77-4E39-8E48-8DE0406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AEE2-E890-4F02-9038-7856B616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002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0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BF9B5-3DF1-430C-9247-B2AD764E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0652C-FE6D-4F1A-9841-4DA97E15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1E5E0-2B4B-40FE-835B-0EC1CB61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866EC-D440-401B-848C-D75AE8A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D4308-AB9D-425C-A623-5055833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86662-1698-4478-8995-8F1C924F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Functionally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Auth, tenancy, products, lifecycle, servicing, webhooks, MIS,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86B1C-6CEE-40DF-9033-4A407A0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0FB03-9637-4EAE-9CAE-6C2C94C1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30A4-D9DB-4919-9CDB-7A7ACF7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EC3AC-A40B-419B-BEAA-2311D91F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48899-7F79-4260-AB6D-E9AA1C1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0-2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56147-5D6A-4AEF-A4C5-4F8F2284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production blockers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DB pooler, money-path safety, payment correctness, worker split, 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F4028-71DC-49C0-88EC-10A43535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D05C4-F60A-4566-B7B7-5D29FF2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1B051-3A4A-4B3C-947B-153C6CC2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92FEB-6108-4224-A379-B074D82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07C68-5E2D-44BA-8877-B6E9718C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2-4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83BB9-7A66-46A6-AA03-407C8DA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P1 scale readiness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Reporting stream, audit retention, partitioning, webhooks, security gaps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2DAE7-555E-447A-8A89-BAB5FFFA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D0859D-80E9-4C17-9B3C-4E1A49B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1D0A4-1BAE-4317-B9A5-B99068A3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779C1-A5F0-46A8-99A5-947AAC88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E5129-1AC5-49F6-BEED-730A0B05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4-6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3D5CB-BE61-4EAB-9FC5-6FC9210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P2 operating maturity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dashboards, staging test bed, automation, cleanup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CFAAD-F93B-4435-AC7E-423F61A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6D030-54BB-4E09-A6A0-CDBFC265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CFAC9-2A3A-42AB-83AF-AAA802C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DAEBFC-5BB1-4596-A029-A02074D7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EB966-B705-4180-9409-EDD70EB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16558-526D-442A-AE35-DF8FA92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+ production ramp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ICICI integration, perf matrix, target readiness &gt;=85%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6582C-6C21-437F-B715-97FBA872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2B573D-BA51-4870-9131-228703D9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368E43-D8A9-4E74-BBBE-EE6036F6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go-live condition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2C427-0183-4BF8-909D-6359FC4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Real ICICI starts only after P0 money-path controls and contract tests.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EBA82-1E14-4310-B46A-771459BB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AF7AFD-520E-4DCD-9AE3-67D0BEC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50F4FC-CAAC-41D8-A836-FBF6480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 ramp condition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E72579-F979-40A0-AB9C-8EF4105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Ramp after staging performance passes and readiness reaches target &gt;=85%.</a:t>
            </a:r>
          </a:p>
        </p:txBody>
      </p:sp>
    </p:spTree>
    <p:extLst>
      <p:ext uri="{BB962C8B-B14F-4D97-AF65-F5344CB8AC3E}">
        <p14:creationId xmlns:p14="http://schemas.microsoft.com/office/powerpoint/2010/main" val="433744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2E082-D8FE-4B86-899C-D86F359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Future Challenges and Mitigations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7FC7-8DD4-46FA-AC64-545DA4DE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main risks are known, bounded, and roadmap-backed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904F3-1850-4C92-B37F-CAE9E92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2797-C0F9-4ED2-B68E-A3C4FBE9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8149D-AC56-45B3-8B0D-F0B4E8C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D80A4-8DC2-425A-80A5-C5341AD2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C1AFA-D60F-4EE5-A3E1-BCC7BC69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2FC98-D8F7-427E-92F2-672D526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F9FE5-DCAB-485F-80FD-FC34968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1EC7D-EA26-4010-99D2-04DBDED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22AA-22CB-4CAC-9A52-42FA47DB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Database connections bind first. Monolith maintainability and real-bank integration require disciplined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D6DB9-74FC-43FF-BE75-294C555A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77CD9-C7F6-414A-A4AB-39CC5192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E919E-11D2-4ADE-88B4-011FE400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EDB26-7102-4D99-A0EB-BD690E2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8DC04-EF01-497A-8EDB-EBE53B7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CFC94-DC4C-4BE7-A2BD-404FB2B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Worker on-call, alert delivery, runbooks, DR drills, and incident response need formal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D8116-5C35-44F1-8897-911CE88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824FB-4208-44FD-A8F2-50BBE554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4320B-04C7-4010-B2BE-66D0891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20B2F-CB22-4DBB-8CB4-083FBD4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55EB2-596F-4B01-9EA7-AFD0ED32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95EA8-82C9-40A7-9A96-0A21DDA7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idempotency, webhook, payment, and reporting tables will grow fast at 100K loans/day.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E336C-629C-4D23-83CD-BE6FE2AC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A324B-B985-48D9-9DD1-DBCFC802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881F8-8C1B-46BB-BCD2-16B1B5C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6397D-65C7-45CE-A1A1-77632952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2BE45-60EF-4DFA-8E3F-E0610DC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88DE1-1BC4-475E-8116-4833784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API-only origination shifts partner errors into support. Compliance and data residency must stay ahead of growth.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4141A-E47D-4D17-BC03-85C6CF99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Mitigation themes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5225B-B386-4759-B82E-F2D6206B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3C66D3-419E-4177-A8E8-19F5C95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Pooler + worker split  |  P0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CF3ECD-7DA5-4952-8C8E-A1AAE6DB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E2637D-CB23-4863-9B21-E4ADF1C3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Metrics + alert fan-out  |  P0/P1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B4334D-BE21-4ABA-9533-B4FAC5C8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0EF210-0D8C-42D7-8E3C-F403881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Partitioning + retention  |  P1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B831C3-FEA2-4BD0-AFE2-5E12824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EC7A5F-9EAF-4AC5-9D6D-F5493E0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Partner sandbox + clear contracts  |  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BAEDF4-D01C-425C-A933-3B3A61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5DD6B2-0578-438E-9F90-F66BF92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PII masking + audit controls  |  P0/P1</a:t>
            </a:r>
          </a:p>
        </p:txBody>
      </p:sp>
    </p:spTree>
    <p:extLst>
      <p:ext uri="{BB962C8B-B14F-4D97-AF65-F5344CB8AC3E}">
        <p14:creationId xmlns:p14="http://schemas.microsoft.com/office/powerpoint/2010/main" val="19961980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758A1-4F72-461E-9922-4F7BF196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Recommendation and Executive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688F-4393-485F-8253-4961CF3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small set of decisions unlocks a controlled production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A9A78-AA2E-4C7B-8B28-49EAC58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2BEDE-65D8-4A8B-B218-DAE7DFA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A139A-687C-47A0-9A19-77B526C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49FF-2B1B-430F-AC98-A3DC83C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F1A7F-933A-4E70-B443-A111DB6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84C5-2654-4E71-8546-EF0A1594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56BAF-6086-458E-B098-4E953489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8DF2-DA79-47E9-90DA-0B38100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1. Endorse the P0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79A8D-EA81-424B-B74A-A4F88011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 not onboard live volume until money-path safety, pool sizing, worker split, dashboard snapshots, and observability are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0DBE5-2615-4B05-B771-218AA6F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68FF3-9BB3-44CF-9C0E-7166BE7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DF94D-1274-4E1D-B561-48E4F78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F6C03-FA03-459B-BB45-D2A2132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3B874-2613-499F-BA5F-8662B25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2. Confirm production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1FF6B-A245-4E3C-9F02-81E78630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Choose target cloud/region with India data residency. Confirm RPO/RTO so infrastructure and DR drills are testable.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C59E7-07BF-4FAA-9642-D83EAB1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B76AB-CF6D-4F17-B212-1708E3C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5B8CD-7752-4CCF-9052-C0BDE89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D1235-18A3-46EB-A968-244D977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A219D-8742-4250-BDCA-A2241407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3. Authorize bank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DCBD2-F396-45B4-AC10-2D8C75B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Start real ICICI integration only behind P0 safety controls and contract/reconciliation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4AC96-7BEA-498A-94A7-C837699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876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C4319-6286-415E-9754-2CE570C6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EE7A1-290F-48EC-864B-CD28C2D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243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Next 90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02AF3-B090-4AC8-95FA-F9C20C6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Close production blockers, stand up staging validation, define RACI/on-call, complete security quick wins, then run the performance matrix for go/no-go.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2D1C5-7C80-47A9-97EE-D5C3421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Outcome: a portable, auditable, multi-tenant lending platform ready to ramp partners with controlled risk.</a:t>
            </a:r>
          </a:p>
        </p:txBody>
      </p:sp>
    </p:spTree>
    <p:extLst>
      <p:ext uri="{BB962C8B-B14F-4D97-AF65-F5344CB8AC3E}">
        <p14:creationId xmlns:p14="http://schemas.microsoft.com/office/powerpoint/2010/main" val="1390845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3CDDA-77D4-4F61-A3A2-23801D23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Appendix: Source-Backed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DC521-8E0E-4BB3-892F-EED1A545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Reference facts behind the executive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9BB2C-C803-4DDA-B481-46B62A5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4841C-A0E8-45DD-B5F9-F67A00EC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ADC5-C937-4D4A-82F0-A8A2C9C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C7886-0CCD-4449-8BC4-DB34520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AD4C0-39C2-48EB-A1A6-9F04488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090B-7FEE-4B64-8543-3B5F56D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Target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55B6-C255-4727-8030-831521E4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~1M+/month, 10+ LSP tenants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92AF8-A20B-4C57-9435-54C95A1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D15F8-EC91-4B31-9F9C-DD413420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375CC-1D60-4BCB-811A-7D98361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8206-117D-4372-B5B3-34701555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 + React SPA; PostgreSQL with RLS; Redis; S3-compatible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1EB62-3F62-47F9-9D5B-27BD156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DA887-AF35-4C3A-ADB4-A3AAAF3B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E3E50-78B5-4895-A317-3369834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479CF-5C08-428D-B1AC-615E1829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Outbound HMAC webhooks, SMTP, bank adapter; ICICI is the target real-bank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8184E-9C53-4CFE-B557-46E96B8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6E107-38CD-4650-BF23-99308E4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0DFB1-178A-4CFD-94F3-17E6FA0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BDEBB-58B5-4AAD-AB94-30D7705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Portfolio MIS is async: request, queue, generate CSV, store, 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C65D4-9C75-4B87-9671-BB23B4B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BF21E-7738-4FFC-9BA8-1B32A4C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DBACE-A3B1-4B38-B80E-A683EB77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D1D4B-B6BF-4F5E-92F9-BFA6E82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About 32% high-volume readiness; validation target &gt;=85% before ramp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B6377-DF6C-4AE1-90A2-1C4E7BF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EF77A-E05E-4EAA-91BE-F0EDE56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036DB-076C-45F5-926B-74DA5202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38FEA-65BC-4988-BC92-D4DF933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Strong tenant-isolation foundation; open gaps include PII masking, API-client lockout, upload AV, CORS externalization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3650D-FC00-4DC1-AFD4-9EE16799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Primary sources: graphify-out/GRAPH_REPORT.md; architecture package; deployment strategy; LMS blueprint; implementation roadmap; security audit; backend/frontend build files; CI and infra configs.</a:t>
            </a:r>
          </a:p>
        </p:txBody>
      </p:sp>
    </p:spTree>
    <p:extLst>
      <p:ext uri="{BB962C8B-B14F-4D97-AF65-F5344CB8AC3E}">
        <p14:creationId xmlns:p14="http://schemas.microsoft.com/office/powerpoint/2010/main" val="100284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2026-06-19T10:57:03.1490000Z</dcterms:created>
  <dcterms:modified xsi:type="dcterms:W3CDTF">2026-06-19T10:57:03.1490000Z</dcterms:modified>
</coreProperties>
</file>