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8e2bbfece84f64" /><Relationship Type="http://schemas.openxmlformats.org/officeDocument/2006/relationships/extended-properties" Target="/docProps/app.xml" Id="Re5c3d06fea4842d9" /><Relationship Type="http://schemas.openxmlformats.org/officeDocument/2006/relationships/officeDocument" Target="/ppt/presentation.xml" Id="Rd1e37438b54544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716fafdf864c75"/>
  </p:sldMasterIdLst>
  <p:notesMasterIdLst>
    <p:notesMasterId xmlns:r="http://schemas.openxmlformats.org/officeDocument/2006/relationships" r:id="R4765dbb7749e42e9"/>
  </p:notesMasterIdLst>
  <p:sldIdLst>
    <p:sldId xmlns:r="http://schemas.openxmlformats.org/officeDocument/2006/relationships" id="256" r:id="R64fcac49a9bf4dc0"/>
    <p:sldId xmlns:r="http://schemas.openxmlformats.org/officeDocument/2006/relationships" id="257" r:id="R75da967c0bdd4398"/>
    <p:sldId xmlns:r="http://schemas.openxmlformats.org/officeDocument/2006/relationships" id="258" r:id="R050b0ec3a7a24cff"/>
    <p:sldId xmlns:r="http://schemas.openxmlformats.org/officeDocument/2006/relationships" id="259" r:id="R04ef9d3bac834c94"/>
    <p:sldId xmlns:r="http://schemas.openxmlformats.org/officeDocument/2006/relationships" id="260" r:id="R77e6e824d6c248da"/>
    <p:sldId xmlns:r="http://schemas.openxmlformats.org/officeDocument/2006/relationships" id="261" r:id="R1b1d825f8a9d4ad2"/>
    <p:sldId xmlns:r="http://schemas.openxmlformats.org/officeDocument/2006/relationships" id="262" r:id="Rec29753b51424c9a"/>
    <p:sldId xmlns:r="http://schemas.openxmlformats.org/officeDocument/2006/relationships" id="263" r:id="R3eac5155a46b4e4a"/>
    <p:sldId xmlns:r="http://schemas.openxmlformats.org/officeDocument/2006/relationships" id="264" r:id="Rd7e34ea445b24736"/>
    <p:sldId xmlns:r="http://schemas.openxmlformats.org/officeDocument/2006/relationships" id="265" r:id="R2e60e1ae09cd457f"/>
    <p:sldId xmlns:r="http://schemas.openxmlformats.org/officeDocument/2006/relationships" id="266" r:id="Rb7502328970f4414"/>
    <p:sldId xmlns:r="http://schemas.openxmlformats.org/officeDocument/2006/relationships" id="267" r:id="R0fd02182004342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1728b133264948" /><Relationship Type="http://schemas.openxmlformats.org/officeDocument/2006/relationships/slideMaster" Target="/ppt/slideMasters/slideMaster1.xml" Id="R5e716fafdf864c75" /><Relationship Type="http://schemas.openxmlformats.org/officeDocument/2006/relationships/notesMaster" Target="/ppt/notesMasters/notesMaster1.xml" Id="R4765dbb7749e42e9" /><Relationship Type="http://schemas.openxmlformats.org/officeDocument/2006/relationships/presProps" Target="/ppt/presProps.xml" Id="R5500530a7d794eb9" /><Relationship Type="http://schemas.openxmlformats.org/officeDocument/2006/relationships/tableStyles" Target="/ppt/tableStyles.xml" Id="R43f5621281dd4096" /><Relationship Type="http://schemas.openxmlformats.org/officeDocument/2006/relationships/slide" Target="/ppt/slides/slide1.xml" Id="R64fcac49a9bf4dc0" /><Relationship Type="http://schemas.openxmlformats.org/officeDocument/2006/relationships/slide" Target="/ppt/slides/slide2.xml" Id="R75da967c0bdd4398" /><Relationship Type="http://schemas.openxmlformats.org/officeDocument/2006/relationships/slide" Target="/ppt/slides/slide3.xml" Id="R050b0ec3a7a24cff" /><Relationship Type="http://schemas.openxmlformats.org/officeDocument/2006/relationships/slide" Target="/ppt/slides/slide4.xml" Id="R04ef9d3bac834c94" /><Relationship Type="http://schemas.openxmlformats.org/officeDocument/2006/relationships/slide" Target="/ppt/slides/slide5.xml" Id="R77e6e824d6c248da" /><Relationship Type="http://schemas.openxmlformats.org/officeDocument/2006/relationships/slide" Target="/ppt/slides/slide6.xml" Id="R1b1d825f8a9d4ad2" /><Relationship Type="http://schemas.openxmlformats.org/officeDocument/2006/relationships/slide" Target="/ppt/slides/slide7.xml" Id="Rec29753b51424c9a" /><Relationship Type="http://schemas.openxmlformats.org/officeDocument/2006/relationships/slide" Target="/ppt/slides/slide8.xml" Id="R3eac5155a46b4e4a" /><Relationship Type="http://schemas.openxmlformats.org/officeDocument/2006/relationships/slide" Target="/ppt/slides/slide9.xml" Id="Rd7e34ea445b24736" /><Relationship Type="http://schemas.openxmlformats.org/officeDocument/2006/relationships/slide" Target="/ppt/slides/slide10.xml" Id="R2e60e1ae09cd457f" /><Relationship Type="http://schemas.openxmlformats.org/officeDocument/2006/relationships/slide" Target="/ppt/slides/slide11.xml" Id="Rb7502328970f4414" /><Relationship Type="http://schemas.openxmlformats.org/officeDocument/2006/relationships/slide" Target="/ppt/slides/slide12.xml" Id="R0fd02182004342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e4d294dc404e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6857ddfe434097" /><Relationship Type="http://schemas.openxmlformats.org/officeDocument/2006/relationships/notesMaster" Target="/ppt/notesMasters/notesMaster1.xml" Id="Rb4469bee4e5240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b9601dd8ba4fc3" /><Relationship Type="http://schemas.openxmlformats.org/officeDocument/2006/relationships/notesMaster" Target="/ppt/notesMasters/notesMaster1.xml" Id="R93d2b8edb6ae41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ba6871b63a4b50" /><Relationship Type="http://schemas.openxmlformats.org/officeDocument/2006/relationships/notesMaster" Target="/ppt/notesMasters/notesMaster1.xml" Id="Rb519c67a11bb4d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ced4999fc84892" /><Relationship Type="http://schemas.openxmlformats.org/officeDocument/2006/relationships/notesMaster" Target="/ppt/notesMasters/notesMaster1.xml" Id="R88c3a191840044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66cac5cac54054" /><Relationship Type="http://schemas.openxmlformats.org/officeDocument/2006/relationships/notesMaster" Target="/ppt/notesMasters/notesMaster1.xml" Id="R0fb6acef502c4a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b2f83f56894e75" /><Relationship Type="http://schemas.openxmlformats.org/officeDocument/2006/relationships/notesMaster" Target="/ppt/notesMasters/notesMaster1.xml" Id="R3b70a25c1be048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d7bc3fc63e4f4f" /><Relationship Type="http://schemas.openxmlformats.org/officeDocument/2006/relationships/notesMaster" Target="/ppt/notesMasters/notesMaster1.xml" Id="Rde335542ffad42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e6eb4fe7064876" /><Relationship Type="http://schemas.openxmlformats.org/officeDocument/2006/relationships/notesMaster" Target="/ppt/notesMasters/notesMaster1.xml" Id="R40fc898878f94b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9a36d0bcc6476c" /><Relationship Type="http://schemas.openxmlformats.org/officeDocument/2006/relationships/notesMaster" Target="/ppt/notesMasters/notesMaster1.xml" Id="R39ec3e4602904b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194b85c7c94edf" /><Relationship Type="http://schemas.openxmlformats.org/officeDocument/2006/relationships/notesMaster" Target="/ppt/notesMasters/notesMaster1.xml" Id="Re61bf36e784148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70d5f4222a4b06" /><Relationship Type="http://schemas.openxmlformats.org/officeDocument/2006/relationships/notesMaster" Target="/ppt/notesMasters/notesMaster1.xml" Id="R57bdc2d6654a48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409d2250d44a18" /><Relationship Type="http://schemas.openxmlformats.org/officeDocument/2006/relationships/notesMaster" Target="/ppt/notesMasters/notesMaster1.xml" Id="R0009afef7c5240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5376470c84e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7c7414ad164762" /><Relationship Type="http://schemas.openxmlformats.org/officeDocument/2006/relationships/slideLayout" Target="/ppt/slideLayouts/slideLayout1.xml" Id="Rdc92657ecf1a4d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92657ecf1a4d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b5bf4cbdb48fa" /><Relationship Type="http://schemas.openxmlformats.org/officeDocument/2006/relationships/notesSlide" Target="/ppt/notesSlides/notesSlide1.xml" Id="Rf50b246b431b4d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27bd289084d88" /><Relationship Type="http://schemas.openxmlformats.org/officeDocument/2006/relationships/notesSlide" Target="/ppt/notesSlides/notesSlide2.xml" Id="R86108cfd005f42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271e0426b48fb" /><Relationship Type="http://schemas.openxmlformats.org/officeDocument/2006/relationships/notesSlide" Target="/ppt/notesSlides/notesSlide3.xml" Id="Rc14b7d904aba45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34bf3e05d4b90" /><Relationship Type="http://schemas.openxmlformats.org/officeDocument/2006/relationships/notesSlide" Target="/ppt/notesSlides/notesSlide4.xml" Id="R5f9f87a6af8842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adb65d4054361" /><Relationship Type="http://schemas.openxmlformats.org/officeDocument/2006/relationships/notesSlide" Target="/ppt/notesSlides/notesSlide5.xml" Id="R10dbbd78577547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c1d2473b44d61" /><Relationship Type="http://schemas.openxmlformats.org/officeDocument/2006/relationships/notesSlide" Target="/ppt/notesSlides/notesSlide6.xml" Id="Ref887a00cd8249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84f8602834d3c" /><Relationship Type="http://schemas.openxmlformats.org/officeDocument/2006/relationships/notesSlide" Target="/ppt/notesSlides/notesSlide7.xml" Id="R6c533b33f3554d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df360256447c2" /><Relationship Type="http://schemas.openxmlformats.org/officeDocument/2006/relationships/image" Target="/ppt/media/image.png" Id="R27ba08e8de2541eb" /><Relationship Type="http://schemas.openxmlformats.org/officeDocument/2006/relationships/notesSlide" Target="/ppt/notesSlides/notesSlide8.xml" Id="R1007fa3c868b4d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0dc8ebe384a34" /><Relationship Type="http://schemas.openxmlformats.org/officeDocument/2006/relationships/notesSlide" Target="/ppt/notesSlides/notesSlide9.xml" Id="Rccc1c22cd3fa43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200698bcd435c" /><Relationship Type="http://schemas.openxmlformats.org/officeDocument/2006/relationships/notesSlide" Target="/ppt/notesSlides/notesSlide10.xml" Id="Raf5c297e953f4c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f82ee73514018" /><Relationship Type="http://schemas.openxmlformats.org/officeDocument/2006/relationships/notesSlide" Target="/ppt/notesSlides/notesSlide11.xml" Id="R1c3db83f3df74e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3bb23b380437f" /><Relationship Type="http://schemas.openxmlformats.org/officeDocument/2006/relationships/notesSlide" Target="/ppt/notesSlides/notesSlide12.xml" Id="R0dce3582f14f49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1A99B8-03D2-41AA-B050-CB5A1289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38800"/>
            <a:ext cx="12192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75B"/>
          </a:solidFill>
          <a:ln xmlns:a="http://schemas.openxmlformats.org/drawingml/2006/main" w="9525">
            <a:solidFill>
              <a:srgbClr val="0927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F8946-5B23-4C7C-A609-1234AB9D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F6B68-18FA-476D-A6C0-A14B3992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771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FF9E9-4174-46E4-8305-B3C4B95B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34290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366F"/>
          </a:solidFill>
          <a:ln xmlns:a="http://schemas.openxmlformats.org/drawingml/2006/main" w="9525">
            <a:solidFill>
              <a:srgbClr val="2D64B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1C53D-5223-46D6-B9BF-6FAD8408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9525">
            <a:solidFill>
              <a:srgbClr val="6FB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D8C7A-D946-4C58-8E7A-A6E89101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7DF73-43DD-4262-8770-6B7D9A51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4979F-15BB-41A4-825A-B23EC7E2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142F7-B10C-4D55-8254-7D8DAD8C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B08CE-3518-4EBF-8796-CD8CCCD9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4DAEB-AA44-4354-94F1-6C9A11E0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290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CA97B-DC96-4A91-876D-B49D2B4C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98CC1-534A-4049-B129-0EE3FE84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D1697-4DCA-4F6F-A08F-2891434B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96825-9BD5-47FF-9FF1-B2F9F30F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A80FA-2C49-4836-A69B-F8BE3542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556184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0765C8-2B03-4D56-87A6-50D2761D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Process: Email Validation and LSP Disbursement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67CC9-7B05-48AF-ABFC-7019AE5A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Useful as a control layer, but not the target scalable LMS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81379-DBAA-43FE-BAC1-C3A80A82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02B5A-0A35-4BAA-9851-C56930A7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E1B6F-8E18-481A-86B1-D8D3212E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809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954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sends email /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Input arrives through current LSP channel.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574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1809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76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33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954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GCP script validates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098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submitted email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574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24000"/>
            <a:ext cx="1809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76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33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954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email returns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is sent back to the LSP.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1809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76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33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954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disburses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remains outside the platform.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2E57FE-52BA-451E-BA16-5A476984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61623-77A1-4854-9491-20B6273A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1809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486CDA-A6A3-418B-AFCE-DEFEB520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76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C4924-6C28-4008-94B2-A5FE623B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33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F7DA8E-46BE-4B8E-9CD3-628E1F2B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954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 stores approval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D6A66-6E47-48B6-B58F-797785D1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 is kept for reference/control.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189F1D-407B-4273-878A-DC249DD2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31432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C8EB10-CD59-469C-8227-82CD3691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57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C33AAF-DD18-4668-BB6A-B3DC8099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facts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C16ECD-CAEB-45CE-B029-9601C97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76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Deployed logic: GCP automated validation script.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response: email back to LSP.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evidence: PostgreSQL record.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path: LSP's own channel.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BC0335-4DC9-4646-8113-56D47C74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31432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A93BC1-7D7D-4D3E-A4A6-705AA3D1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57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65438E-439A-4144-B30B-5C6C01C8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works today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3B4FF7-9220-4D48-8C0D-BB94C972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276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Low-cost way to prove the control concept.</a:t>
            </a:r>
          </a:p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 to adjust while process details change.</a:t>
            </a:r>
          </a:p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current LSP disbursement flow intact.</a:t>
            </a:r>
          </a:p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Creates basic approval evidence.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FB73E8-BF82-4137-97D3-82246565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31432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9E80E4-414D-4CC7-8232-B11E7068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57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55298B-75C7-4C42-AB5B-354592B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2C3855-E3BF-4E58-9953-029384C6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76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strong operating surface.</a:t>
            </a:r>
          </a:p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exception handling remains.</a:t>
            </a:r>
          </a:p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Audit, access, monitoring, and SDLC controls are limited.</a:t>
            </a:r>
          </a:p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More LSPs will increase operational drag.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Executive takeaway: keep this as prototype learning, not as the long-term scalable platform.</a:t>
            </a:r>
          </a:p>
        </p:txBody>
      </p:sp>
    </p:spTree>
    <p:extLst>
      <p:ext uri="{BB962C8B-B14F-4D97-AF65-F5344CB8AC3E}">
        <p14:creationId xmlns:p14="http://schemas.microsoft.com/office/powerpoint/2010/main" val="450784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0EF834-EC5D-47D7-B0CD-D1323A3C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EDCB3-636E-4B07-A7D6-A3B292B3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7EBC5-7A5D-4858-9D3C-6E4226E8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FFF09-CE6C-4220-996C-07E08A37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6A925-7D9A-4D53-933B-2BBF952B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1E0DA-3A6B-4511-BED0-07F4084E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048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8CD3E-5941-4BE5-B4FB-5BCD33A9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04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E427E-31AC-4C29-A609-27045985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3CC55-273B-4C8B-9E5B-9E8890A1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45910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6BE29-669C-47D8-8EA7-92A3F43C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47D70-689C-44AC-9F54-FCB3BF15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479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an in-house LMS platform using the current prototype as learning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E8325-22A8-4DFD-92D6-C05B7961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5910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E8CF0-AC98-48AD-9B13-B86ECDC6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3B678-2882-43BA-BDEC-F9AB9CD1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48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exists, but is not deployed, not scale-ready, and has no production infrastructure yet.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024D1-C367-4605-85B6-C5480F57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5910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B78DE-34C1-46A2-926A-465B6222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Pros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C3287-C63A-451F-B701-A56848A6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481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More control over workflow, audit model, integrations, security standards, and Databricks data path.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E717D-E8B6-46A8-8370-BDA67FAE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45910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C96CD-EA27-4D1B-81F6-E30A425D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01D8A-44F4-45A5-8FBE-703AA58E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482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Needs engineering capacity, Azure infrastructure, SDLC, support model, security review, and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CDF16-FAD6-4943-916C-9CCC0EE0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66850"/>
            <a:ext cx="5048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5FDDA-EF74-483C-8A6A-114F5F5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66850"/>
            <a:ext cx="504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A561B-0404-4A97-A9E4-9662825A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002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534F4-ED20-4DAA-861C-0415373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52650"/>
            <a:ext cx="45910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88D08-0800-42CF-BA4B-BD6B9A3A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60757-84F6-473F-A5B0-FFFE8F4F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479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Select and integrate a vendor LMS / loan operations platform after formal assessment.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A0AB81-7132-40A9-8EB1-1DC6CC79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45910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DF7A1-D725-4EF3-B60E-C2189881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670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F2AA78-C0CE-408E-9735-D20B1F60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Multiple vendors are being assessed; proper diligence will take several months and audits.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1AB43D-0D10-4DC2-999A-708A8384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45910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A46263-06AE-474D-8AD6-A69E7E01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671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Pros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CB6997-2849-4D20-87D4-8D940857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481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Faster access to mature features, vendor support, and lower initial engineering build effort.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FD44B8-31EC-43BC-A65E-C5CDC4CA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52950"/>
            <a:ext cx="45910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46FFE9-CF46-47C5-B96A-F25342AE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672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25A0DC-0E89-4355-B831-AF1E7B4B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risk, integration dependency, customization limits, audit findings, and unclear ownership split.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6A2260-4910-4550-B63C-8E0AF4D2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86450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lens: choose the path that gives LSPs a reason to move, keeps controls auditable, and has clear ownership.</a:t>
            </a:r>
          </a:p>
        </p:txBody>
      </p:sp>
    </p:spTree>
    <p:extLst>
      <p:ext uri="{BB962C8B-B14F-4D97-AF65-F5344CB8AC3E}">
        <p14:creationId xmlns:p14="http://schemas.microsoft.com/office/powerpoint/2010/main" val="718779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89DE3-0BCC-4C80-A877-12EFC851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Prototype Implemented: What It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1F367-4F1D-49E7-9A13-2841E24A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Informative prototype, not production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6B3E9-BFAE-4FB2-BD64-7851960F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3F0AD-F7B6-483D-88BF-35E1945D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EAC11-35F0-493F-8F84-82F54A7A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04C6A-6663-47D3-B88A-6B4F7C0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304800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D516C-E385-426D-A077-0C2A3EFA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E40E9-F1D0-40DD-8C7A-F0477E0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exists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D9FC0-5A77-4909-9B99-86FD41B3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working concept for validation, approval, data capture, and basic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Useful for learning and vendor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2562E-2B12-470D-B010-0DB5DE2A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304800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BB54C-D1A4-4DDA-A25A-E9A0A11D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DD1A7-D0BF-41B0-B760-B3C5A1CB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95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does not exist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0E833-8B8A-452D-B1C2-ACB06290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deployment.</a:t>
            </a:r>
          </a:p>
          <a:p xmlns:a="http://schemas.openxmlformats.org/drawingml/2006/main"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Azure India subscription or production infrastructure.</a:t>
            </a:r>
          </a:p>
          <a:p xmlns:a="http://schemas.openxmlformats.org/drawingml/2006/main"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proven HA, DR, monitoring, support model, or security certification.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839E0-3579-4626-BC55-7647AB07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24000"/>
            <a:ext cx="304800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8F6DC-0443-45D6-8A5E-DB755D4C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240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71DAE-A388-40CA-80B9-3F24F609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95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interactions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A3CA6-8C1E-4D88-933D-8A3B4151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still review exceptions, approve decisions, manage partner issues, and own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platform should make these steps auditable.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C94A3-01D6-4CD6-97F2-C0C1FB38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7A4D3-22BB-4AE0-8BFF-6B3E0E5D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ECCD3-16C1-4F0C-B7AA-F6740EE0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AEAEC-1B39-4E42-AE14-63899BFF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428C7-FE9A-42EB-A2F7-243EBC02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62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7757DF-5878-4B17-A430-6AA45C66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86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FF7D02-E430-419A-B142-63F65481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720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D7EDF-9811-484A-B3F8-3B2A1083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62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B66B00-C93E-4EBC-92D3-B5FD7102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86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978E8-9CAA-40E1-B169-964DA808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C7A163-0676-4671-AD62-23661A2C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62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893A62-DBE5-47ED-A71F-A1BB7E2E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86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57A72C-3D94-44FE-B3F9-79E1538F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720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27773A-2345-49AF-B6F6-3FED8452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578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state sits at the first point: useful evidence, but not ready for external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583165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57A83B-7E95-4250-B536-50CA50B1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Governance and Operational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21EA5-D147-4146-B54F-F059BC97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83F65-7C73-45BD-B885-43680E35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4E9A2-4DFC-470C-88BA-2BD2E66E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AF891-9276-4AD4-9B04-4AB27625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D8CA5-1BFB-451B-9387-419DC8E3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F5C14-27B7-44D3-8CD9-49A52BAC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B5E9C-45D9-469D-B0C4-8A3A7BC3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66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7FD8A-C43A-4C4B-A05A-B3735FB2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43050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732CB-2BD6-45AD-A0A3-6F3DC692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66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E24F5-84BE-4CF4-96B3-5A944909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43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A2B85-F59C-44D8-922F-9F5BAC3E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66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CAA24-5087-477E-BD5E-8282259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4305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1091B-1032-4169-B1F5-38CE2B0E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5D0E8-F2D0-49EC-8785-34AE0B21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66C25-C2AC-4F82-AFB5-40C0223B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95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AC80D-BB9E-4F30-A456-0DEA2BEF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71700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98E24-903E-4806-803F-EB67B210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D60DC-93F5-4A86-BD25-63BBDC96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717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D41D3-860C-46E1-AE6C-CC1B2C95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7B937-E646-4A6C-863D-C4EED14C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7170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3C234-6F0E-4577-A0B9-04F2CDC7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69290-9A91-48D7-ADB1-56814079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6E00B-A193-4AAA-BAD3-0BD3EDA1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817E5-113A-454E-907B-51E4E56E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0350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84490A-1BD4-4833-8B27-7E9A490F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C9DEB-F471-4042-ACB2-1469D92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03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CFCDA9-9EDA-4116-8959-886AD3C2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352887-843E-4BB4-A7F1-8ABC7EE6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8C5AD3-55E3-42FF-8B9E-F4749110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11A9F8-3420-4C1B-A0FB-074395A7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9D6A80-C47C-4279-AF80-57F81F52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528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ED7895-8299-4447-A7D7-C903F844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29000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9C7B64-FB81-478E-BD14-EA089D72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528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8826B3-9635-4D96-A50D-178B3AC4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Governance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8A541B-0C6C-45BD-990D-F1F083AF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A1C5F8-B584-44F7-91D0-AF158D54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board approves.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8C6E88-AF49-41C3-AF1D-AAFE5378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AF6426-F0C4-4009-A72F-2DA74DEC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1013D5-7785-42A5-BD0A-AE0A8A44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814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C8E857-D234-4192-85DE-0C5598FF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57650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F0261E-DCA6-4BE4-8A95-CEA88C6A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814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E9ABBB-7757-4446-91B5-5CC5C958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IAM + Platform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8E0666-C1D2-4AC1-84A3-A44519F2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814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511904-5C30-4553-A84C-581D2157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5765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2D074F-9BB1-4682-B207-26BABFE6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81128D-FF32-4597-9B51-409C0FC0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27C019-3414-441F-9C65-15C4FDF3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101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0139C0-6AAF-4489-A93D-02948D19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F152F1-7B77-4374-A06F-5CDD7360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101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50B0A0-5787-4761-8312-5BD3D4BD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863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SRE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2A01EE-6C43-4DAE-8A0D-A19FE871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101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6A63A4-03E0-49D5-AD6A-4D42D37E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8630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handles partner issues.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9C024C-1332-4A01-B83F-D2D359FE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73B36E-0DF4-4F7E-95AB-598622A9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model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6ED3EC-4E3A-452F-99F2-81138BB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38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DE6E8C-5779-4556-B52A-F252C50E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14950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 across platform, support, infra, security, governance.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F638FC-14C6-4E02-8A59-7AEC355A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38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49262C-8613-4ADA-9C85-928462E5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149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To finalize in Miro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19A6D3-ED89-4F95-B8CE-BF1C7CA0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38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597571-8501-4EF8-99C0-600470FB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1495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9A6784-34B3-483C-B797-183503F9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Principle: automate the evidence, but keep accountable people visible for approvals, exceptions, and operational ownership.</a:t>
            </a:r>
          </a:p>
        </p:txBody>
      </p:sp>
    </p:spTree>
    <p:extLst>
      <p:ext uri="{BB962C8B-B14F-4D97-AF65-F5344CB8AC3E}">
        <p14:creationId xmlns:p14="http://schemas.microsoft.com/office/powerpoint/2010/main" val="1335249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16B6FC-ACEB-4F56-B3AF-A88CC236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CI/CD and Change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63ADD-985F-412F-84BA-4F11925E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GitHub once the in-house code path is approved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42759-8F31-4F3F-852A-291D554E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0AFE1-EC95-44AB-AD65-FF418F1E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30DFA-6710-47A1-AB28-0721DF6F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C7820-5956-4E2F-8FC1-59B1C939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5430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C5684-65B5-40FD-8F2C-6B2CF0C9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63730-01BB-4E4D-9593-306DEA05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Change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42F8D-7128-42E4-9E07-2C1141AD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16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Business reason, risk,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EC188-9685-4C41-BF01-6AC78389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050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C269B-E415-411F-91C6-4BBFB701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752600"/>
            <a:ext cx="15430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C4303-BE72-45A2-8EFC-77F6E050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7526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3CFC0-2CA7-4EFF-B76A-777E7F30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9240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GitHub PR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CC5F3-5352-4DE9-8437-113329D5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305050"/>
            <a:ext cx="116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Peer review and traceability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7D149-9135-42BB-8FB4-60B1F147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3050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011C4-6291-439A-A085-0F66D22D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15430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D470F-8C7F-4FDD-BE87-48127A7E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71E54-CC96-41BA-A50B-A3A5B53B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Automated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B3099-5B34-4E70-B63A-B2622797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116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Tests, lint, build, API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7068D-A60F-49A2-8399-21C478DF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050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99D94-DC51-4AF7-A1D3-8BAA2E5E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52600"/>
            <a:ext cx="15430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4A6E9-340E-4EF7-8760-5603C5C3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526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49612-E39A-4A68-87D4-CE63EFF6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240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layer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EC353-58DA-47B1-ABA6-3CC572FD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05050"/>
            <a:ext cx="116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GitHub security, dependency and secret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ABC80F-48AE-4470-94F2-E57EE3E7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3050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B9D94F-2F15-4A32-BE4E-788396E4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15430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3FB50-F564-4B65-9D91-A36D4E4F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3B5D68-7694-4BB3-ACEA-14722EC1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7EC0EF-A7F1-432B-BED2-14EFEE6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116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Product, engineering, IT security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192868-D551-430E-A9D5-B29B233B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050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AE7DF7-3DC9-4368-854A-EA8AA198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752600"/>
            <a:ext cx="15430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F404A8-CA57-4221-9CB3-73CF4FD3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7526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94A129-0547-4A23-AB96-2401BAD0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9240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4CCF6F-424A-4CD5-B8EB-2CD38F28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305050"/>
            <a:ext cx="116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Deploy with rollback plan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B04665-9951-472E-9806-3EAB375F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857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2F5F77-8FD4-4649-B3CE-80D997CE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F99993-7F6F-45AF-B7A5-2D276B99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Why GitHub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E3CCD8-5D69-45A3-90D9-E99320AA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place for code review, CI/CD evidence, security alerts, and release traceability.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0FD4D4-ACA3-4DEC-9F8D-11FA2245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0950"/>
            <a:ext cx="2857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69F422-257C-41B2-81AB-57C504DF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09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4DB773-3DF5-4166-AFF2-CD70A171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5863E-91FE-4011-A6C4-D6EBFFFA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434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Secret scanning, dependency alerts, SAST/container checks, and approvals before deployment.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D102AE-E58E-4864-8714-5D8D762A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2857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467E90-0C7A-48A6-985A-B5F60B14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437B71-95E6-43E9-B988-55BFAB88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gate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0B3827-B314-4DCE-AF61-8816160E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434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person still approves risk acceptance, production promotion, and emergency changes.</a:t>
            </a:r>
          </a:p>
        </p:txBody>
      </p:sp>
    </p:spTree>
    <p:extLst>
      <p:ext uri="{BB962C8B-B14F-4D97-AF65-F5344CB8AC3E}">
        <p14:creationId xmlns:p14="http://schemas.microsoft.com/office/powerpoint/2010/main" val="19070349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32870C-DC8D-48B0-B7CC-E9D0D071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and Access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B2F57-115E-494F-B3F4-5DD8CC30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group standards and bank IT Security support from the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282F5-47A2-4171-B99F-EA864268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66170-8593-45F6-AC5B-4C8F6263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B9F29-1569-4368-AD7B-CD995C47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44F11-AD7F-4286-90EC-C9131EAD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952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ACDEC-F997-4422-A157-0BC3BC31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4E533-A48E-4F30-ACF2-3ED7A76B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52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3A350-3940-4FEF-AAF6-9E9B5AB4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 for users and groups.</a:t>
            </a:r>
          </a:p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Role-based access by function.</a:t>
            </a:r>
          </a:p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Joiner/mover/leaver process.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5F840-699F-4CAE-A077-82014886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81150"/>
            <a:ext cx="2952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B5E9C-3FE2-4D92-8391-CBE5AF05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811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3AB02-28AF-458A-BF11-5A5C99E3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52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Audit and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81B04-AF81-4F60-B05A-D0DCD4AE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33600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Every approval, exception, data change, and access event should produce searchable audit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750F3-9D1B-4031-BF61-91B2C5DA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81150"/>
            <a:ext cx="2952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B0254-8B00-4D8C-95A7-FA4634E4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811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CC2D0-5A74-439D-9B71-20DB1E8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Group 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1A641-241E-479E-91E7-058E61C2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/ group IT Security supports standards, review gates, access model, and production readiness.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E577B-B667-4392-9E46-67F6A63E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E8481-90F3-4765-8D95-32B72DA7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B2245-5F93-42DF-9E70-50C3C42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24518-8E79-4B9E-8E24-5689BC6F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814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DCAA1-AE84-4682-9033-C21DD2D0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89C26-4060-4F81-8AE8-5E3A1FD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5C319-A836-46E0-A13A-9FBA6DD1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6AD89-BE66-45CD-B3E4-DB3A11AF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CA1A11-9007-4695-9664-0DD9AC38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1B1108-563C-4BEC-A140-B430E714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Bhawana defines roles and Entra integration.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F81DBA-7A12-49AF-B898-6970AD5C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38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E44B52-549C-46A5-B06C-816CDA0B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must support SSO/RBAC requirements.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9BE9F5-7BF9-4921-8734-85A6BEEE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F2FB5-31EB-4B15-A382-8BCAAE70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B805F6-BCA6-40C8-B218-C86EC3AA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6CCF4D-88E6-4E36-8902-088F4B92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482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Native platform logs and reporting evidence.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6FB6A5-CA2D-49F5-A9C4-3B6B557B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5F64DD-DC9B-4DCA-80A5-4AA6E7AE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 export must be tested.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26972D-1F54-491C-9136-D401DCB3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054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911CD6-F4E1-4459-AC9B-B3ABE2DF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81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1AEE16-26E7-4490-98FC-18CD2564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054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2C700-1DDB-426A-A187-0E6A82BF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816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Code and infra reviewed internally.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5CDEBD-4A53-4276-BA14-8788DEAF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054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D415C6-0CA1-4A2F-8C58-7FC271DE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816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audit, penetration test, and contract review.</a:t>
            </a:r>
          </a:p>
        </p:txBody>
      </p:sp>
    </p:spTree>
    <p:extLst>
      <p:ext uri="{BB962C8B-B14F-4D97-AF65-F5344CB8AC3E}">
        <p14:creationId xmlns:p14="http://schemas.microsoft.com/office/powerpoint/2010/main" val="1408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6749D3-CB81-4BBD-816A-BBF2D70E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Platform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C089B-71E3-4EBB-8EBE-E7F004CE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platform modules, connections, data stores, integrations, and what the platform provides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54E8E-8B84-4813-8129-E10AA3EC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B2E48-4EA0-4B0D-8F47-1923B960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4F5A4-2595-48EF-B753-3DE4207F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a08e8de2541eb"/>
          <a:stretch xmlns:a="http://schemas.openxmlformats.org/drawingml/2006/main"/>
        </p:blipFill>
        <p:spPr>
          <a:xfrm xmlns:a="http://schemas.openxmlformats.org/drawingml/2006/main">
            <a:off x="428625" y="1318165"/>
            <a:ext cx="11334750" cy="49646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89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FE4B91-D30F-4BDC-A10B-154879FA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561EC-6FFC-430A-8D78-571BDD50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B0217-D92B-4A05-97D4-D40E39EA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60B65-3329-4444-8DAD-C7E085C6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AA850-0E6D-4DF7-9AAA-FEA154E2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B2758-C9F4-44A6-8F1F-3B741C24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31432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80DB3-82BA-4EC9-A29B-5BEBB723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35F5C-A4DD-4F1C-9D80-E73F3ABE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428EF-E6BD-4BA7-8C11-40196CC5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66ECC-4CCF-4304-91CF-D45629E5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24000"/>
            <a:ext cx="31432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D7888-6F35-4BEB-A381-ED66061B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240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F72ED-6906-4FC0-8723-425485C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95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90BAE-4AEB-454B-9A0A-91879BB8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9CC54-0F5E-45FF-AF53-D8F68DDA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1432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7A030-49AF-4216-9E83-27E85992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0A371-E021-4AAA-A9C3-C2A8CC0F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300EE-583E-404B-B3E3-62CA1D3F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4807F-680D-4D4A-BCD1-CC2BA7CC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7FB99-CC85-4D08-89FE-B46C2CB8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E6617-B8EC-45EC-BD41-8BFABD63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CECBD-CEA0-486F-96CF-0D35BFCE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67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4DE05-E8C2-407E-A3C1-72B6B6BC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C22A4-C7BA-4DD2-80ED-A2B79097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45825-232D-4C32-8DD4-039C0F56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9A5E8E-CB89-4C77-9A4B-0BC520BA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30A100-B87B-478A-ABC9-AE1426E4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43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D89C04-15F1-4EF5-9171-3952719E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19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9B8AF-6CAB-40A2-AD8C-B38DBA5B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0F38AD-FBB5-47AE-9CE8-5DEC0B18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6B1598-6F5E-4A34-B6CF-11C34A99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607130-C53D-4D5B-B12B-80F01AC1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6D1DC9-3280-4E01-BD44-942F5D6B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95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62A1EB-FB0F-4372-AE7F-0ED004AF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41088-AE86-42BE-9840-133A963D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95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093310-FC04-4822-9518-4378CE30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72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32FB3E-C9A8-4DF5-A89E-509B1683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483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0B8166-71F8-4BBD-871A-19F9E6EA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331871-FE5B-4E63-8D4D-ADCD4611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48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63DD1A-9941-49AB-BC9D-39063589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5245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627F21-E003-430F-BCAB-2DBEF21B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8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145B35-0552-461E-8203-DF29ED5F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90671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C5B1C-77B6-4EEF-9FE4-79FC252B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045E0-1113-4803-B502-4F4E2ED0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54604-5D9D-421F-8619-F46CE12F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668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91E14-EBDC-421B-8927-FAE92922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43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ECB02-DB85-4AEE-8C5A-00A53FC7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668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DA8CE-6AE4-4A34-A5EA-758C6C77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430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B0645-1D32-4536-962A-B9D69035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64654-D169-4EFF-8840-F96143E1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430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430C6-9BEA-4826-A283-978728A1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19D98-1DEB-4B63-83FC-35153EF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81CA7-46B0-4FBD-A9EF-7FA051F9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574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4D270-44BA-4659-90EC-CE11D414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336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3D9AA-B779-46FA-8DBF-EBA1E13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574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FF11C-5EF4-4EE0-8648-95C45B14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336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97273-1F10-47BA-9875-7CD4DD41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BB6A0-E05B-4CFC-9CD3-0D2D224E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7F464-7A41-4EBC-932C-6F4D2087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EE3615-A279-4CFB-A98B-8D8CBEA7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306AE-7607-449F-A67C-6E2EA9B4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479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AA8D5-34A1-4EB0-B99C-A5578E7E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24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F65C3D-91C8-4794-99F8-DF1C9CDE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479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393488-F2B0-4078-9EB7-E8C1DAC5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B2F46-291A-4545-AB68-5EB17A46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B4E398-F3C9-43B9-AF6E-4F5EEB08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4DFE5C-0888-4699-A676-84807081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F7D5C4-718E-4064-96E1-2A81052E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F42C93-6845-4D87-81A6-6B34A8B8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385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F466FE-51E7-4E8F-B11D-55A8DB10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147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A80191-0E99-4B6A-B7A8-B0AD5A73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385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1D1543-822C-4E45-B875-69E632EF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14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2D1D82-9228-414A-BEED-FEB62C07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385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341C80-D1C7-4CE7-BCF9-CD092DE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E9DFF9-038A-4AEC-8D70-1F8B9CB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A50B5B-1DDA-45C4-9283-BF50DDB1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515638-6FDA-4705-AB33-2948D576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290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A2FC31-647A-441B-92DC-2776E3C6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052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77BE94-BC5F-4F26-8BDE-CE41EA12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290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D82EF7-3960-4A71-98E7-308ACF4A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052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1CC2F5-00D7-4F79-A1C5-EC110FEC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B8FDB1-C056-4ED2-89C7-B5DACA01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110203-3118-4280-BF7D-F0BF4488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D1A511-810E-4B4A-8909-1705B7AF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407415-2280-4CC1-98D3-F702E5F1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96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ABFBA9-CCCC-46A6-9B75-8925404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958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7D9A43-9BC5-4DD4-BFC0-FACC8F7D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196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F79A84-4DE1-4EBC-8B08-FF01B299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958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394EC7-672D-46F2-9B1D-2F0E2462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96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21C220-E711-4BB7-9FF1-EBC6AED2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95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BBB16B-C130-4A09-B708-192DFD84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86F977-741E-4330-B85D-0C13A5A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7601B3-1166-42CB-BFCD-28BB4445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101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244D34-F0FD-4CE7-9DF5-ACA238EC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863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EC21AB-B77E-45B5-BFBF-6D43CC30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101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6F6A81-4ACC-4C66-AC03-648186B2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863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AEA024-5B64-46D9-B322-81DC52E1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F3D6EA-B715-43D8-B8EF-E753B4AA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863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81700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1283439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1B1C3A-6E09-4916-AD0C-216CA087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Build Option: Gated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3BACB-E287-4D3F-9386-B910485D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current prototype is the starting evidence, not the production end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48A72-23F9-4D13-B61F-FFDA1E5A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AA234-4F12-4B76-BC55-1045B366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9E50A-0F5C-4DEA-89BD-9A4B1584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2C6D3-C00C-482E-90C9-65E3B1B1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990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C805E-5BE0-487B-8223-64D329C1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ED05D-AC65-4DEE-823A-D4EE9065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908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D28BE-6576-4DCE-A85F-2541AA7A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2479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8A6C0-E9EC-4118-8BC4-266D36D1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7E346-C67A-453A-8BDA-7463C888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0-1 month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0815A-E889-48E7-B58E-7FA926DA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Decision and scope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owner, target process, LSP value case.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E23C3-7C62-4C53-9259-EB016B32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DC570-CF2C-4CEA-94B8-DE37F524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908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81FBA-3469-4DF0-9541-9D7559C2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22479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041F8-E225-438A-A4EB-B5C90C26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9A4B5-6F48-49B6-9DB7-224CA3FF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909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1-3 months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44522-9607-4350-B0A6-9FC158E4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719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MVP hardening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Azure, Entra ID, audit, GitHub CI/CD, SDLC.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3D934-3079-4951-9348-5A4BFEC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ADCD2-FBA0-4465-B4DC-447C31EA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908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7D92D-EFD3-440B-B588-D65C72EB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22479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ADDE7-74AE-41F2-8B2B-EB3EBC29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B0F56-125E-4553-B805-9C7167A6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3-5 months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95636-FDF0-49D9-9CFC-8A1D731F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or two LSPs, manual exception flow, reporting.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24DF0-C6C4-4A18-BAA3-A4BE8051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3F4E32-9F9B-4116-AA4F-EB60879D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908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E70C1B-AB79-4814-BF21-4E0B87D1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19500"/>
            <a:ext cx="22479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6A44F7-ED09-48A3-9AAB-D03FA214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19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8EB8FF-44AB-412B-93EC-F87D4C4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5-8 months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C7B919-4AA8-4AED-9A89-7771B288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719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Scale readiness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Monitoring, DR, performance, Databricks DWH.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A27096-8982-4777-AAEE-81881284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390650"/>
            <a:ext cx="3905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38BD7-2949-48BB-B228-86DB5F95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3906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016C95-59B2-4FDE-AE19-80A13557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62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Hard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A4104D-C0B3-41C6-8E36-B4A86825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431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LSP migration until ownership, security, audit, infra, and manual exception operations are proven.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440D12-C601-42B9-99E1-3CC44380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3905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B173C9-605E-42AA-A98F-FADEC45F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CAAB8-A612-43C1-BACD-6457ABE8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62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value proof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56768D-A1BA-428B-8370-8F42EAFB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 must prove the platform is easier for LSPs than email and manual follow-up.</a:t>
            </a:r>
          </a:p>
        </p:txBody>
      </p:sp>
    </p:spTree>
    <p:extLst>
      <p:ext uri="{BB962C8B-B14F-4D97-AF65-F5344CB8AC3E}">
        <p14:creationId xmlns:p14="http://schemas.microsoft.com/office/powerpoint/2010/main" val="1863723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EAC66B-8997-49FE-B895-5A4D8496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E923D-4641-4C9B-A670-AC65112E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82006-EDDD-438D-99FD-91D3A2CF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87547-D9F9-4FCE-B7B0-E44B29E8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8B112-8CEE-4758-9BD9-CF037992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EBD9A-9F9E-4908-839D-4EE9CAD2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381250" cy="1600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C159C-4EAA-4668-AF20-76D395B7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6FB16-C29C-47BF-9D76-970F4675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41E81-AD55-4FE4-B1D7-14CDA7E0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9B62E-8F0D-4C59-8BC5-267F8BE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04950"/>
            <a:ext cx="2381250" cy="1600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335DA-9CCA-4CB9-AD62-D3D3CD1A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0495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9DE6F-2A38-4443-BCED-9D66D565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D845E-3D2D-4A5D-91FC-F2BAF99F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57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05187-59DA-4AD6-AC09-32A1BBFE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2381250" cy="1600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6B1A7-475B-4284-A789-E321DD49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FC038-FB9F-40B6-A316-18B010E6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BEBBF-CF48-48B1-A688-8489DC83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451F3-D4E3-4CC2-A9A2-7AADAA1E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04950"/>
            <a:ext cx="2381250" cy="1600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D48CB-AF46-4410-B7A5-61A90B0C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0495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F63F7-65CC-49E4-945E-7CEFB137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20F02-CBE6-4DC6-9EAC-56200D2B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57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8D00C-E33C-4C51-8E54-9185DCAD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4ACD2-BFAE-4570-92B7-CAA6EFFF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99D79-5F0B-4D81-9888-406BB3AE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D4CB6-680D-47B5-93D7-EE15F83E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2BD329-7818-4FB6-B068-243777C9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AFCE2-8A69-494D-AEB5-ED3E0BA9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62A3DF-392D-4833-8469-C2A93BC6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A76273-5522-4C97-90A9-016DA5C4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A62224-EE4E-4844-B54F-BDB9E4D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A60A94-CEA1-404E-8EF2-7570EA2B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FCF70-37C3-4BFD-9F07-70BA207C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57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B71DF-E980-4609-BA7A-ED4A7BD1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339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892DEA-4B67-45DA-99A9-45EB3DD5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01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406299-F724-4BB8-90E3-9B979366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8CB2C3-19A7-4E84-9899-D0ABAE84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1E0309-9647-4360-BCBB-109E35BA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863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9B6643-5879-4FB1-8CF4-17086FB2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B55230-52E5-4934-BA23-8909D673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86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C71FA1-065E-487C-B602-0F606480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6260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5F46CE-E412-40F1-9C4B-FD8A69C8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388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BEBE9C-14B8-4BD5-8477-24FBB630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62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4D4B8B-55F7-4C27-8411-881E2B32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388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5E047F-D8CC-4C65-A596-ED3B815D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62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064AED-17DC-48AD-95BA-62978C7D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38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655496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2026-06-25T05:59:16.7170000Z</dcterms:created>
  <dcterms:modified xsi:type="dcterms:W3CDTF">2026-06-25T05:59:16.7170000Z</dcterms:modified>
</coreProperties>
</file>