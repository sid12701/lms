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8598BC0-C3E3-422F-A7F7-586A1278B74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80BDB-ED39-4BE0-918F-84F5A3DF89A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14EA57-8BBF-4BBB-B758-1D1C6BADC511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542E6-0529-4FCF-ABC0-421A0DCFAC62}"/>
              </a:ext>
            </a:extLst>
          </p:cNvPr>
          <p:cNvSpPr>
            <a:spLocks noGrp="1"/>
          </p:cNvSpPr>
          <p:nvPr/>
        </p:nvSpPr>
        <p:spPr>
          <a:xfrm>
            <a:off x="7877175" y="301942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0BF8FA-5DF4-4BC5-B0AA-677710FC92F1}"/>
              </a:ext>
            </a:extLst>
          </p:cNvPr>
          <p:cNvSpPr>
            <a:spLocks noGrp="1"/>
          </p:cNvSpPr>
          <p:nvPr/>
        </p:nvSpPr>
        <p:spPr>
          <a:xfrm>
            <a:off x="7877175" y="3019425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57C1BC-780D-4866-87BD-2419BF9C738E}"/>
              </a:ext>
            </a:extLst>
          </p:cNvPr>
          <p:cNvSpPr>
            <a:spLocks noGrp="1"/>
          </p:cNvSpPr>
          <p:nvPr/>
        </p:nvSpPr>
        <p:spPr>
          <a:xfrm>
            <a:off x="8026810" y="31432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8D8AC-440E-46A3-B2A3-DB3CADA6488F}"/>
              </a:ext>
            </a:extLst>
          </p:cNvPr>
          <p:cNvSpPr>
            <a:spLocks noGrp="1"/>
          </p:cNvSpPr>
          <p:nvPr/>
        </p:nvSpPr>
        <p:spPr>
          <a:xfrm>
            <a:off x="8026810" y="355282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12B2CF-3015-4409-AFE3-FABE2F6CADC5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9784C0-8248-4DE0-9E72-5749497780B9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16F48C-9653-42AD-92A7-1EC359E7580A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CCC48E-1884-4710-BF22-CDC19436DE9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3EFD05-0886-4B89-8234-FA0490900F0A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43A0E8-F89C-432A-BC4A-063BA644BEB4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3178F9-1AA7-466A-991D-43384E50A794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4FCFAE-7CE7-499F-934F-35CB771A3524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44BE09-6EB4-4360-A249-C5F942C75A84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1411143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5B72F44-D8AE-46F6-8C4E-75816E333D9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Shape: Good and Bad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4E0259-62FC-4255-AA98-E2E6D8AB771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GCP automated email validation is useful, but it is not the target scalable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72C014-138E-4AFA-BD3D-3E4CCC11FC1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087744-529F-43F5-887D-3F7B4D5145C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C72A3-BA09-4678-B682-F7DAAB7344E2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27669B-C5D4-4A46-9210-2C860452D376}"/>
              </a:ext>
            </a:extLst>
          </p:cNvPr>
          <p:cNvSpPr>
            <a:spLocks noGrp="1"/>
          </p:cNvSpPr>
          <p:nvPr/>
        </p:nvSpPr>
        <p:spPr>
          <a:xfrm>
            <a:off x="666750" y="1695449"/>
            <a:ext cx="1809750" cy="1228725"/>
          </a:xfrm>
          <a:prstGeom prst="roundRect">
            <a:avLst>
              <a:gd name="adj" fmla="val 8197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C9F2A-C81B-473B-A910-07E51BBE818D}"/>
              </a:ext>
            </a:extLst>
          </p:cNvPr>
          <p:cNvSpPr>
            <a:spLocks noGrp="1"/>
          </p:cNvSpPr>
          <p:nvPr/>
        </p:nvSpPr>
        <p:spPr>
          <a:xfrm>
            <a:off x="666750" y="1728786"/>
            <a:ext cx="57150" cy="11620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D3DA6C-BF84-40E7-92B8-B3317A611056}"/>
              </a:ext>
            </a:extLst>
          </p:cNvPr>
          <p:cNvSpPr>
            <a:spLocks noGrp="1"/>
          </p:cNvSpPr>
          <p:nvPr/>
        </p:nvSpPr>
        <p:spPr>
          <a:xfrm>
            <a:off x="85725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1. Email data received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115D8-965D-4021-B257-FD493CAA478B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sends data through the current email-driven channel.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34DCC4A-A06B-452F-9366-98CE7820E00A}"/>
              </a:ext>
            </a:extLst>
          </p:cNvPr>
          <p:cNvSpPr>
            <a:spLocks noGrp="1"/>
          </p:cNvSpPr>
          <p:nvPr/>
        </p:nvSpPr>
        <p:spPr>
          <a:xfrm>
            <a:off x="2542868" y="2181225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E73A71-D50F-49CB-902A-77EBA5BD7076}"/>
              </a:ext>
            </a:extLst>
          </p:cNvPr>
          <p:cNvSpPr>
            <a:spLocks noGrp="1"/>
          </p:cNvSpPr>
          <p:nvPr/>
        </p:nvSpPr>
        <p:spPr>
          <a:xfrm>
            <a:off x="2857500" y="1695450"/>
            <a:ext cx="180975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23C73-1E67-4FDD-9B9F-1BC6A44821BC}"/>
              </a:ext>
            </a:extLst>
          </p:cNvPr>
          <p:cNvSpPr>
            <a:spLocks noGrp="1"/>
          </p:cNvSpPr>
          <p:nvPr/>
        </p:nvSpPr>
        <p:spPr>
          <a:xfrm>
            <a:off x="2857500" y="1695450"/>
            <a:ext cx="57150" cy="116205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4DED1F-8D18-440D-99BE-E0CA8EDCBA9B}"/>
              </a:ext>
            </a:extLst>
          </p:cNvPr>
          <p:cNvSpPr>
            <a:spLocks noGrp="1"/>
          </p:cNvSpPr>
          <p:nvPr/>
        </p:nvSpPr>
        <p:spPr>
          <a:xfrm>
            <a:off x="304800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2. GCP script validates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226053-A685-40BA-8080-D899036DEFF1}"/>
              </a:ext>
            </a:extLst>
          </p:cNvPr>
          <p:cNvSpPr>
            <a:spLocks noGrp="1"/>
          </p:cNvSpPr>
          <p:nvPr/>
        </p:nvSpPr>
        <p:spPr>
          <a:xfrm>
            <a:off x="304800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the submitted email data.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F864379-B4F9-40C0-9221-4ACCBE0609AE}"/>
              </a:ext>
            </a:extLst>
          </p:cNvPr>
          <p:cNvSpPr>
            <a:spLocks noGrp="1"/>
          </p:cNvSpPr>
          <p:nvPr/>
        </p:nvSpPr>
        <p:spPr>
          <a:xfrm>
            <a:off x="4724400" y="2195511"/>
            <a:ext cx="323850" cy="228600"/>
          </a:xfrm>
          <a:prstGeom prst="rightArrow">
            <a:avLst/>
          </a:prstGeom>
          <a:solidFill>
            <a:srgbClr val="16A3B8"/>
          </a:solidFill>
          <a:ln w="0">
            <a:solidFill>
              <a:srgbClr val="16A3B8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75B53C-41DD-482D-BE59-8C6711A44668}"/>
              </a:ext>
            </a:extLst>
          </p:cNvPr>
          <p:cNvSpPr>
            <a:spLocks noGrp="1"/>
          </p:cNvSpPr>
          <p:nvPr/>
        </p:nvSpPr>
        <p:spPr>
          <a:xfrm>
            <a:off x="5048250" y="1695450"/>
            <a:ext cx="180975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51E81C-6086-4890-8C14-E8423A334F7F}"/>
              </a:ext>
            </a:extLst>
          </p:cNvPr>
          <p:cNvSpPr>
            <a:spLocks noGrp="1"/>
          </p:cNvSpPr>
          <p:nvPr/>
        </p:nvSpPr>
        <p:spPr>
          <a:xfrm>
            <a:off x="5048250" y="1695450"/>
            <a:ext cx="57150" cy="11620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8E4DA-4DF9-4528-8B24-F790BEDC000A}"/>
              </a:ext>
            </a:extLst>
          </p:cNvPr>
          <p:cNvSpPr>
            <a:spLocks noGrp="1"/>
          </p:cNvSpPr>
          <p:nvPr/>
        </p:nvSpPr>
        <p:spPr>
          <a:xfrm>
            <a:off x="523875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3. Approval email sent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86DBB8-8DF4-4B49-9981-B12331906DC9}"/>
              </a:ext>
            </a:extLst>
          </p:cNvPr>
          <p:cNvSpPr>
            <a:spLocks noGrp="1"/>
          </p:cNvSpPr>
          <p:nvPr/>
        </p:nvSpPr>
        <p:spPr>
          <a:xfrm>
            <a:off x="523875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goes back to the LSP by email.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3BAEA44-F5E2-4AE2-8317-C8D00E7021AC}"/>
              </a:ext>
            </a:extLst>
          </p:cNvPr>
          <p:cNvSpPr>
            <a:spLocks noGrp="1"/>
          </p:cNvSpPr>
          <p:nvPr/>
        </p:nvSpPr>
        <p:spPr>
          <a:xfrm>
            <a:off x="6934200" y="2152650"/>
            <a:ext cx="3238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27245D-2C8E-439C-B23E-B1E380CDC276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1809750" cy="1162050"/>
          </a:xfrm>
          <a:prstGeom prst="roundRect">
            <a:avLst>
              <a:gd name="adj" fmla="val 8197"/>
            </a:avLst>
          </a:prstGeom>
          <a:solidFill>
            <a:srgbClr val="ECFDF3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B660C3-7821-42A7-89AE-5D5A598B2FE5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57150" cy="11620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ACA511-2F3C-47F0-B4C9-C403E3F10C2D}"/>
              </a:ext>
            </a:extLst>
          </p:cNvPr>
          <p:cNvSpPr>
            <a:spLocks noGrp="1"/>
          </p:cNvSpPr>
          <p:nvPr/>
        </p:nvSpPr>
        <p:spPr>
          <a:xfrm>
            <a:off x="742950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4. LSP disburses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4588C2-AF31-40F2-9A44-377A98C501B8}"/>
              </a:ext>
            </a:extLst>
          </p:cNvPr>
          <p:cNvSpPr>
            <a:spLocks noGrp="1"/>
          </p:cNvSpPr>
          <p:nvPr/>
        </p:nvSpPr>
        <p:spPr>
          <a:xfrm>
            <a:off x="742950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movement remains through the LSP's own channel.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4A4E258-43B2-496E-AB1F-F4FFAB15F993}"/>
              </a:ext>
            </a:extLst>
          </p:cNvPr>
          <p:cNvSpPr>
            <a:spLocks noGrp="1"/>
          </p:cNvSpPr>
          <p:nvPr/>
        </p:nvSpPr>
        <p:spPr>
          <a:xfrm>
            <a:off x="9124950" y="2152650"/>
            <a:ext cx="323850" cy="228600"/>
          </a:xfrm>
          <a:prstGeom prst="rightArrow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40264BF-FF0A-4E05-8D21-9C81B28E69AC}"/>
              </a:ext>
            </a:extLst>
          </p:cNvPr>
          <p:cNvSpPr>
            <a:spLocks noGrp="1"/>
          </p:cNvSpPr>
          <p:nvPr/>
        </p:nvSpPr>
        <p:spPr>
          <a:xfrm>
            <a:off x="9429750" y="1695450"/>
            <a:ext cx="180975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F79F45-72A1-4EED-A05F-C5D5702FE306}"/>
              </a:ext>
            </a:extLst>
          </p:cNvPr>
          <p:cNvSpPr>
            <a:spLocks noGrp="1"/>
          </p:cNvSpPr>
          <p:nvPr/>
        </p:nvSpPr>
        <p:spPr>
          <a:xfrm>
            <a:off x="9429750" y="1695450"/>
            <a:ext cx="57150" cy="11620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FE5359-3F1C-49F5-AD52-E516D1EAE0B7}"/>
              </a:ext>
            </a:extLst>
          </p:cNvPr>
          <p:cNvSpPr>
            <a:spLocks noGrp="1"/>
          </p:cNvSpPr>
          <p:nvPr/>
        </p:nvSpPr>
        <p:spPr>
          <a:xfrm>
            <a:off x="962025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5. </a:t>
            </a:r>
            <a:r>
              <a:rPr sz="1275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PG DB stores approval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059DE7-51FF-4160-97FB-B9EC1BD4AC53}"/>
              </a:ext>
            </a:extLst>
          </p:cNvPr>
          <p:cNvSpPr>
            <a:spLocks noGrp="1"/>
          </p:cNvSpPr>
          <p:nvPr/>
        </p:nvSpPr>
        <p:spPr>
          <a:xfrm>
            <a:off x="962025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records are stored for reference and control.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F7E0832-39EA-4F44-9BED-0660AA493943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3143250" cy="1809750"/>
          </a:xfrm>
          <a:prstGeom prst="roundRect">
            <a:avLst>
              <a:gd name="adj" fmla="val 5263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44F1B7-0044-4380-85AF-DFCA8A6DE5B7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57150" cy="18097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1A4716-253F-417E-89AE-646CAA8501E8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is good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D04E43-AC78-4294-8970-4E0041659F1A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27622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 cost to prove the concept.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 to change while the process evolves.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disbursement in the LSP channel.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Creates a basic approval record in PostgreSQL.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080CC7B-8992-4586-B658-89C5506351DA}"/>
              </a:ext>
            </a:extLst>
          </p:cNvPr>
          <p:cNvSpPr>
            <a:spLocks noGrp="1"/>
          </p:cNvSpPr>
          <p:nvPr/>
        </p:nvSpPr>
        <p:spPr>
          <a:xfrm>
            <a:off x="4495800" y="3676650"/>
            <a:ext cx="3143250" cy="1809750"/>
          </a:xfrm>
          <a:prstGeom prst="roundRect">
            <a:avLst>
              <a:gd name="adj" fmla="val 5263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FC8507-26CC-4A77-997D-6FBBEE5F50D4}"/>
              </a:ext>
            </a:extLst>
          </p:cNvPr>
          <p:cNvSpPr>
            <a:spLocks noGrp="1"/>
          </p:cNvSpPr>
          <p:nvPr/>
        </p:nvSpPr>
        <p:spPr>
          <a:xfrm>
            <a:off x="4495800" y="3676650"/>
            <a:ext cx="57150" cy="18097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6ADF3D-B963-48A0-8CE6-6B71ADB4A1EF}"/>
              </a:ext>
            </a:extLst>
          </p:cNvPr>
          <p:cNvSpPr>
            <a:spLocks noGrp="1"/>
          </p:cNvSpPr>
          <p:nvPr/>
        </p:nvSpPr>
        <p:spPr>
          <a:xfrm>
            <a:off x="4686300" y="3848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is not ideal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B6C827-1062-4575-982C-4EC885EDE7CB}"/>
              </a:ext>
            </a:extLst>
          </p:cNvPr>
          <p:cNvSpPr>
            <a:spLocks noGrp="1"/>
          </p:cNvSpPr>
          <p:nvPr/>
        </p:nvSpPr>
        <p:spPr>
          <a:xfrm>
            <a:off x="4686300" y="4229100"/>
            <a:ext cx="27622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strong control surface.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review is still needed.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Audit, access, and change management are limited.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Many LSPs will create operational drag.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9D3FEF1-A958-42C2-93D6-C4AA819EC80A}"/>
              </a:ext>
            </a:extLst>
          </p:cNvPr>
          <p:cNvSpPr>
            <a:spLocks noGrp="1"/>
          </p:cNvSpPr>
          <p:nvPr/>
        </p:nvSpPr>
        <p:spPr>
          <a:xfrm>
            <a:off x="8134350" y="3676650"/>
            <a:ext cx="3143250" cy="1809750"/>
          </a:xfrm>
          <a:prstGeom prst="roundRect">
            <a:avLst>
              <a:gd name="adj" fmla="val 5263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E9BED5-4052-4292-9A6C-AA406BA13138}"/>
              </a:ext>
            </a:extLst>
          </p:cNvPr>
          <p:cNvSpPr>
            <a:spLocks noGrp="1"/>
          </p:cNvSpPr>
          <p:nvPr/>
        </p:nvSpPr>
        <p:spPr>
          <a:xfrm>
            <a:off x="8134350" y="3676650"/>
            <a:ext cx="57150" cy="180975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857DDFF-02FF-4E7C-A9AF-0694B2FB695E}"/>
              </a:ext>
            </a:extLst>
          </p:cNvPr>
          <p:cNvSpPr>
            <a:spLocks noGrp="1"/>
          </p:cNvSpPr>
          <p:nvPr/>
        </p:nvSpPr>
        <p:spPr>
          <a:xfrm>
            <a:off x="8324850" y="3848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Why it will not scale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1B774B0-AE88-4979-A926-DDC638ED03B0}"/>
              </a:ext>
            </a:extLst>
          </p:cNvPr>
          <p:cNvSpPr>
            <a:spLocks noGrp="1"/>
          </p:cNvSpPr>
          <p:nvPr/>
        </p:nvSpPr>
        <p:spPr>
          <a:xfrm>
            <a:off x="8324850" y="4229100"/>
            <a:ext cx="27622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process depends on email, people, and ad hoc operations.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is harder to enforce SDLC, security, monitoring, and audit evidence.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does not yet improve the LSP daily experience.</a:t>
            </a:r>
          </a:p>
        </p:txBody>
      </p:sp>
    </p:spTree>
    <p:extLst>
      <p:ext uri="{BB962C8B-B14F-4D97-AF65-F5344CB8AC3E}">
        <p14:creationId xmlns:p14="http://schemas.microsoft.com/office/powerpoint/2010/main" val="209663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0B9369-7092-4C43-AB79-980F5F187FA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7AA073-7BF1-420D-8947-F6AB54F5DF2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6AE31D-6737-42F3-A7FD-68398C6A442F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0B3866-3475-41F8-865E-13053AF6065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90896E-E8D3-485A-A108-78BAFC98F6D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A4268C-FB78-48BA-AD9E-1C5BDB2C3A81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4953000" cy="2476500"/>
          </a:xfrm>
          <a:prstGeom prst="roundRect">
            <a:avLst>
              <a:gd name="adj" fmla="val 3846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872B8-B45E-4750-AB64-6D7817955D7E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57150" cy="2476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36E0E6-ABFD-49A4-A9AB-7D5CF93FC614}"/>
              </a:ext>
            </a:extLst>
          </p:cNvPr>
          <p:cNvSpPr>
            <a:spLocks noGrp="1"/>
          </p:cNvSpPr>
          <p:nvPr/>
        </p:nvSpPr>
        <p:spPr>
          <a:xfrm>
            <a:off x="971550" y="16954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A6E12B-2D46-476A-866C-97B73AA9D5BD}"/>
              </a:ext>
            </a:extLst>
          </p:cNvPr>
          <p:cNvSpPr>
            <a:spLocks noGrp="1"/>
          </p:cNvSpPr>
          <p:nvPr/>
        </p:nvSpPr>
        <p:spPr>
          <a:xfrm>
            <a:off x="971550" y="2076450"/>
            <a:ext cx="45720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 the current prototype as learning, then build an in-house platform.</a:t>
            </a:r>
          </a:p>
          <a:p>
            <a:endParaRPr sz="1275" b="0" dirty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Status: prototype implemented, but not scale-ready, not deployed, and no production infrastructure exists yet.</a:t>
            </a:r>
          </a:p>
          <a:p>
            <a:endParaRPr sz="1275" b="0" dirty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Best when: Bhawana wants long-term control over data, workflow, integrations, and group security standards.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9594E7-913F-448A-AC3D-7F116F0E2A12}"/>
              </a:ext>
            </a:extLst>
          </p:cNvPr>
          <p:cNvSpPr>
            <a:spLocks noGrp="1"/>
          </p:cNvSpPr>
          <p:nvPr/>
        </p:nvSpPr>
        <p:spPr>
          <a:xfrm>
            <a:off x="6457950" y="1524000"/>
            <a:ext cx="4953000" cy="2476500"/>
          </a:xfrm>
          <a:prstGeom prst="roundRect">
            <a:avLst>
              <a:gd name="adj" fmla="val 3846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2A9701-22C9-4C99-AA83-CC0D0687A1F2}"/>
              </a:ext>
            </a:extLst>
          </p:cNvPr>
          <p:cNvSpPr>
            <a:spLocks noGrp="1"/>
          </p:cNvSpPr>
          <p:nvPr/>
        </p:nvSpPr>
        <p:spPr>
          <a:xfrm>
            <a:off x="6457950" y="1524000"/>
            <a:ext cx="57150" cy="24765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CE609B-4F9C-4A2B-ABD8-A18556CC0902}"/>
              </a:ext>
            </a:extLst>
          </p:cNvPr>
          <p:cNvSpPr>
            <a:spLocks noGrp="1"/>
          </p:cNvSpPr>
          <p:nvPr/>
        </p:nvSpPr>
        <p:spPr>
          <a:xfrm>
            <a:off x="6648450" y="16954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FC73D8-C093-4BAB-BC14-90E903BA71ED}"/>
              </a:ext>
            </a:extLst>
          </p:cNvPr>
          <p:cNvSpPr>
            <a:spLocks noGrp="1"/>
          </p:cNvSpPr>
          <p:nvPr/>
        </p:nvSpPr>
        <p:spPr>
          <a:xfrm>
            <a:off x="6648450" y="2076450"/>
            <a:ext cx="45720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Assess existing LMS / loan operations vendors and integrate the selected product.</a:t>
            </a:r>
          </a:p>
          <a:p>
            <a:endParaRPr sz="1275" b="0" dirty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Status: multiple vendors need structured assessment over several months with security, compliance, integration, and operating audits.</a:t>
            </a:r>
          </a:p>
          <a:p>
            <a:endParaRPr sz="1275" b="0" dirty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Best when: speed to mature capabilities matters more than full control.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49D597-088F-4F8F-8D17-87416C527F87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4191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E7F756-2D5E-4763-BF7B-E38D76E3E651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57150" cy="13335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A364FF-47F1-41BE-BE2E-DBF2B1711FB9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adoption question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6580F-45F6-4513-9972-EA66F4518944}"/>
              </a:ext>
            </a:extLst>
          </p:cNvPr>
          <p:cNvSpPr>
            <a:spLocks noGrp="1"/>
          </p:cNvSpPr>
          <p:nvPr/>
        </p:nvSpPr>
        <p:spPr>
          <a:xfrm>
            <a:off x="1409700" y="4984955"/>
            <a:ext cx="3810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Why would an LSP move? The platform must reduce manual work, improve approval speed, show clear status, simplify audits, and integrate with the existing disbursement channel.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470D53-255B-44C8-BFF2-6F9C38CF11C4}"/>
              </a:ext>
            </a:extLst>
          </p:cNvPr>
          <p:cNvSpPr>
            <a:spLocks noGrp="1"/>
          </p:cNvSpPr>
          <p:nvPr/>
        </p:nvSpPr>
        <p:spPr>
          <a:xfrm>
            <a:off x="6762750" y="4514850"/>
            <a:ext cx="3714750" cy="1333500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71EF6C-3EFF-4687-9207-0DE4EF12D6F9}"/>
              </a:ext>
            </a:extLst>
          </p:cNvPr>
          <p:cNvSpPr>
            <a:spLocks noGrp="1"/>
          </p:cNvSpPr>
          <p:nvPr/>
        </p:nvSpPr>
        <p:spPr>
          <a:xfrm>
            <a:off x="6762750" y="4514850"/>
            <a:ext cx="57150" cy="133350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85F8A3-56D6-43E1-9B30-F58C25BF76A6}"/>
              </a:ext>
            </a:extLst>
          </p:cNvPr>
          <p:cNvSpPr>
            <a:spLocks noGrp="1"/>
          </p:cNvSpPr>
          <p:nvPr/>
        </p:nvSpPr>
        <p:spPr>
          <a:xfrm>
            <a:off x="6953250" y="46863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needed now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A9EFFC-FC45-4B42-81C5-74346DF5B91B}"/>
              </a:ext>
            </a:extLst>
          </p:cNvPr>
          <p:cNvSpPr>
            <a:spLocks noGrp="1"/>
          </p:cNvSpPr>
          <p:nvPr/>
        </p:nvSpPr>
        <p:spPr>
          <a:xfrm>
            <a:off x="6953250" y="5067300"/>
            <a:ext cx="333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a structured build-vs-buy assessment with clear criteria, owners, timeline, and go/no-go gates.</a:t>
            </a:r>
          </a:p>
        </p:txBody>
      </p:sp>
    </p:spTree>
    <p:extLst>
      <p:ext uri="{BB962C8B-B14F-4D97-AF65-F5344CB8AC3E}">
        <p14:creationId xmlns:p14="http://schemas.microsoft.com/office/powerpoint/2010/main" val="603396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FDC3AC6-F123-4128-9F55-AD780AFA9C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Prototype Implemented: What It Means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EA64FA-70F8-4974-BED6-1F338021FF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Informative prototype, not production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BFD3D-CC0E-4C71-94E3-77965D98184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08077C-8AC8-4BB6-B1E4-2C7FCB80605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F81ED5-9A0D-4455-AF85-1575637A6E0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E1BF7A-2313-4B04-AC47-B367D9FB6917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51CEA2-6546-44A7-B190-9D1915AD3BEF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857AF8-F19D-426B-AA05-A198B7DE723C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BDCE09-C90A-4961-8E3B-118CB742CDE6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working concept for validation, approval, data capture, and basic workflow.</a:t>
            </a:r>
          </a:p>
          <a:p>
            <a:endParaRPr sz="1200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Useful for learning and vendor comparison.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ABD8AE-3547-427B-90A2-198F52A0BBED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EF9243-7646-488B-BD77-6DBC1DD1ACAD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57150" cy="179070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F8A3E-DC1C-4930-8162-BC1857F7EC4D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does not exist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9C20D8-71E8-418A-AE48-09C905A27E00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deployment.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Azure India subscription or production infrastructure.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proven HA, DR, monitoring, support model, or security certification.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FC243B-ACDC-4087-91FB-616EAC40CACB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EFB8DE-AC6C-48EC-9E6C-744F1873747A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57150" cy="17907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DAFC26-9E42-4E64-9046-4549E11FA6BD}"/>
              </a:ext>
            </a:extLst>
          </p:cNvPr>
          <p:cNvSpPr>
            <a:spLocks noGrp="1"/>
          </p:cNvSpPr>
          <p:nvPr/>
        </p:nvSpPr>
        <p:spPr>
          <a:xfrm>
            <a:off x="84963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interactions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21EF85-DBFA-44DB-9D16-78F6A4B30182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still review exceptions, approve decisions, manage partner issues, and own follow-up.</a:t>
            </a:r>
          </a:p>
          <a:p>
            <a:endParaRPr sz="1163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platform should make these steps auditable.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784999-FCFC-4B41-8F4B-A0742DE1672F}"/>
              </a:ext>
            </a:extLst>
          </p:cNvPr>
          <p:cNvSpPr>
            <a:spLocks noGrp="1"/>
          </p:cNvSpPr>
          <p:nvPr/>
        </p:nvSpPr>
        <p:spPr>
          <a:xfrm>
            <a:off x="1143000" y="4171950"/>
            <a:ext cx="9906000" cy="571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020022-C8E3-4C52-8CDC-39E1CA185270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051AD5-B4C7-4A0D-BA3F-FE2475A80717}"/>
              </a:ext>
            </a:extLst>
          </p:cNvPr>
          <p:cNvSpPr>
            <a:spLocks noGrp="1"/>
          </p:cNvSpPr>
          <p:nvPr/>
        </p:nvSpPr>
        <p:spPr>
          <a:xfrm>
            <a:off x="15049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CBEE44-DC27-4EDE-A98C-A44E15D1333C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B6F1BD-BE5D-45E5-844D-CFDCBF9DC34C}"/>
              </a:ext>
            </a:extLst>
          </p:cNvPr>
          <p:cNvSpPr>
            <a:spLocks noGrp="1"/>
          </p:cNvSpPr>
          <p:nvPr/>
        </p:nvSpPr>
        <p:spPr>
          <a:xfrm>
            <a:off x="4286250" y="3962400"/>
            <a:ext cx="457200" cy="457200"/>
          </a:xfrm>
          <a:prstGeom prst="ellipse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525667-8781-45A3-B66C-3AEBC651E2CC}"/>
              </a:ext>
            </a:extLst>
          </p:cNvPr>
          <p:cNvSpPr>
            <a:spLocks noGrp="1"/>
          </p:cNvSpPr>
          <p:nvPr/>
        </p:nvSpPr>
        <p:spPr>
          <a:xfrm>
            <a:off x="42862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0A82A4-41CB-48CF-A078-680DB219869D}"/>
              </a:ext>
            </a:extLst>
          </p:cNvPr>
          <p:cNvSpPr>
            <a:spLocks noGrp="1"/>
          </p:cNvSpPr>
          <p:nvPr/>
        </p:nvSpPr>
        <p:spPr>
          <a:xfrm>
            <a:off x="39243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18FA86-0397-46B1-B0B2-AC4FF0E89427}"/>
              </a:ext>
            </a:extLst>
          </p:cNvPr>
          <p:cNvSpPr>
            <a:spLocks noGrp="1"/>
          </p:cNvSpPr>
          <p:nvPr/>
        </p:nvSpPr>
        <p:spPr>
          <a:xfrm>
            <a:off x="7067550" y="3962400"/>
            <a:ext cx="457200" cy="4572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53BE4F-9D48-424B-A220-7D16279B6AEC}"/>
              </a:ext>
            </a:extLst>
          </p:cNvPr>
          <p:cNvSpPr>
            <a:spLocks noGrp="1"/>
          </p:cNvSpPr>
          <p:nvPr/>
        </p:nvSpPr>
        <p:spPr>
          <a:xfrm>
            <a:off x="70675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524F15-C5FE-4CC1-9E90-0167E64AF80C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C4191AF-685A-4F9A-82DC-64B9B19F4612}"/>
              </a:ext>
            </a:extLst>
          </p:cNvPr>
          <p:cNvSpPr>
            <a:spLocks noGrp="1"/>
          </p:cNvSpPr>
          <p:nvPr/>
        </p:nvSpPr>
        <p:spPr>
          <a:xfrm>
            <a:off x="9848850" y="3962400"/>
            <a:ext cx="457200" cy="45720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29725F-B9E3-4772-B7C9-DB859ECA765D}"/>
              </a:ext>
            </a:extLst>
          </p:cNvPr>
          <p:cNvSpPr>
            <a:spLocks noGrp="1"/>
          </p:cNvSpPr>
          <p:nvPr/>
        </p:nvSpPr>
        <p:spPr>
          <a:xfrm>
            <a:off x="98488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5676D6-5CA5-4DB0-8679-E5356A9D8955}"/>
              </a:ext>
            </a:extLst>
          </p:cNvPr>
          <p:cNvSpPr>
            <a:spLocks noGrp="1"/>
          </p:cNvSpPr>
          <p:nvPr/>
        </p:nvSpPr>
        <p:spPr>
          <a:xfrm>
            <a:off x="94869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234893-0902-4248-8DCF-09650EB694AC}"/>
              </a:ext>
            </a:extLst>
          </p:cNvPr>
          <p:cNvSpPr>
            <a:spLocks noGrp="1"/>
          </p:cNvSpPr>
          <p:nvPr/>
        </p:nvSpPr>
        <p:spPr>
          <a:xfrm>
            <a:off x="2286000" y="5257799"/>
            <a:ext cx="7620000" cy="5825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state sits at the first point: useful evidence, but not ready for external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127520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FE941A4A-439A-4C90-92F1-3CE212CFE05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Governance and Operational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CF6509-B9D5-407B-99ED-22C4BDCB5C67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66837-0A77-473A-AD67-E43F2358690F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ECD1D6-F712-4D88-BB25-38BDAF5A55F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B31C20-2610-4105-809A-4E5341ABF283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E2F1D-55CC-440E-AE4A-98A9A3DD25CC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A775B2-F888-44C9-BCDD-F79B0FE07341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41E75E-B7E7-4FF6-BE47-2B6C9A662F07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9BF3C9-F3B6-412A-807A-7999401F480A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3C97D-9A05-4405-9103-658FA942E803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DB0A11-E4AF-4472-B2F9-B73C2EBEE1D5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70703B-79EE-4457-AE17-A6DB1A83DA73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56F3D5-68C9-413A-8646-7B8E8669C4A9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849030-7ECE-4F1B-ADC8-FF9B04812BEF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3044D2-25E6-4E13-AA69-73A31BB80E21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F8EC7C-2D26-43C9-9887-48E92055AB53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C1A31C-EB08-47AF-8CF0-3E179BEEC1CB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21942-425E-4138-B0EF-2BA74E4AE747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208AC2-E288-484C-9DE0-C6E720778358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1D9532-2DB6-42B6-A60A-9E5C21182E17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FABC89-E4A1-473C-8144-4B63D31BEEBF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E46938-2890-4018-A7DA-61463D794697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6A8BB2-D47F-496F-9A6B-6045117EAD76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99349E-114F-4EB7-AE7C-44D886F8E264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407681-C683-4204-BA90-B63FEC001623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906C59-3D5E-4163-AE9D-6D1B0CAEF8EF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1F62E6-4432-422E-8A8C-776048131D71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45990C-C393-40B9-A445-D275B9EB9D91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4A5C38-10CB-41DE-A97F-6AB02BCB4756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0E12BB-1203-4D67-BD7C-75DB06984D94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BC9B7C-BA9D-4501-A7B9-F0F428340F32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FB2407-D2BA-408D-99E1-89A2457BDA92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84216D5-CF16-4179-8947-02A702E881C7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EC8F6D-B626-4D94-B418-31925EB151F2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41040E-E7A5-4268-B6FB-41E901EB3B42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Governance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892B9B-10F2-4BFB-9AEC-A23CA975A103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2A1BAFA-CDAB-4FF8-B96F-B5AB8860AA59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board approves.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0496E4-2206-4A1D-B61D-906B68432539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00590B-A6B8-4737-B73B-B8965A18A0F1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FE4A86-EDF0-4000-9387-36B1ECD16649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948A89-81CE-4C17-A4B3-3842A668ECE7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EE95F8-D48A-439F-A128-9DFE5BB70686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F2044C-DF3E-4399-B1B3-BA555A5B99E9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IAM + Platform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1FAD47-AFA5-4ED2-A4B9-C1F22629FFCA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B08672-A607-4D40-83EE-37238068B016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709BE3C-FBC4-417F-A6D7-55C761227F3A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F77580B-C834-4BD0-BC08-B47A4433840A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AE5EAF-F26C-442D-8EE0-A3ACBDCE8CF3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A984096-A121-429D-AC4D-346EEFD740A6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A96645-DCC7-4DCC-9016-B3714CB0AAC5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3D011D1-05DD-4346-87A3-28C18F19C824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SRE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57DEF52-8C37-4421-B5AD-9D2D594DE402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3E2639-25F9-491D-A083-A74C5F84427A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handles partner issues.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FB253F4-7A0C-4197-9C6F-B6DBCAB81EC4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291037C-1FD3-4E35-B0FE-AB72E76FE629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0F548D-5D53-4706-88AE-1D830902F6AE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A12529B-FA1C-4A91-AEAA-4156CBCAD8D4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 across platform, support, infra, security, governance.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CEC283F-9461-4DFE-A31F-9B46561FB3DE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22529A7-168C-4458-A40D-D30073C96C8B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To finalize in Miro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A9ED96F-05F6-4239-93F5-E4158C69A6F2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F92FD6-127B-4D8D-A5AB-7AE21310B478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F716A5-9ED5-40E4-B0D5-9789F7C360CE}"/>
              </a:ext>
            </a:extLst>
          </p:cNvPr>
          <p:cNvSpPr>
            <a:spLocks noGrp="1"/>
          </p:cNvSpPr>
          <p:nvPr/>
        </p:nvSpPr>
        <p:spPr>
          <a:xfrm>
            <a:off x="914400" y="61150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Principle: automate the evidence, but keep accountable people visible for approvals, exceptions, and operational ownership.</a:t>
            </a:r>
          </a:p>
        </p:txBody>
      </p:sp>
    </p:spTree>
    <p:extLst>
      <p:ext uri="{BB962C8B-B14F-4D97-AF65-F5344CB8AC3E}">
        <p14:creationId xmlns:p14="http://schemas.microsoft.com/office/powerpoint/2010/main" val="920736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3AAE2DC-0651-4472-8E47-87A161750E9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CI/CD and Change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0CC4F8-1022-4AB3-B301-138E70C594B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GitHub once the in-house code path is approved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93F590-EC10-4DAE-809F-39D751BDAA41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7E0E20-F64C-4589-BEA6-530888E93AD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7C0BA-852A-4CE0-930B-0E7A93EFCCA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DA53DD-C1A1-4552-95C2-E22A73FE332F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D2CC1-DACA-4F05-A522-997A321B4739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1325D-1BEC-4649-96D1-A9BA514DD885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Change 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21B867-AE86-4803-9599-2B51AED207EC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Business reason, risk, owner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0D23BD1-5DD6-4B6A-AA87-B7A0D7D13DF6}"/>
              </a:ext>
            </a:extLst>
          </p:cNvPr>
          <p:cNvSpPr>
            <a:spLocks noGrp="1"/>
          </p:cNvSpPr>
          <p:nvPr/>
        </p:nvSpPr>
        <p:spPr>
          <a:xfrm>
            <a:off x="2190750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CEE3B5-51D9-4B24-BF56-B34D2269B661}"/>
              </a:ext>
            </a:extLst>
          </p:cNvPr>
          <p:cNvSpPr>
            <a:spLocks noGrp="1"/>
          </p:cNvSpPr>
          <p:nvPr/>
        </p:nvSpPr>
        <p:spPr>
          <a:xfrm>
            <a:off x="248602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3CF70-8FFE-4D7B-9210-7F1E39D9015A}"/>
              </a:ext>
            </a:extLst>
          </p:cNvPr>
          <p:cNvSpPr>
            <a:spLocks noGrp="1"/>
          </p:cNvSpPr>
          <p:nvPr/>
        </p:nvSpPr>
        <p:spPr>
          <a:xfrm>
            <a:off x="2486025" y="1752600"/>
            <a:ext cx="57150" cy="133350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A48431-A3BB-4B85-811C-3183575F8ADA}"/>
              </a:ext>
            </a:extLst>
          </p:cNvPr>
          <p:cNvSpPr>
            <a:spLocks noGrp="1"/>
          </p:cNvSpPr>
          <p:nvPr/>
        </p:nvSpPr>
        <p:spPr>
          <a:xfrm>
            <a:off x="267652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GitHub PR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3ECEBA-BD28-48D2-8E0E-361EC10E255C}"/>
              </a:ext>
            </a:extLst>
          </p:cNvPr>
          <p:cNvSpPr>
            <a:spLocks noGrp="1"/>
          </p:cNvSpPr>
          <p:nvPr/>
        </p:nvSpPr>
        <p:spPr>
          <a:xfrm>
            <a:off x="267652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Peer review and traceability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563BD29-8335-45DF-AA63-DE71018CFD78}"/>
              </a:ext>
            </a:extLst>
          </p:cNvPr>
          <p:cNvSpPr>
            <a:spLocks noGrp="1"/>
          </p:cNvSpPr>
          <p:nvPr/>
        </p:nvSpPr>
        <p:spPr>
          <a:xfrm>
            <a:off x="4067175" y="2305050"/>
            <a:ext cx="266700" cy="228600"/>
          </a:xfrm>
          <a:prstGeom prst="rightArrow">
            <a:avLst/>
          </a:prstGeom>
          <a:solidFill>
            <a:srgbClr val="0B1F45"/>
          </a:solidFill>
          <a:ln w="0">
            <a:solidFill>
              <a:srgbClr val="0B1F45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256936-FB71-44EA-A46A-F3FC249A365E}"/>
              </a:ext>
            </a:extLst>
          </p:cNvPr>
          <p:cNvSpPr>
            <a:spLocks noGrp="1"/>
          </p:cNvSpPr>
          <p:nvPr/>
        </p:nvSpPr>
        <p:spPr>
          <a:xfrm>
            <a:off x="436245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F82C2C-C8F4-4FCD-9DCB-F03595B43CEF}"/>
              </a:ext>
            </a:extLst>
          </p:cNvPr>
          <p:cNvSpPr>
            <a:spLocks noGrp="1"/>
          </p:cNvSpPr>
          <p:nvPr/>
        </p:nvSpPr>
        <p:spPr>
          <a:xfrm>
            <a:off x="4362450" y="1752600"/>
            <a:ext cx="57150" cy="133350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E5D1DF-A6F2-4F0C-8847-D695C7DD84FF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Automated 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EF4EEE-018C-4246-8F60-6B140C82AED7}"/>
              </a:ext>
            </a:extLst>
          </p:cNvPr>
          <p:cNvSpPr>
            <a:spLocks noGrp="1"/>
          </p:cNvSpPr>
          <p:nvPr/>
        </p:nvSpPr>
        <p:spPr>
          <a:xfrm>
            <a:off x="455295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Tests, lint, build, API contract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6C64D0F-1B96-4AE5-83ED-C28D5AB426DE}"/>
              </a:ext>
            </a:extLst>
          </p:cNvPr>
          <p:cNvSpPr>
            <a:spLocks noGrp="1"/>
          </p:cNvSpPr>
          <p:nvPr/>
        </p:nvSpPr>
        <p:spPr>
          <a:xfrm>
            <a:off x="5943600" y="2305050"/>
            <a:ext cx="266700" cy="228600"/>
          </a:xfrm>
          <a:prstGeom prst="rightArrow">
            <a:avLst/>
          </a:prstGeom>
          <a:solidFill>
            <a:srgbClr val="16A3B8"/>
          </a:solidFill>
          <a:ln w="0">
            <a:solidFill>
              <a:srgbClr val="16A3B8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629C7DB-1CC2-4F3F-B002-9442C86D763D}"/>
              </a:ext>
            </a:extLst>
          </p:cNvPr>
          <p:cNvSpPr>
            <a:spLocks noGrp="1"/>
          </p:cNvSpPr>
          <p:nvPr/>
        </p:nvSpPr>
        <p:spPr>
          <a:xfrm>
            <a:off x="623887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F343E5-717E-4DB4-B458-4B4194064678}"/>
              </a:ext>
            </a:extLst>
          </p:cNvPr>
          <p:cNvSpPr>
            <a:spLocks noGrp="1"/>
          </p:cNvSpPr>
          <p:nvPr/>
        </p:nvSpPr>
        <p:spPr>
          <a:xfrm>
            <a:off x="6238875" y="1752600"/>
            <a:ext cx="57150" cy="13335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B4E69C-5392-4A4E-BC40-530E4A602AB9}"/>
              </a:ext>
            </a:extLst>
          </p:cNvPr>
          <p:cNvSpPr>
            <a:spLocks noGrp="1"/>
          </p:cNvSpPr>
          <p:nvPr/>
        </p:nvSpPr>
        <p:spPr>
          <a:xfrm>
            <a:off x="642937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C1C268-B751-48EE-A568-DB1848D4191E}"/>
              </a:ext>
            </a:extLst>
          </p:cNvPr>
          <p:cNvSpPr>
            <a:spLocks noGrp="1"/>
          </p:cNvSpPr>
          <p:nvPr/>
        </p:nvSpPr>
        <p:spPr>
          <a:xfrm>
            <a:off x="642937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GitHub security, dependency and secret checks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53F3104-52D4-42D3-8371-36E3B76EDF27}"/>
              </a:ext>
            </a:extLst>
          </p:cNvPr>
          <p:cNvSpPr>
            <a:spLocks noGrp="1"/>
          </p:cNvSpPr>
          <p:nvPr/>
        </p:nvSpPr>
        <p:spPr>
          <a:xfrm>
            <a:off x="7820025" y="2305050"/>
            <a:ext cx="266700" cy="228600"/>
          </a:xfrm>
          <a:prstGeom prst="rightArrow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DF95863-7374-461F-B2BC-E5D7F15A9FC5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1C6F07-5C0A-413F-9FA9-D95523A95761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57150" cy="13335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F64758-25F4-4DF0-A3B3-C0D0B25BC2B2}"/>
              </a:ext>
            </a:extLst>
          </p:cNvPr>
          <p:cNvSpPr>
            <a:spLocks noGrp="1"/>
          </p:cNvSpPr>
          <p:nvPr/>
        </p:nvSpPr>
        <p:spPr>
          <a:xfrm>
            <a:off x="8305800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4F620D-90D1-4DC8-BD28-B402DDB7CD43}"/>
              </a:ext>
            </a:extLst>
          </p:cNvPr>
          <p:cNvSpPr>
            <a:spLocks noGrp="1"/>
          </p:cNvSpPr>
          <p:nvPr/>
        </p:nvSpPr>
        <p:spPr>
          <a:xfrm>
            <a:off x="830580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Product, engineering, IT security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92AFC03-A222-4740-B35E-39548DB9D992}"/>
              </a:ext>
            </a:extLst>
          </p:cNvPr>
          <p:cNvSpPr>
            <a:spLocks noGrp="1"/>
          </p:cNvSpPr>
          <p:nvPr/>
        </p:nvSpPr>
        <p:spPr>
          <a:xfrm>
            <a:off x="9696450" y="2305050"/>
            <a:ext cx="26670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1EDEF49-5829-4EC7-94FA-989D175A7FFC}"/>
              </a:ext>
            </a:extLst>
          </p:cNvPr>
          <p:cNvSpPr>
            <a:spLocks noGrp="1"/>
          </p:cNvSpPr>
          <p:nvPr/>
        </p:nvSpPr>
        <p:spPr>
          <a:xfrm>
            <a:off x="999172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0C8FC3-C8B6-4972-9FA8-C500A91A2335}"/>
              </a:ext>
            </a:extLst>
          </p:cNvPr>
          <p:cNvSpPr>
            <a:spLocks noGrp="1"/>
          </p:cNvSpPr>
          <p:nvPr/>
        </p:nvSpPr>
        <p:spPr>
          <a:xfrm>
            <a:off x="9991725" y="1752600"/>
            <a:ext cx="57150" cy="133350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9BAA44-2EBE-4A91-90FA-F8005C2E6B6C}"/>
              </a:ext>
            </a:extLst>
          </p:cNvPr>
          <p:cNvSpPr>
            <a:spLocks noGrp="1"/>
          </p:cNvSpPr>
          <p:nvPr/>
        </p:nvSpPr>
        <p:spPr>
          <a:xfrm>
            <a:off x="1018222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D43BD7-6307-4B76-93D1-65429623BBD9}"/>
              </a:ext>
            </a:extLst>
          </p:cNvPr>
          <p:cNvSpPr>
            <a:spLocks noGrp="1"/>
          </p:cNvSpPr>
          <p:nvPr/>
        </p:nvSpPr>
        <p:spPr>
          <a:xfrm>
            <a:off x="1018222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 with rollback plan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B2BC0A3-A0BD-44D5-B954-535773C1EE3D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E61B6E-5846-4D41-BEAD-3A2146532381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57150" cy="14287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250650-C33F-453E-A237-B6A0F8FEDCE9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Why GitHub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5260F4-5EA9-4108-B217-C3BAED116A44}"/>
              </a:ext>
            </a:extLst>
          </p:cNvPr>
          <p:cNvSpPr>
            <a:spLocks noGrp="1"/>
          </p:cNvSpPr>
          <p:nvPr/>
        </p:nvSpPr>
        <p:spPr>
          <a:xfrm>
            <a:off x="12382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place for code review, CI/CD evidence, security alerts, and release traceability.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9F9947B-FD8D-4CB5-B828-ADE5FD388268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08730A-A439-467C-B31C-71C16A755408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57150" cy="14287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3E3696-AA37-40FF-B3B7-4D0D60D59517}"/>
              </a:ext>
            </a:extLst>
          </p:cNvPr>
          <p:cNvSpPr>
            <a:spLocks noGrp="1"/>
          </p:cNvSpPr>
          <p:nvPr/>
        </p:nvSpPr>
        <p:spPr>
          <a:xfrm>
            <a:off x="48577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4AC032-27AF-4A42-8FD2-F093FC0E8D33}"/>
              </a:ext>
            </a:extLst>
          </p:cNvPr>
          <p:cNvSpPr>
            <a:spLocks noGrp="1"/>
          </p:cNvSpPr>
          <p:nvPr/>
        </p:nvSpPr>
        <p:spPr>
          <a:xfrm>
            <a:off x="48577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Secret scanning, dependency alerts, SAST/container checks, and approvals before deployment.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7997DA3-046E-4257-91EC-CEB746C1109A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35857E-A8C3-4423-B803-23B8DA06D248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57150" cy="14287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818A84-D241-4139-A21D-B7F7B8925CAC}"/>
              </a:ext>
            </a:extLst>
          </p:cNvPr>
          <p:cNvSpPr>
            <a:spLocks noGrp="1"/>
          </p:cNvSpPr>
          <p:nvPr/>
        </p:nvSpPr>
        <p:spPr>
          <a:xfrm>
            <a:off x="84772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gate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33116E-52FA-4BE9-836A-96643DB61F3D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person still approves risk acceptance, production promotion, and emergency changes.</a:t>
            </a:r>
          </a:p>
        </p:txBody>
      </p:sp>
    </p:spTree>
    <p:extLst>
      <p:ext uri="{BB962C8B-B14F-4D97-AF65-F5344CB8AC3E}">
        <p14:creationId xmlns:p14="http://schemas.microsoft.com/office/powerpoint/2010/main" val="738655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50642CE-03B5-44F5-B9E7-8FB278B24BC7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and Access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B451C5-FEC9-4042-91FB-A70CE72EA8D7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group standards and bank IT Security support from the 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0A763C-A4DD-49B0-89F9-CBC1BADC7544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078B4A-3CEB-43CF-88CE-32E459C68527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3C8A4-C0E8-4C59-A131-8D72C6F0050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7D8B09-639D-4A13-9D4E-10792F6D839D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76E804-05F9-4E33-A40C-2513DDA7E565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8F221F-6514-4B13-A928-12C1796CFE20}"/>
              </a:ext>
            </a:extLst>
          </p:cNvPr>
          <p:cNvSpPr>
            <a:spLocks noGrp="1"/>
          </p:cNvSpPr>
          <p:nvPr/>
        </p:nvSpPr>
        <p:spPr>
          <a:xfrm>
            <a:off x="9715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C980A5-F96D-4B3D-A1E6-7FC25CCA0AF5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 for users and groups.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Role-based access by function.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Joiner/mover/leaver process.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B00666-C670-4F23-BEDF-DE4C4F6796B3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15FD25-C20F-480B-837A-98C91F513502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57150" cy="161925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96561D-E75F-41DF-B785-BC9D9985AEFC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and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E9F619-C965-4A01-8585-2C04064F096F}"/>
              </a:ext>
            </a:extLst>
          </p:cNvPr>
          <p:cNvSpPr>
            <a:spLocks noGrp="1"/>
          </p:cNvSpPr>
          <p:nvPr/>
        </p:nvSpPr>
        <p:spPr>
          <a:xfrm>
            <a:off x="48196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Every approval, exception, data change, and access event should produce searchable audit evidence.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5D53FC-E61A-48A3-850B-11FA52A3FDE0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0C49EE-983F-402C-B723-E7ED99D10C68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57150" cy="16192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680D7-8176-4066-BEE9-80D4DF4DA046}"/>
              </a:ext>
            </a:extLst>
          </p:cNvPr>
          <p:cNvSpPr>
            <a:spLocks noGrp="1"/>
          </p:cNvSpPr>
          <p:nvPr/>
        </p:nvSpPr>
        <p:spPr>
          <a:xfrm>
            <a:off x="86677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Group 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D3E44E-E827-474B-95A6-2C2EBAB42686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/ group IT Security supports standards, review gates, access model, and production readiness.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9769C1-F7CB-4F4F-8372-B5B0C429A364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8191500" cy="53340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858E77-FBD0-4142-9055-33345C322EE4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0CB6D5-B7AE-48AD-A366-D1BC7036F10A}"/>
              </a:ext>
            </a:extLst>
          </p:cNvPr>
          <p:cNvSpPr>
            <a:spLocks noGrp="1"/>
          </p:cNvSpPr>
          <p:nvPr/>
        </p:nvSpPr>
        <p:spPr>
          <a:xfrm>
            <a:off x="37147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3CF4AE-F667-4851-A841-3E2E2E4E5A2C}"/>
              </a:ext>
            </a:extLst>
          </p:cNvPr>
          <p:cNvSpPr>
            <a:spLocks noGrp="1"/>
          </p:cNvSpPr>
          <p:nvPr/>
        </p:nvSpPr>
        <p:spPr>
          <a:xfrm>
            <a:off x="38100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734AC6-216F-47AF-954E-56785454EDFB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AE7BA9-6817-4A32-AAF0-7E0C74BE8C75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96F9B9-BAA5-4F1D-B0D5-DC60BEED0209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F473A0-54B5-4814-B42B-B2915822F77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9B5424-B527-41AB-AD56-08F090035741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CAD631-88DB-43A4-9A2B-0B7E14202655}"/>
              </a:ext>
            </a:extLst>
          </p:cNvPr>
          <p:cNvSpPr>
            <a:spLocks noGrp="1"/>
          </p:cNvSpPr>
          <p:nvPr/>
        </p:nvSpPr>
        <p:spPr>
          <a:xfrm>
            <a:off x="38100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Bhawana defines roles and Entra integration.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EEB86D-0A81-4557-92D4-0A0C3A1B718F}"/>
              </a:ext>
            </a:extLst>
          </p:cNvPr>
          <p:cNvSpPr>
            <a:spLocks noGrp="1"/>
          </p:cNvSpPr>
          <p:nvPr/>
        </p:nvSpPr>
        <p:spPr>
          <a:xfrm>
            <a:off x="65722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69D4C7-CD91-40FE-89E7-8B94DE9F6674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must support SSO/RBAC requirements.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02339D-8125-471D-999C-FC067082A3B5}"/>
              </a:ext>
            </a:extLst>
          </p:cNvPr>
          <p:cNvSpPr>
            <a:spLocks noGrp="1"/>
          </p:cNvSpPr>
          <p:nvPr/>
        </p:nvSpPr>
        <p:spPr>
          <a:xfrm>
            <a:off x="1238250" y="4972050"/>
            <a:ext cx="8191500" cy="53340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457D82-BDE9-4D44-85A0-FE458B7493C0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E38CE7-CA87-4CFE-9702-EFE4A918D270}"/>
              </a:ext>
            </a:extLst>
          </p:cNvPr>
          <p:cNvSpPr>
            <a:spLocks noGrp="1"/>
          </p:cNvSpPr>
          <p:nvPr/>
        </p:nvSpPr>
        <p:spPr>
          <a:xfrm>
            <a:off x="37147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5E5AEA-E7F5-479B-B80A-B820905ADFB6}"/>
              </a:ext>
            </a:extLst>
          </p:cNvPr>
          <p:cNvSpPr>
            <a:spLocks noGrp="1"/>
          </p:cNvSpPr>
          <p:nvPr/>
        </p:nvSpPr>
        <p:spPr>
          <a:xfrm>
            <a:off x="38100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platform logs and reporting evidence.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E59B6D-EAB0-4972-88FD-4ED35FA784DC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A31950-6F0A-4E0A-943F-1A24EA6FC613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 export must be tested.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EAE19B-E0F2-4C77-8927-D5BBFB0729CE}"/>
              </a:ext>
            </a:extLst>
          </p:cNvPr>
          <p:cNvSpPr>
            <a:spLocks noGrp="1"/>
          </p:cNvSpPr>
          <p:nvPr/>
        </p:nvSpPr>
        <p:spPr>
          <a:xfrm>
            <a:off x="1238250" y="55054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D93BD5-FAEB-4760-B8D4-AED144B1C206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8B55BF-FDC3-4E83-BD12-D0841556A6AC}"/>
              </a:ext>
            </a:extLst>
          </p:cNvPr>
          <p:cNvSpPr>
            <a:spLocks noGrp="1"/>
          </p:cNvSpPr>
          <p:nvPr/>
        </p:nvSpPr>
        <p:spPr>
          <a:xfrm>
            <a:off x="37147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0590A8-BBE2-40EE-AAF5-8C844B5F5C14}"/>
              </a:ext>
            </a:extLst>
          </p:cNvPr>
          <p:cNvSpPr>
            <a:spLocks noGrp="1"/>
          </p:cNvSpPr>
          <p:nvPr/>
        </p:nvSpPr>
        <p:spPr>
          <a:xfrm>
            <a:off x="38100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Code and infra reviewed internally.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55674B-EB07-48BD-9904-36AAB4490C80}"/>
              </a:ext>
            </a:extLst>
          </p:cNvPr>
          <p:cNvSpPr>
            <a:spLocks noGrp="1"/>
          </p:cNvSpPr>
          <p:nvPr/>
        </p:nvSpPr>
        <p:spPr>
          <a:xfrm>
            <a:off x="65722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BA092A-79E7-436C-93BF-D721D29D8D0C}"/>
              </a:ext>
            </a:extLst>
          </p:cNvPr>
          <p:cNvSpPr>
            <a:spLocks noGrp="1"/>
          </p:cNvSpPr>
          <p:nvPr/>
        </p:nvSpPr>
        <p:spPr>
          <a:xfrm>
            <a:off x="66675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audit, penetration test, and contract review.</a:t>
            </a:r>
          </a:p>
        </p:txBody>
      </p:sp>
    </p:spTree>
    <p:extLst>
      <p:ext uri="{BB962C8B-B14F-4D97-AF65-F5344CB8AC3E}">
        <p14:creationId xmlns:p14="http://schemas.microsoft.com/office/powerpoint/2010/main" val="31681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E6D5B0-2A58-4F45-B99F-08E8C6DADAF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D06E9A-1393-4FCA-A849-F7F99EC38BDB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1A46BE-9F27-4D37-8245-5D8AE973797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08E304-33B2-4CC5-93DE-435CD70E7055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2790F-69A8-4EBD-9548-922DC32083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318165"/>
            <a:ext cx="11334750" cy="496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2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9761AB3-4EC4-43E2-8B4C-03D86D2D0F7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6D737D-07B9-4B5A-A1EA-B77F701E926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7948BD-9238-420F-AC57-082225A0EA04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F305F8-AE28-465B-801F-6D85C9ADD07C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611AF2-D582-49DA-AF7D-5C18367FB60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0C7460-A6B5-45C1-96D4-C7DB230C3BBB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26A468-024C-4A9B-942D-93EA2E9D1A10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D9543E-5E0A-41B5-A9DF-DB56D9768637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92075E-6C68-40A0-997F-F0A16596164E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320705-2E5A-4597-810D-665D255E063C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E9A5E0-D519-4B6C-916C-493CCBE964BC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28EE6-00F3-476E-98B7-4B8F0751EF30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68C37-2FEE-4D3C-B56F-0BE70F19F876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286E0C-0208-4F88-B1B0-058C6E561550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FD3ECB-5083-4CA8-89D7-DD77BCB611BD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355589-76EA-4B14-B26B-BFD89160E43E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3D55F8-FAD2-477C-87EB-BA1E889ADC06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00C620-254F-4566-A191-BF2CD7AA9ED6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726C4-18C4-4551-A3EE-F0B567CD9224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311C5F-1681-43BA-9A5C-71255A6BB117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770F37-6C1D-49BF-909B-27947DDA3FF5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FDD164-69F5-44C4-95A4-A225356EBBBA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2C6DB5-5180-46E8-B62C-CD530D243D7D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2A3B94-4A63-4EEA-A8A4-4ABA80057EEA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4E012E-02B1-43BA-B43B-F65BC75CB7F7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EEFBB0-A199-46CA-8A4A-106EFC2A2DEA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0464D-A66A-4647-B4EC-C10A73297C13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F924DB-CA69-4275-8F57-2BAA694ADAC6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91A78F-92B3-498B-BCFF-59D3113BD58D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8D7A06-D5FF-4591-AC16-DAEECA3FF092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5C3A9E-C117-4CD5-90DB-5BACA618D85B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C33E75-1D7F-41CE-ACFB-8E2C16757B20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273C86-AECF-4632-9E7B-07D67227C45D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621620-9776-430C-BD2B-AFF7A922861E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3D6850-6CD6-4269-8A21-2DA3CEF5A3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9E96AD-4376-44AC-BE31-5CB13F6AD31D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A30EFD-78C5-40A6-8FC0-AC336DB6CE03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33497B-DDDA-4AB5-BEDE-B4DF12F85B47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4FC1A3-7FB6-4DF7-A281-20DD5D86444D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6FC4DAD-A6ED-450F-A6A6-D3CBFAC76B7F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937EEC-35C6-48DB-881B-0E9748E8DFA2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446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606BFAC-E8BE-4773-968E-5468FEA3D043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71F427-27F5-41FE-9060-55132B24269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18892B-B25A-4906-9841-C6B6D9273432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B9C68-E3EC-484D-B7AC-EE03FF120FB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193934-4BFB-4FD7-B3F1-C45FD0EF3714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45E3E7-6FD7-4AD9-97DC-8322B4542E6B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0D9D81-D1C4-49FB-BC7A-4FF8827826B3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A4F3D6-AC33-4264-AB39-76AADE9043F0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2BF1EC-2DFE-42FA-8C8B-E83A2E6A3F82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CE1009-D005-4C55-84C4-F80F7A7BC3ED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F7EA89-B045-45D9-8EFB-74ACB7E11448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E426C2-B177-407E-A67D-C2E834F8CB0E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16C25E-05A0-4C3A-AB64-1410D05DCF8F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B573AB-3BF6-4228-A5EB-B7E0ECC8680C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FB6ABC-3508-4937-9678-DDB878CD9339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9FADD3-6FC2-4453-9DD3-DD24B3780663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FF2C08-C82F-49A2-A664-10DB0E9A7F5D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876F5F-BB50-42A3-893E-D6F96D67630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676C25-DB55-4A1B-9214-8FC9BB5ED51F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5F299C-607F-46A7-99B8-E6F8633685A2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30906C-B589-4717-BB90-D2C4DC15838B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80B3E-FD68-4787-99E3-3CF83AE3409C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57A250-7B10-4D8C-828D-EFFE30FEAE09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2EE5E4-978B-4F30-BA87-B35F5C976F7D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E0F729-F427-4A1C-9025-61A91C0B0D6E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F644D2-8FDB-49AD-B872-0DB930F2C1BB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B0D42B-AABB-430D-8D50-2C5711D258A5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4D51BC-CEF6-4439-9DAA-9E5E3EB70342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971C30-BA79-41F4-96D5-9B564C632F35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E265B0-68F2-493B-85D0-EA07D62A4439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AC71F6-037C-4940-8205-9A5FD552FDE9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E6149B-0469-4BE9-ABD7-A6053642925A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674576-1EA7-48EF-B1B2-76617D1780A0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BB7231-FCEA-4DB4-9517-707DB1F95F8F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867611-21C5-4237-AD43-4E12214574F1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D73A21-3375-4D55-B64A-D1F44C97343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0B2266-31EA-4C38-A563-056F2A453A78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8E4E3C3-F178-44B0-A46C-E5408E13FBDC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E7A885-E156-4105-BB03-C0B6F72D9E3F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5F5CAE-32BD-4531-92C4-B1CAE5E7895B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CDB8CB-55D9-41E5-AD96-4499AA406EC4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C104166-3562-4E80-92AF-B201350C0710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B0FAE6-8A50-4188-80A5-DB4D877E3A01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38DC44-4588-4C44-9395-8149C01CABE8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B6EDE7-8137-4BAC-8B62-60AB8FFB3543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6B688F-C75D-47DF-A3B7-C7D7B3BE53B5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C9DA20-64FB-400C-B41F-CAA69E3FEF8F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A9A291-3759-4DDC-AB32-AA259FFA2EA4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394AB24-C819-4977-A7F8-63CF48C82FDA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0026F4-A5B5-454E-A617-E69244326A8E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BF9BAD-8217-4CBD-8823-7240DD79D183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FDA5D8-AFA4-4F5E-9CF8-AA47DBCE1F77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38808AE-9ACE-4033-B024-C7FDE2390DAD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F4AC225-85D3-4FC0-9A2B-E74768D0C44C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1AB6CCB-4BBA-4DEA-8395-436ADCD009F7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D00DAC-87F4-4D76-A53E-718AA9A1B09C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973D9C2-107D-4ECC-8D5D-00F6068521C9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C264E4D-D7F3-45D8-A332-BE94D37C8EE8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375101-70C9-4E2F-BD17-68E86A3A46EC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88A2B8-3D47-4E39-AE42-F085AF8F3791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28C47C7-5496-498A-8971-48370F6D9B05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7F9569-0D2E-41DD-9065-C517FC0CD348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658739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90717A6-7F55-4A02-B728-07E6F795D66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Build Option: Gated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00AA91-C124-48C6-8AF2-FCB36C164FDB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current prototype is the starting evidence, not the production end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D0E6BB-1B81-4AFA-BF16-DAA9BA260E59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FC6477-CC5B-402E-A392-D26D6C651EB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DF5476-83B9-4210-9D72-C1A4D0AB4B68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632DA0-58AB-4BAC-AE02-261977490306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9906000" cy="762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578529-5857-478B-B247-5FF23F87A97D}"/>
              </a:ext>
            </a:extLst>
          </p:cNvPr>
          <p:cNvSpPr>
            <a:spLocks noGrp="1"/>
          </p:cNvSpPr>
          <p:nvPr/>
        </p:nvSpPr>
        <p:spPr>
          <a:xfrm>
            <a:off x="15811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0FA20-F434-4571-9F78-7D369A691691}"/>
              </a:ext>
            </a:extLst>
          </p:cNvPr>
          <p:cNvSpPr>
            <a:spLocks noGrp="1"/>
          </p:cNvSpPr>
          <p:nvPr/>
        </p:nvSpPr>
        <p:spPr>
          <a:xfrm>
            <a:off x="15811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9AFB20-6AF3-4333-9C47-47030E4FB184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54202D-CCA5-48D7-8955-D320AB54F443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EDF1F9-CFFA-4CB9-A8CF-A1C58D22C817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0-1 month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462E31-4058-4692-BE9D-237B4CB683E2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and scope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owner, target process, LSP value case.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132C687-B11E-4E8E-8609-916632FE03FB}"/>
              </a:ext>
            </a:extLst>
          </p:cNvPr>
          <p:cNvSpPr>
            <a:spLocks noGrp="1"/>
          </p:cNvSpPr>
          <p:nvPr/>
        </p:nvSpPr>
        <p:spPr>
          <a:xfrm>
            <a:off x="4362450" y="2667000"/>
            <a:ext cx="457200" cy="457200"/>
          </a:xfrm>
          <a:prstGeom prst="ellipse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611829-0ABF-4658-A234-98AFB959D219}"/>
              </a:ext>
            </a:extLst>
          </p:cNvPr>
          <p:cNvSpPr>
            <a:spLocks noGrp="1"/>
          </p:cNvSpPr>
          <p:nvPr/>
        </p:nvSpPr>
        <p:spPr>
          <a:xfrm>
            <a:off x="43624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063367-31EA-4C9F-BF15-D64750A8C01B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1532E5-6A3A-4A32-BE8C-002704C6C2AD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57150" cy="152400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1F4084-6988-40E5-A899-92BF9C9D83EC}"/>
              </a:ext>
            </a:extLst>
          </p:cNvPr>
          <p:cNvSpPr>
            <a:spLocks noGrp="1"/>
          </p:cNvSpPr>
          <p:nvPr/>
        </p:nvSpPr>
        <p:spPr>
          <a:xfrm>
            <a:off x="37909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1-3 months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3B3DD4-466F-4E80-AA9F-6AA14F12F9C6}"/>
              </a:ext>
            </a:extLst>
          </p:cNvPr>
          <p:cNvSpPr>
            <a:spLocks noGrp="1"/>
          </p:cNvSpPr>
          <p:nvPr/>
        </p:nvSpPr>
        <p:spPr>
          <a:xfrm>
            <a:off x="37909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 hardening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Azure, Entra ID, audit, GitHub CI/CD, SDLC.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9BE571-EF17-4170-8E5F-12E9F1C262B3}"/>
              </a:ext>
            </a:extLst>
          </p:cNvPr>
          <p:cNvSpPr>
            <a:spLocks noGrp="1"/>
          </p:cNvSpPr>
          <p:nvPr/>
        </p:nvSpPr>
        <p:spPr>
          <a:xfrm>
            <a:off x="7143750" y="2667000"/>
            <a:ext cx="457200" cy="4572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1C0EDE-B631-43C7-B8E3-E17A8BF6FE22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5AC5CD-B7A5-49F3-B28F-B217748EEA30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8EF5DE-5234-44CA-9ACB-BE04C496D1C5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57150" cy="15240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C88C1B-E5CB-43CD-B595-83B41C3F3D16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3-5 months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D30EC1-0DB8-48CF-A288-DA83487FE454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or two LSPs, manual exception flow, reporting.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2DB653-0F98-4FB5-B295-B0BA7AB98245}"/>
              </a:ext>
            </a:extLst>
          </p:cNvPr>
          <p:cNvSpPr>
            <a:spLocks noGrp="1"/>
          </p:cNvSpPr>
          <p:nvPr/>
        </p:nvSpPr>
        <p:spPr>
          <a:xfrm>
            <a:off x="9925050" y="2667000"/>
            <a:ext cx="457200" cy="45720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702C65-3E79-4EBD-BA4F-F057962492D8}"/>
              </a:ext>
            </a:extLst>
          </p:cNvPr>
          <p:cNvSpPr>
            <a:spLocks noGrp="1"/>
          </p:cNvSpPr>
          <p:nvPr/>
        </p:nvSpPr>
        <p:spPr>
          <a:xfrm>
            <a:off x="99250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9471113-537E-40EF-9C46-41168A7FBD20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F267CE-EA71-4B52-AE66-382D62086019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57150" cy="15240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C1701C-CC68-4DCC-BC68-717ABBBF2C97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5-8 months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2FB154-C965-403D-819F-09C5FECC0AFF}"/>
              </a:ext>
            </a:extLst>
          </p:cNvPr>
          <p:cNvSpPr>
            <a:spLocks noGrp="1"/>
          </p:cNvSpPr>
          <p:nvPr/>
        </p:nvSpPr>
        <p:spPr>
          <a:xfrm>
            <a:off x="93535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Scale readiness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Monitoring, DR, performance, Databricks DWH.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CDC3867-4D74-4AF0-937A-A08A6DACE82F}"/>
              </a:ext>
            </a:extLst>
          </p:cNvPr>
          <p:cNvSpPr>
            <a:spLocks noGrp="1"/>
          </p:cNvSpPr>
          <p:nvPr/>
        </p:nvSpPr>
        <p:spPr>
          <a:xfrm>
            <a:off x="1562100" y="1390649"/>
            <a:ext cx="3905250" cy="1228725"/>
          </a:xfrm>
          <a:prstGeom prst="roundRect">
            <a:avLst>
              <a:gd name="adj" fmla="val 8929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91569E-87E3-436A-A761-A624A8C59D1E}"/>
              </a:ext>
            </a:extLst>
          </p:cNvPr>
          <p:cNvSpPr>
            <a:spLocks noGrp="1"/>
          </p:cNvSpPr>
          <p:nvPr/>
        </p:nvSpPr>
        <p:spPr>
          <a:xfrm>
            <a:off x="1562100" y="1447801"/>
            <a:ext cx="57150" cy="106680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E4556B-1596-4179-AB50-3E06F6C7296D}"/>
              </a:ext>
            </a:extLst>
          </p:cNvPr>
          <p:cNvSpPr>
            <a:spLocks noGrp="1"/>
          </p:cNvSpPr>
          <p:nvPr/>
        </p:nvSpPr>
        <p:spPr>
          <a:xfrm>
            <a:off x="17526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56332B-CC9C-4123-BD8B-31D68807171C}"/>
              </a:ext>
            </a:extLst>
          </p:cNvPr>
          <p:cNvSpPr>
            <a:spLocks noGrp="1"/>
          </p:cNvSpPr>
          <p:nvPr/>
        </p:nvSpPr>
        <p:spPr>
          <a:xfrm>
            <a:off x="17526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LSP migration until ownership, security, audit, infra, and manual exception operations are proven.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CFBF659-C524-4198-BF80-ACDC15799C7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CF68DE-33C1-472E-A687-DA49C3C4BB9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57150" cy="10668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44DEE49-F69F-47E8-B0C2-9A4FC8FD513F}"/>
              </a:ext>
            </a:extLst>
          </p:cNvPr>
          <p:cNvSpPr>
            <a:spLocks noGrp="1"/>
          </p:cNvSpPr>
          <p:nvPr/>
        </p:nvSpPr>
        <p:spPr>
          <a:xfrm>
            <a:off x="68961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value proof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7126ABC-C710-40C2-81EB-E87A4B36A729}"/>
              </a:ext>
            </a:extLst>
          </p:cNvPr>
          <p:cNvSpPr>
            <a:spLocks noGrp="1"/>
          </p:cNvSpPr>
          <p:nvPr/>
        </p:nvSpPr>
        <p:spPr>
          <a:xfrm>
            <a:off x="68961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 must prove the platform is easier for LSPs than email and manual follow-up.</a:t>
            </a:r>
          </a:p>
        </p:txBody>
      </p:sp>
    </p:spTree>
    <p:extLst>
      <p:ext uri="{BB962C8B-B14F-4D97-AF65-F5344CB8AC3E}">
        <p14:creationId xmlns:p14="http://schemas.microsoft.com/office/powerpoint/2010/main" val="772986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CB927238-ED0E-4A42-A171-FD41A28F6B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448FAB-47FE-45CC-AFFB-8FEB897252B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0C836-725C-49AB-BB99-16AC6C31D8F4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9D7AAE-0364-428F-A083-B06D2E0769C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D32B8-F7AD-428B-B6F2-E5AA2AEDE13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E784C0-3257-4D74-AD27-95C7673E28A7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81112-B94B-4EF8-8B26-4F114FD98C01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9599DF-1D8B-4ABF-A2AF-57F432ED31C0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8A01F-9120-4375-B4B8-2080F5C9149F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492ED8-D8E2-475C-B149-91644246C0A1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4A11C3-F639-4EFA-9061-5890F7948B14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58E646-6764-4A5D-9679-33EF1103E62E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8CD07C-22A8-4A29-BDAB-20F3D35B537D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58B0B1-314C-4E0D-8883-0F466076FB26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7F08B2-3568-4D25-8F8A-A099304761F5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A99BD2-EAD7-4E1C-8D55-6316D360657B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27595-4249-4E2C-8CE1-AED1EE5EFCE0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F31F179-D0B9-4427-93B4-4F4481EC2863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636C56-B895-464D-AE02-8E0747BB0A9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723FDE-C90C-42D8-9B14-48EB8DF0433E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26F83C-0F86-40FC-A3D8-CF0E3DA630D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E7B268-6CCA-4275-A3E4-42425F0B37B0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409AA6-AD3C-4818-84AB-4F14FFCF633B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B31F79-1342-450A-8B07-97619DEFBBA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B825C8-6FF5-4318-8692-ED837E9294D8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36BB6E-DD59-4770-BE38-5922A8121D55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BFF2D6-1E7D-483E-B7E3-24D4CFD21DAD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3A798F-0F2E-4681-A615-F2C19C72F8D4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3B18E4-20D5-4D19-BB76-B48767BDC25E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644F0F-F194-45AE-8816-7C6E36BF259D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3DA930-AA76-472C-ADC5-6CB60C92DC11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24CF2E-3633-4CEB-91E3-B2EA12388BFE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E395B5C-E505-453E-B96D-7EB8D41F0CCA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DCBAA1-8E6F-49F6-A94B-E159179945B4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9FCCB1-5FC3-462F-8BA9-AA7616F6D8E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87B45C-68C7-4DAE-80B6-7343424727F4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E5061C-113C-437B-A880-3CC2A50D4D69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68A73A-7B08-4553-89DB-E8F8FAB115E3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5EA480-2412-4B61-9C9A-FAEABF9ED2C8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5F0930-C2E7-434A-AB87-3B7C1E396F8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2B3CB0-801F-4EA2-8C19-7C0C755816BB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206E2A-E55B-46A5-849D-F5C96D6F79DA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A493EE2-F89A-4CAE-A48E-D0F3E6D4BAE6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B4DB79-BE53-4784-81C0-3F46DB4C02F7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A574BF-150D-46C3-8987-C47D59301C93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5951260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1616</Words>
  <Application>Microsoft Office PowerPoint</Application>
  <DocSecurity>0</DocSecurity>
  <PresentationFormat>Widescreen</PresentationFormat>
  <Paragraphs>272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1</cp:revision>
  <dcterms:created xsi:type="dcterms:W3CDTF">2026-06-23T10:46:52Z</dcterms:created>
  <dcterms:modified xsi:type="dcterms:W3CDTF">2026-06-23T11:12:41Z</dcterms:modified>
</cp:coreProperties>
</file>