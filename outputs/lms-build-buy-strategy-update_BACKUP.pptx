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8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71A99B8-03D2-41AA-B050-CB5A1289F116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1219200"/>
          </a:xfrm>
          <a:prstGeom prst="rect">
            <a:avLst/>
          </a:prstGeom>
          <a:solidFill>
            <a:srgbClr val="09275B"/>
          </a:solidFill>
          <a:ln w="9525">
            <a:solidFill>
              <a:srgbClr val="09275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BF8946-5B23-4C7C-A609-1234AB9D2493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723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LMS Platform Decision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AF6B68-18FA-476D-A6C0-A14B39929136}"/>
              </a:ext>
            </a:extLst>
          </p:cNvPr>
          <p:cNvSpPr>
            <a:spLocks noGrp="1"/>
          </p:cNvSpPr>
          <p:nvPr/>
        </p:nvSpPr>
        <p:spPr>
          <a:xfrm>
            <a:off x="723900" y="1676400"/>
            <a:ext cx="7715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D7E8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7E8FF"/>
                </a:solidFill>
                <a:latin typeface="Aptos"/>
                <a:ea typeface="Aptos"/>
                <a:cs typeface="Aptos"/>
              </a:rPr>
              <a:t>Build vs buy, governance, operating model, infrastructure, and next-step decision points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A2FF9E9-4174-46E4-8305-B3C4B95BB55F}"/>
              </a:ext>
            </a:extLst>
          </p:cNvPr>
          <p:cNvSpPr>
            <a:spLocks noGrp="1"/>
          </p:cNvSpPr>
          <p:nvPr/>
        </p:nvSpPr>
        <p:spPr>
          <a:xfrm>
            <a:off x="8323083" y="3114675"/>
            <a:ext cx="3429000" cy="1238250"/>
          </a:xfrm>
          <a:prstGeom prst="roundRect">
            <a:avLst>
              <a:gd name="adj" fmla="val 7692"/>
            </a:avLst>
          </a:prstGeom>
          <a:solidFill>
            <a:srgbClr val="10366F"/>
          </a:solidFill>
          <a:ln w="9525">
            <a:solidFill>
              <a:srgbClr val="2D64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31C53D-5223-46D6-B9BF-6FAD840887EC}"/>
              </a:ext>
            </a:extLst>
          </p:cNvPr>
          <p:cNvSpPr>
            <a:spLocks noGrp="1"/>
          </p:cNvSpPr>
          <p:nvPr/>
        </p:nvSpPr>
        <p:spPr>
          <a:xfrm>
            <a:off x="8265933" y="3099651"/>
            <a:ext cx="57150" cy="1238250"/>
          </a:xfrm>
          <a:prstGeom prst="rect">
            <a:avLst/>
          </a:prstGeom>
          <a:solidFill>
            <a:srgbClr val="6FB6FF"/>
          </a:solidFill>
          <a:ln w="9525">
            <a:solidFill>
              <a:srgbClr val="6FB6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DD8C7A-D946-4C58-8E7A-A6E891010715}"/>
              </a:ext>
            </a:extLst>
          </p:cNvPr>
          <p:cNvSpPr>
            <a:spLocks noGrp="1"/>
          </p:cNvSpPr>
          <p:nvPr/>
        </p:nvSpPr>
        <p:spPr>
          <a:xfrm>
            <a:off x="8382000" y="3263049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 focus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D7DF73-43DD-4262-8770-6B7D9A513AD4}"/>
              </a:ext>
            </a:extLst>
          </p:cNvPr>
          <p:cNvSpPr>
            <a:spLocks noGrp="1"/>
          </p:cNvSpPr>
          <p:nvPr/>
        </p:nvSpPr>
        <p:spPr>
          <a:xfrm>
            <a:off x="8382000" y="3609975"/>
            <a:ext cx="304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D7E8FF"/>
                </a:solidFill>
                <a:latin typeface="Aptos"/>
                <a:ea typeface="Aptos"/>
                <a:cs typeface="Aptos"/>
              </a:defRPr>
            </a:pPr>
            <a:r>
              <a:rPr sz="1275" b="0" dirty="0">
                <a:solidFill>
                  <a:srgbClr val="D7E8FF"/>
                </a:solidFill>
                <a:latin typeface="Aptos"/>
                <a:ea typeface="Aptos"/>
                <a:cs typeface="Aptos"/>
              </a:rPr>
              <a:t>Move from a working prototype discussion to an executive path: prove, buy, or build with clear ownership.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924979F-15BB-41A4-825A-B23EC7E28952}"/>
              </a:ext>
            </a:extLst>
          </p:cNvPr>
          <p:cNvSpPr>
            <a:spLocks noGrp="1"/>
          </p:cNvSpPr>
          <p:nvPr/>
        </p:nvSpPr>
        <p:spPr>
          <a:xfrm>
            <a:off x="762000" y="3752850"/>
            <a:ext cx="1619250" cy="323850"/>
          </a:xfrm>
          <a:prstGeom prst="roundRect">
            <a:avLst>
              <a:gd name="adj" fmla="val 50000"/>
            </a:avLst>
          </a:prstGeom>
          <a:solidFill>
            <a:srgbClr val="183B78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4142F7-B10C-4D55-8254-7D8DAD8CBCBC}"/>
              </a:ext>
            </a:extLst>
          </p:cNvPr>
          <p:cNvSpPr>
            <a:spLocks noGrp="1"/>
          </p:cNvSpPr>
          <p:nvPr/>
        </p:nvSpPr>
        <p:spPr>
          <a:xfrm>
            <a:off x="857250" y="3829050"/>
            <a:ext cx="142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Current process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D8B08CE-3518-4EBF-8796-CD8CCCD98CBD}"/>
              </a:ext>
            </a:extLst>
          </p:cNvPr>
          <p:cNvSpPr>
            <a:spLocks noGrp="1"/>
          </p:cNvSpPr>
          <p:nvPr/>
        </p:nvSpPr>
        <p:spPr>
          <a:xfrm>
            <a:off x="2667000" y="3752850"/>
            <a:ext cx="1428750" cy="323850"/>
          </a:xfrm>
          <a:prstGeom prst="roundRect">
            <a:avLst>
              <a:gd name="adj" fmla="val 50000"/>
            </a:avLst>
          </a:prstGeom>
          <a:solidFill>
            <a:srgbClr val="183B78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04DAEB-AA44-4354-94F1-6C9A11E0237A}"/>
              </a:ext>
            </a:extLst>
          </p:cNvPr>
          <p:cNvSpPr>
            <a:spLocks noGrp="1"/>
          </p:cNvSpPr>
          <p:nvPr/>
        </p:nvSpPr>
        <p:spPr>
          <a:xfrm>
            <a:off x="2762250" y="3829050"/>
            <a:ext cx="123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Build option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46CA97B-DC96-4A91-876D-B49D2B4CE508}"/>
              </a:ext>
            </a:extLst>
          </p:cNvPr>
          <p:cNvSpPr>
            <a:spLocks noGrp="1"/>
          </p:cNvSpPr>
          <p:nvPr/>
        </p:nvSpPr>
        <p:spPr>
          <a:xfrm>
            <a:off x="4381500" y="3752850"/>
            <a:ext cx="1333500" cy="323850"/>
          </a:xfrm>
          <a:prstGeom prst="roundRect">
            <a:avLst>
              <a:gd name="adj" fmla="val 50000"/>
            </a:avLst>
          </a:prstGeom>
          <a:solidFill>
            <a:srgbClr val="183B78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2698CC1-534A-4049-B129-0EE3FE84BBCB}"/>
              </a:ext>
            </a:extLst>
          </p:cNvPr>
          <p:cNvSpPr>
            <a:spLocks noGrp="1"/>
          </p:cNvSpPr>
          <p:nvPr/>
        </p:nvSpPr>
        <p:spPr>
          <a:xfrm>
            <a:off x="4476750" y="3829050"/>
            <a:ext cx="114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Buy option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52D1697-4DCA-4F6F-A08F-2891434BA670}"/>
              </a:ext>
            </a:extLst>
          </p:cNvPr>
          <p:cNvSpPr>
            <a:spLocks noGrp="1"/>
          </p:cNvSpPr>
          <p:nvPr/>
        </p:nvSpPr>
        <p:spPr>
          <a:xfrm>
            <a:off x="6000750" y="3752850"/>
            <a:ext cx="1428750" cy="323850"/>
          </a:xfrm>
          <a:prstGeom prst="roundRect">
            <a:avLst>
              <a:gd name="adj" fmla="val 50000"/>
            </a:avLst>
          </a:prstGeom>
          <a:solidFill>
            <a:srgbClr val="183B78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4596825-9BD5-47FF-9FF1-B2F9F30F034D}"/>
              </a:ext>
            </a:extLst>
          </p:cNvPr>
          <p:cNvSpPr>
            <a:spLocks noGrp="1"/>
          </p:cNvSpPr>
          <p:nvPr/>
        </p:nvSpPr>
        <p:spPr>
          <a:xfrm>
            <a:off x="6096000" y="3829050"/>
            <a:ext cx="123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10A80FA-2C49-4836-A69B-F8BE354289C1}"/>
              </a:ext>
            </a:extLst>
          </p:cNvPr>
          <p:cNvSpPr>
            <a:spLocks noGrp="1"/>
          </p:cNvSpPr>
          <p:nvPr/>
        </p:nvSpPr>
        <p:spPr>
          <a:xfrm>
            <a:off x="723900" y="622935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AFCBE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FCBEE"/>
                </a:solidFill>
                <a:latin typeface="Aptos"/>
                <a:ea typeface="Aptos"/>
                <a:cs typeface="Aptos"/>
              </a:rPr>
              <a:t>Prepared for leadership discussion | June 2026</a:t>
            </a:r>
          </a:p>
        </p:txBody>
      </p:sp>
    </p:spTree>
    <p:extLst>
      <p:ext uri="{BB962C8B-B14F-4D97-AF65-F5344CB8AC3E}">
        <p14:creationId xmlns:p14="http://schemas.microsoft.com/office/powerpoint/2010/main" val="556184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BC0765C8-2B03-4D56-87A6-50D2761D9E28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Current Process: Email Validation and LSP Disbursement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867CC9-7B05-48AF-ABFC-7019AE5A7E98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Useful as a control layer, but not the target scalable LMS platform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881379-DBAA-43FE-BAC1-C3A80A8267E3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102B5A-0A35-4BAA-9851-C56930A738EB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5E1B6F-8E18-481A-86B1-D8D3212E274F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A25A0E2-3B08-4EF9-9670-0086CE68FF82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1809750" cy="1295400"/>
          </a:xfrm>
          <a:prstGeom prst="roundRect">
            <a:avLst>
              <a:gd name="adj" fmla="val 8824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A95580C-3751-410A-B40F-5151F33E4E90}"/>
              </a:ext>
            </a:extLst>
          </p:cNvPr>
          <p:cNvSpPr>
            <a:spLocks noGrp="1"/>
          </p:cNvSpPr>
          <p:nvPr/>
        </p:nvSpPr>
        <p:spPr>
          <a:xfrm>
            <a:off x="819150" y="1676400"/>
            <a:ext cx="323850" cy="323850"/>
          </a:xfrm>
          <a:prstGeom prst="ellipse">
            <a:avLst/>
          </a:prstGeom>
          <a:solidFill>
            <a:srgbClr val="0B1F45"/>
          </a:solidFill>
          <a:ln w="9525">
            <a:solidFill>
              <a:srgbClr val="0B1F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9FCBBA-16A3-4184-AD96-4EA22B238358}"/>
              </a:ext>
            </a:extLst>
          </p:cNvPr>
          <p:cNvSpPr>
            <a:spLocks noGrp="1"/>
          </p:cNvSpPr>
          <p:nvPr/>
        </p:nvSpPr>
        <p:spPr>
          <a:xfrm>
            <a:off x="819150" y="17335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CAF123-CFF1-4B97-AD51-6219B4766F97}"/>
              </a:ext>
            </a:extLst>
          </p:cNvPr>
          <p:cNvSpPr>
            <a:spLocks noGrp="1"/>
          </p:cNvSpPr>
          <p:nvPr/>
        </p:nvSpPr>
        <p:spPr>
          <a:xfrm>
            <a:off x="1216152" y="1664208"/>
            <a:ext cx="1170432" cy="512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LSP sends email / 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69A05C-4BB7-49E1-9BC0-B8B07A245E3B}"/>
              </a:ext>
            </a:extLst>
          </p:cNvPr>
          <p:cNvSpPr>
            <a:spLocks noGrp="1"/>
          </p:cNvSpPr>
          <p:nvPr/>
        </p:nvSpPr>
        <p:spPr>
          <a:xfrm>
            <a:off x="838200" y="2249424"/>
            <a:ext cx="146685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Input arrives through current LSP channel.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AD04E8C3-F453-4CD2-8696-8C128404925E}"/>
              </a:ext>
            </a:extLst>
          </p:cNvPr>
          <p:cNvSpPr>
            <a:spLocks noGrp="1"/>
          </p:cNvSpPr>
          <p:nvPr/>
        </p:nvSpPr>
        <p:spPr>
          <a:xfrm>
            <a:off x="2552700" y="2057400"/>
            <a:ext cx="323850" cy="228600"/>
          </a:xfrm>
          <a:prstGeom prst="rightArrow">
            <a:avLst/>
          </a:prstGeom>
          <a:solidFill>
            <a:srgbClr val="1769E0"/>
          </a:solidFill>
          <a:ln w="0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608177E-0023-41DB-9241-93A38321285E}"/>
              </a:ext>
            </a:extLst>
          </p:cNvPr>
          <p:cNvSpPr>
            <a:spLocks noGrp="1"/>
          </p:cNvSpPr>
          <p:nvPr/>
        </p:nvSpPr>
        <p:spPr>
          <a:xfrm>
            <a:off x="2857500" y="1524000"/>
            <a:ext cx="1809750" cy="1295400"/>
          </a:xfrm>
          <a:prstGeom prst="roundRect">
            <a:avLst>
              <a:gd name="adj" fmla="val 8824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3DF20E9-8ADD-44A6-A451-B587C0C53C37}"/>
              </a:ext>
            </a:extLst>
          </p:cNvPr>
          <p:cNvSpPr>
            <a:spLocks noGrp="1"/>
          </p:cNvSpPr>
          <p:nvPr/>
        </p:nvSpPr>
        <p:spPr>
          <a:xfrm>
            <a:off x="3009900" y="1676400"/>
            <a:ext cx="323850" cy="323850"/>
          </a:xfrm>
          <a:prstGeom prst="ellipse">
            <a:avLst/>
          </a:prstGeom>
          <a:solidFill>
            <a:srgbClr val="0B1F45"/>
          </a:solidFill>
          <a:ln w="9525">
            <a:solidFill>
              <a:srgbClr val="0B1F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4055FEA-ADA8-4253-ACCF-8E00AA8F53B8}"/>
              </a:ext>
            </a:extLst>
          </p:cNvPr>
          <p:cNvSpPr>
            <a:spLocks noGrp="1"/>
          </p:cNvSpPr>
          <p:nvPr/>
        </p:nvSpPr>
        <p:spPr>
          <a:xfrm>
            <a:off x="3009900" y="17335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987BE79-14A0-4D35-8715-1737D796CC50}"/>
              </a:ext>
            </a:extLst>
          </p:cNvPr>
          <p:cNvSpPr>
            <a:spLocks noGrp="1"/>
          </p:cNvSpPr>
          <p:nvPr/>
        </p:nvSpPr>
        <p:spPr>
          <a:xfrm>
            <a:off x="3410712" y="1664208"/>
            <a:ext cx="1161288" cy="512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GCP script validates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0390E2-013D-4B78-8500-E3855B1947F9}"/>
              </a:ext>
            </a:extLst>
          </p:cNvPr>
          <p:cNvSpPr>
            <a:spLocks noGrp="1"/>
          </p:cNvSpPr>
          <p:nvPr/>
        </p:nvSpPr>
        <p:spPr>
          <a:xfrm>
            <a:off x="3028950" y="2249424"/>
            <a:ext cx="146685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Automated script checks submitted email data.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6D26D279-6FAC-4E28-834E-3A6F8D1C5649}"/>
              </a:ext>
            </a:extLst>
          </p:cNvPr>
          <p:cNvSpPr>
            <a:spLocks noGrp="1"/>
          </p:cNvSpPr>
          <p:nvPr/>
        </p:nvSpPr>
        <p:spPr>
          <a:xfrm>
            <a:off x="4743450" y="2057400"/>
            <a:ext cx="323850" cy="228600"/>
          </a:xfrm>
          <a:prstGeom prst="rightArrow">
            <a:avLst/>
          </a:prstGeom>
          <a:solidFill>
            <a:srgbClr val="1769E0"/>
          </a:solidFill>
          <a:ln w="0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CACBDF1-8DA4-43D1-8F5B-C4EF6F7D9012}"/>
              </a:ext>
            </a:extLst>
          </p:cNvPr>
          <p:cNvSpPr>
            <a:spLocks noGrp="1"/>
          </p:cNvSpPr>
          <p:nvPr/>
        </p:nvSpPr>
        <p:spPr>
          <a:xfrm>
            <a:off x="5048250" y="1524000"/>
            <a:ext cx="1809750" cy="1295400"/>
          </a:xfrm>
          <a:prstGeom prst="roundRect">
            <a:avLst>
              <a:gd name="adj" fmla="val 8824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B0D52DE-79C5-4F6A-A294-488D692E874D}"/>
              </a:ext>
            </a:extLst>
          </p:cNvPr>
          <p:cNvSpPr>
            <a:spLocks noGrp="1"/>
          </p:cNvSpPr>
          <p:nvPr/>
        </p:nvSpPr>
        <p:spPr>
          <a:xfrm>
            <a:off x="5200650" y="1676400"/>
            <a:ext cx="323850" cy="323850"/>
          </a:xfrm>
          <a:prstGeom prst="ellipse">
            <a:avLst/>
          </a:prstGeom>
          <a:solidFill>
            <a:srgbClr val="0B1F45"/>
          </a:solidFill>
          <a:ln w="9525">
            <a:solidFill>
              <a:srgbClr val="0B1F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777E434-01E7-48A4-B11F-BAEC15A3DCCC}"/>
              </a:ext>
            </a:extLst>
          </p:cNvPr>
          <p:cNvSpPr>
            <a:spLocks noGrp="1"/>
          </p:cNvSpPr>
          <p:nvPr/>
        </p:nvSpPr>
        <p:spPr>
          <a:xfrm>
            <a:off x="5200650" y="17335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5A0387E-2857-4F24-99D0-66D3CAB56A98}"/>
              </a:ext>
            </a:extLst>
          </p:cNvPr>
          <p:cNvSpPr>
            <a:spLocks noGrp="1"/>
          </p:cNvSpPr>
          <p:nvPr/>
        </p:nvSpPr>
        <p:spPr>
          <a:xfrm>
            <a:off x="5596128" y="1664208"/>
            <a:ext cx="1170432" cy="512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Approval email returns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91BB3CB-DEB7-417E-B3A0-A51536B66302}"/>
              </a:ext>
            </a:extLst>
          </p:cNvPr>
          <p:cNvSpPr>
            <a:spLocks noGrp="1"/>
          </p:cNvSpPr>
          <p:nvPr/>
        </p:nvSpPr>
        <p:spPr>
          <a:xfrm>
            <a:off x="5219700" y="2249424"/>
            <a:ext cx="146685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Approval response is sent back to the LSP.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BDCB473C-85F9-4C34-B389-7FDCFE3BD683}"/>
              </a:ext>
            </a:extLst>
          </p:cNvPr>
          <p:cNvSpPr>
            <a:spLocks noGrp="1"/>
          </p:cNvSpPr>
          <p:nvPr/>
        </p:nvSpPr>
        <p:spPr>
          <a:xfrm>
            <a:off x="6934200" y="2057400"/>
            <a:ext cx="323850" cy="228600"/>
          </a:xfrm>
          <a:prstGeom prst="rightArrow">
            <a:avLst/>
          </a:prstGeom>
          <a:solidFill>
            <a:srgbClr val="1769E0"/>
          </a:solidFill>
          <a:ln w="0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5427757-C608-4EDE-87DF-572039BD3F21}"/>
              </a:ext>
            </a:extLst>
          </p:cNvPr>
          <p:cNvSpPr>
            <a:spLocks noGrp="1"/>
          </p:cNvSpPr>
          <p:nvPr/>
        </p:nvSpPr>
        <p:spPr>
          <a:xfrm>
            <a:off x="7239000" y="1524000"/>
            <a:ext cx="1809750" cy="1295400"/>
          </a:xfrm>
          <a:prstGeom prst="roundRect">
            <a:avLst>
              <a:gd name="adj" fmla="val 8824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2855D96-CDEC-4559-A422-07A89EEB746F}"/>
              </a:ext>
            </a:extLst>
          </p:cNvPr>
          <p:cNvSpPr>
            <a:spLocks noGrp="1"/>
          </p:cNvSpPr>
          <p:nvPr/>
        </p:nvSpPr>
        <p:spPr>
          <a:xfrm>
            <a:off x="7391400" y="1676400"/>
            <a:ext cx="323850" cy="323850"/>
          </a:xfrm>
          <a:prstGeom prst="ellipse">
            <a:avLst/>
          </a:prstGeom>
          <a:solidFill>
            <a:srgbClr val="0B1F45"/>
          </a:solidFill>
          <a:ln w="9525">
            <a:solidFill>
              <a:srgbClr val="0B1F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C372C6B-2299-420A-B8D0-779AFCA61E8C}"/>
              </a:ext>
            </a:extLst>
          </p:cNvPr>
          <p:cNvSpPr>
            <a:spLocks noGrp="1"/>
          </p:cNvSpPr>
          <p:nvPr/>
        </p:nvSpPr>
        <p:spPr>
          <a:xfrm>
            <a:off x="7391400" y="17335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F10DB2-7389-4CF0-99F2-C89C9E8165F5}"/>
              </a:ext>
            </a:extLst>
          </p:cNvPr>
          <p:cNvSpPr>
            <a:spLocks noGrp="1"/>
          </p:cNvSpPr>
          <p:nvPr/>
        </p:nvSpPr>
        <p:spPr>
          <a:xfrm>
            <a:off x="7790688" y="1664208"/>
            <a:ext cx="1170432" cy="512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LSP disburses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016C6E2-DE02-4FC4-B234-BD259BCDF7B0}"/>
              </a:ext>
            </a:extLst>
          </p:cNvPr>
          <p:cNvSpPr>
            <a:spLocks noGrp="1"/>
          </p:cNvSpPr>
          <p:nvPr/>
        </p:nvSpPr>
        <p:spPr>
          <a:xfrm>
            <a:off x="7410450" y="2249424"/>
            <a:ext cx="146685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Disbursement remains outside the platform.</a:t>
            </a:r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DC2E57FE-52BA-451E-BA16-5A4769841670}"/>
              </a:ext>
            </a:extLst>
          </p:cNvPr>
          <p:cNvSpPr>
            <a:spLocks noGrp="1"/>
          </p:cNvSpPr>
          <p:nvPr/>
        </p:nvSpPr>
        <p:spPr>
          <a:xfrm>
            <a:off x="9124950" y="2057400"/>
            <a:ext cx="323850" cy="228600"/>
          </a:xfrm>
          <a:prstGeom prst="rightArrow">
            <a:avLst/>
          </a:prstGeom>
          <a:solidFill>
            <a:srgbClr val="1769E0"/>
          </a:solidFill>
          <a:ln w="0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29F61623-77A1-4854-9491-20B6273A2493}"/>
              </a:ext>
            </a:extLst>
          </p:cNvPr>
          <p:cNvSpPr>
            <a:spLocks noGrp="1"/>
          </p:cNvSpPr>
          <p:nvPr/>
        </p:nvSpPr>
        <p:spPr>
          <a:xfrm>
            <a:off x="9429750" y="1524000"/>
            <a:ext cx="1809750" cy="1295400"/>
          </a:xfrm>
          <a:prstGeom prst="roundRect">
            <a:avLst>
              <a:gd name="adj" fmla="val 8824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B486CDA-A6A3-418B-AFCE-DEFEB520586F}"/>
              </a:ext>
            </a:extLst>
          </p:cNvPr>
          <p:cNvSpPr>
            <a:spLocks noGrp="1"/>
          </p:cNvSpPr>
          <p:nvPr/>
        </p:nvSpPr>
        <p:spPr>
          <a:xfrm>
            <a:off x="9582150" y="1676400"/>
            <a:ext cx="323850" cy="323850"/>
          </a:xfrm>
          <a:prstGeom prst="ellipse">
            <a:avLst/>
          </a:prstGeom>
          <a:solidFill>
            <a:srgbClr val="0B1F45"/>
          </a:solidFill>
          <a:ln w="9525">
            <a:solidFill>
              <a:srgbClr val="0B1F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0AC4924-6C28-4008-94B2-A5FE623B9D30}"/>
              </a:ext>
            </a:extLst>
          </p:cNvPr>
          <p:cNvSpPr>
            <a:spLocks noGrp="1"/>
          </p:cNvSpPr>
          <p:nvPr/>
        </p:nvSpPr>
        <p:spPr>
          <a:xfrm>
            <a:off x="9582150" y="17335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6F7DA8E-46BE-4B8E-9CD3-628E1F2B5384}"/>
              </a:ext>
            </a:extLst>
          </p:cNvPr>
          <p:cNvSpPr>
            <a:spLocks noGrp="1"/>
          </p:cNvSpPr>
          <p:nvPr/>
        </p:nvSpPr>
        <p:spPr>
          <a:xfrm>
            <a:off x="9985248" y="1664208"/>
            <a:ext cx="1161288" cy="512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PostgreSQL stores approval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66D6A66-6E47-48B6-B58F-797785D17340}"/>
              </a:ext>
            </a:extLst>
          </p:cNvPr>
          <p:cNvSpPr>
            <a:spLocks noGrp="1"/>
          </p:cNvSpPr>
          <p:nvPr/>
        </p:nvSpPr>
        <p:spPr>
          <a:xfrm>
            <a:off x="9601200" y="2249424"/>
            <a:ext cx="146685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Approval record is kept for reference/control.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3189F1D-407B-4273-878A-DC249DD2E87E}"/>
              </a:ext>
            </a:extLst>
          </p:cNvPr>
          <p:cNvSpPr>
            <a:spLocks noGrp="1"/>
          </p:cNvSpPr>
          <p:nvPr/>
        </p:nvSpPr>
        <p:spPr>
          <a:xfrm>
            <a:off x="857250" y="3619500"/>
            <a:ext cx="3143250" cy="1657350"/>
          </a:xfrm>
          <a:prstGeom prst="roundRect">
            <a:avLst>
              <a:gd name="adj" fmla="val 5747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DC8EB10-CD59-469C-8227-82CD369147EE}"/>
              </a:ext>
            </a:extLst>
          </p:cNvPr>
          <p:cNvSpPr>
            <a:spLocks noGrp="1"/>
          </p:cNvSpPr>
          <p:nvPr/>
        </p:nvSpPr>
        <p:spPr>
          <a:xfrm>
            <a:off x="857250" y="3619500"/>
            <a:ext cx="57150" cy="165735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2C33AAF-DD18-4668-BB6A-B3DC8099582C}"/>
              </a:ext>
            </a:extLst>
          </p:cNvPr>
          <p:cNvSpPr>
            <a:spLocks noGrp="1"/>
          </p:cNvSpPr>
          <p:nvPr/>
        </p:nvSpPr>
        <p:spPr>
          <a:xfrm>
            <a:off x="1047750" y="37909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Current facts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DC16ECD-CAEB-45CE-B029-9601C97986DE}"/>
              </a:ext>
            </a:extLst>
          </p:cNvPr>
          <p:cNvSpPr>
            <a:spLocks noGrp="1"/>
          </p:cNvSpPr>
          <p:nvPr/>
        </p:nvSpPr>
        <p:spPr>
          <a:xfrm>
            <a:off x="1047750" y="4133087"/>
            <a:ext cx="2762250" cy="10972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137160" indent="-137160">
              <a:spcBef>
                <a:spcPts val="300"/>
              </a:spcBef>
              <a:buClr>
                <a:srgbClr val="1769E0"/>
              </a:buClr>
              <a:buFont typeface="Arial"/>
              <a:buChar char="•"/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Validation is a GCP script, not a managed platform.</a:t>
            </a:r>
          </a:p>
          <a:p>
            <a:pPr marL="137160" indent="-137160">
              <a:spcBef>
                <a:spcPts val="300"/>
              </a:spcBef>
              <a:buClr>
                <a:srgbClr val="1769E0"/>
              </a:buClr>
              <a:buFont typeface="Arial"/>
              <a:buChar char="•"/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Approvals are returned to the LSP by email.</a:t>
            </a:r>
          </a:p>
          <a:p>
            <a:pPr marL="137160" indent="-137160">
              <a:spcBef>
                <a:spcPts val="300"/>
              </a:spcBef>
              <a:buClr>
                <a:srgbClr val="1769E0"/>
              </a:buClr>
              <a:buFont typeface="Arial"/>
              <a:buChar char="•"/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Only approval evidence is a PostgreSQL record.</a:t>
            </a:r>
          </a:p>
          <a:p>
            <a:pPr marL="137160" indent="-137160">
              <a:spcBef>
                <a:spcPts val="300"/>
              </a:spcBef>
              <a:buClr>
                <a:srgbClr val="1769E0"/>
              </a:buClr>
              <a:buFont typeface="Arial"/>
              <a:buChar char="•"/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Money moves on the LSP's own channel.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FABC0335-4DC9-4646-8113-56D47C748BFE}"/>
              </a:ext>
            </a:extLst>
          </p:cNvPr>
          <p:cNvSpPr>
            <a:spLocks noGrp="1"/>
          </p:cNvSpPr>
          <p:nvPr/>
        </p:nvSpPr>
        <p:spPr>
          <a:xfrm>
            <a:off x="4495800" y="3619500"/>
            <a:ext cx="3143250" cy="1657350"/>
          </a:xfrm>
          <a:prstGeom prst="roundRect">
            <a:avLst>
              <a:gd name="adj" fmla="val 5747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EA93BC1-7D7D-4D3E-A4A6-705AA3D15478}"/>
              </a:ext>
            </a:extLst>
          </p:cNvPr>
          <p:cNvSpPr>
            <a:spLocks noGrp="1"/>
          </p:cNvSpPr>
          <p:nvPr/>
        </p:nvSpPr>
        <p:spPr>
          <a:xfrm>
            <a:off x="4495800" y="3619500"/>
            <a:ext cx="57150" cy="165735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165438E-439A-4144-B30B-5C6C01C8F09A}"/>
              </a:ext>
            </a:extLst>
          </p:cNvPr>
          <p:cNvSpPr>
            <a:spLocks noGrp="1"/>
          </p:cNvSpPr>
          <p:nvPr/>
        </p:nvSpPr>
        <p:spPr>
          <a:xfrm>
            <a:off x="4686300" y="37909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What works today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73B4FF7-9220-4D48-8C0D-BB94C972F8E3}"/>
              </a:ext>
            </a:extLst>
          </p:cNvPr>
          <p:cNvSpPr>
            <a:spLocks noGrp="1"/>
          </p:cNvSpPr>
          <p:nvPr/>
        </p:nvSpPr>
        <p:spPr>
          <a:xfrm>
            <a:off x="4686300" y="4133087"/>
            <a:ext cx="2762250" cy="10972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137160" indent="-137160">
              <a:spcBef>
                <a:spcPts val="300"/>
              </a:spcBef>
              <a:buClr>
                <a:srgbClr val="1769E0"/>
              </a:buClr>
              <a:buFont typeface="Arial"/>
              <a:buChar char="•"/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Low-cost way to prove the control concept.</a:t>
            </a:r>
          </a:p>
          <a:p>
            <a:pPr marL="137160" indent="-137160">
              <a:spcBef>
                <a:spcPts val="300"/>
              </a:spcBef>
              <a:buClr>
                <a:srgbClr val="1769E0"/>
              </a:buClr>
              <a:buFont typeface="Arial"/>
              <a:buChar char="•"/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Quick to change while the process is still evolving.</a:t>
            </a:r>
          </a:p>
          <a:p>
            <a:pPr marL="137160" indent="-137160">
              <a:spcBef>
                <a:spcPts val="300"/>
              </a:spcBef>
              <a:buClr>
                <a:srgbClr val="1769E0"/>
              </a:buClr>
              <a:buFont typeface="Arial"/>
              <a:buChar char="•"/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Keeps the current LSP disbursement flow running.</a:t>
            </a:r>
          </a:p>
          <a:p>
            <a:pPr marL="137160" indent="-137160">
              <a:spcBef>
                <a:spcPts val="300"/>
              </a:spcBef>
              <a:buClr>
                <a:srgbClr val="1769E0"/>
              </a:buClr>
              <a:buFont typeface="Arial"/>
              <a:buChar char="•"/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Produces basic approval evidence.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4EFB73E8-BF82-4137-97D3-82246565C4D7}"/>
              </a:ext>
            </a:extLst>
          </p:cNvPr>
          <p:cNvSpPr>
            <a:spLocks noGrp="1"/>
          </p:cNvSpPr>
          <p:nvPr/>
        </p:nvSpPr>
        <p:spPr>
          <a:xfrm>
            <a:off x="8134350" y="3619500"/>
            <a:ext cx="3143250" cy="1657350"/>
          </a:xfrm>
          <a:prstGeom prst="roundRect">
            <a:avLst>
              <a:gd name="adj" fmla="val 5747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C9E80E4-414D-4CC7-8232-B11E7068C0DF}"/>
              </a:ext>
            </a:extLst>
          </p:cNvPr>
          <p:cNvSpPr>
            <a:spLocks noGrp="1"/>
          </p:cNvSpPr>
          <p:nvPr/>
        </p:nvSpPr>
        <p:spPr>
          <a:xfrm>
            <a:off x="8134350" y="3619500"/>
            <a:ext cx="57150" cy="165735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355298B-75C7-4C42-AB5B-354592BB0577}"/>
              </a:ext>
            </a:extLst>
          </p:cNvPr>
          <p:cNvSpPr>
            <a:spLocks noGrp="1"/>
          </p:cNvSpPr>
          <p:nvPr/>
        </p:nvSpPr>
        <p:spPr>
          <a:xfrm>
            <a:off x="8324850" y="37909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Key risks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A2C3855-E3BF-4E58-9953-029384C68ADE}"/>
              </a:ext>
            </a:extLst>
          </p:cNvPr>
          <p:cNvSpPr>
            <a:spLocks noGrp="1"/>
          </p:cNvSpPr>
          <p:nvPr/>
        </p:nvSpPr>
        <p:spPr>
          <a:xfrm>
            <a:off x="8324850" y="4133087"/>
            <a:ext cx="2762250" cy="10972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137160" indent="-137160">
              <a:spcBef>
                <a:spcPts val="300"/>
              </a:spcBef>
              <a:buClr>
                <a:srgbClr val="1769E0"/>
              </a:buClr>
              <a:buFont typeface="Arial"/>
              <a:buChar char="•"/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Weak control over money flow — disbursement sits outside the platform.</a:t>
            </a:r>
          </a:p>
          <a:p>
            <a:pPr marL="137160" indent="-137160">
              <a:spcBef>
                <a:spcPts val="300"/>
              </a:spcBef>
              <a:buClr>
                <a:srgbClr val="1769E0"/>
              </a:buClr>
              <a:buFont typeface="Arial"/>
              <a:buChar char="•"/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Audit exposure: limited logging, access, and segregation of duties.</a:t>
            </a:r>
          </a:p>
          <a:p>
            <a:pPr marL="137160" indent="-137160">
              <a:spcBef>
                <a:spcPts val="300"/>
              </a:spcBef>
              <a:buClr>
                <a:srgbClr val="1769E0"/>
              </a:buClr>
              <a:buFont typeface="Arial"/>
              <a:buChar char="•"/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Email is not a defensible system of record.</a:t>
            </a:r>
          </a:p>
          <a:p>
            <a:pPr marL="137160" indent="-137160">
              <a:spcBef>
                <a:spcPts val="300"/>
              </a:spcBef>
              <a:buClr>
                <a:srgbClr val="1769E0"/>
              </a:buClr>
              <a:buFont typeface="Arial"/>
              <a:buChar char="•"/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Risk and manual effort grow with every new LSP.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C1319A2-82B0-4D1E-8561-807185C13618}"/>
              </a:ext>
            </a:extLst>
          </p:cNvPr>
          <p:cNvSpPr>
            <a:spLocks noGrp="1"/>
          </p:cNvSpPr>
          <p:nvPr/>
        </p:nvSpPr>
        <p:spPr>
          <a:xfrm>
            <a:off x="1524000" y="5638800"/>
            <a:ext cx="914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Executive takeaway: keep this as prototype learning, not as the long-term scalable platform.</a:t>
            </a:r>
          </a:p>
        </p:txBody>
      </p:sp>
    </p:spTree>
    <p:extLst>
      <p:ext uri="{BB962C8B-B14F-4D97-AF65-F5344CB8AC3E}">
        <p14:creationId xmlns:p14="http://schemas.microsoft.com/office/powerpoint/2010/main" val="450784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920EF834-EC5D-47D7-B0CD-D1323A3CECC5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Decision to Make: Build vs Buy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AEDCB3-636E-4B07-A7D6-A3B292B38236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The executive decision is not just technology; it is ownership, control, adoption, and auditability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47EBC5-7A5D-4858-9D3C-6E4226E8B98E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6FFF09-CE6C-4220-996C-07E08A374AE2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86A925-7D9A-4D53-933B-2BBF952BDF79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581E0DA-3A6B-4511-BED0-07F4084E788D}"/>
              </a:ext>
            </a:extLst>
          </p:cNvPr>
          <p:cNvSpPr>
            <a:spLocks noGrp="1"/>
          </p:cNvSpPr>
          <p:nvPr/>
        </p:nvSpPr>
        <p:spPr>
          <a:xfrm>
            <a:off x="723900" y="1466850"/>
            <a:ext cx="5048250" cy="409575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D8CD3E-5941-4BE5-B4FB-5BCD33A90DC6}"/>
              </a:ext>
            </a:extLst>
          </p:cNvPr>
          <p:cNvSpPr>
            <a:spLocks noGrp="1"/>
          </p:cNvSpPr>
          <p:nvPr/>
        </p:nvSpPr>
        <p:spPr>
          <a:xfrm>
            <a:off x="723900" y="1466850"/>
            <a:ext cx="5048250" cy="514350"/>
          </a:xfrm>
          <a:prstGeom prst="rect">
            <a:avLst/>
          </a:prstGeom>
          <a:solidFill>
            <a:srgbClr val="0B1F45"/>
          </a:solidFill>
          <a:ln w="9525">
            <a:solidFill>
              <a:srgbClr val="0B1F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DE427E-31AC-4C29-A609-2704598580B7}"/>
              </a:ext>
            </a:extLst>
          </p:cNvPr>
          <p:cNvSpPr>
            <a:spLocks noGrp="1"/>
          </p:cNvSpPr>
          <p:nvPr/>
        </p:nvSpPr>
        <p:spPr>
          <a:xfrm>
            <a:off x="952500" y="1600200"/>
            <a:ext cx="457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Option A: Build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B13CC55-273B-4C8B-9E5B-9E8890A15508}"/>
              </a:ext>
            </a:extLst>
          </p:cNvPr>
          <p:cNvSpPr>
            <a:spLocks noGrp="1"/>
          </p:cNvSpPr>
          <p:nvPr/>
        </p:nvSpPr>
        <p:spPr>
          <a:xfrm>
            <a:off x="952500" y="2152650"/>
            <a:ext cx="4591050" cy="704850"/>
          </a:xfrm>
          <a:prstGeom prst="roundRect">
            <a:avLst>
              <a:gd name="adj" fmla="val 10811"/>
            </a:avLst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36BE29-669C-47D8-8EA7-92A3F43CA952}"/>
              </a:ext>
            </a:extLst>
          </p:cNvPr>
          <p:cNvSpPr>
            <a:spLocks noGrp="1"/>
          </p:cNvSpPr>
          <p:nvPr/>
        </p:nvSpPr>
        <p:spPr>
          <a:xfrm>
            <a:off x="1123950" y="2266950"/>
            <a:ext cx="10668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Cost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D747D70-689C-44AC-9F54-FCB3BF155306}"/>
              </a:ext>
            </a:extLst>
          </p:cNvPr>
          <p:cNvSpPr>
            <a:spLocks noGrp="1"/>
          </p:cNvSpPr>
          <p:nvPr/>
        </p:nvSpPr>
        <p:spPr>
          <a:xfrm>
            <a:off x="2247900" y="2247900"/>
            <a:ext cx="304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Higher upfront build effort; no recurring licence fees.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4DE8325-22A8-4DFD-92D6-C05B7961D3C6}"/>
              </a:ext>
            </a:extLst>
          </p:cNvPr>
          <p:cNvSpPr>
            <a:spLocks noGrp="1"/>
          </p:cNvSpPr>
          <p:nvPr/>
        </p:nvSpPr>
        <p:spPr>
          <a:xfrm>
            <a:off x="952500" y="2952750"/>
            <a:ext cx="4591050" cy="704850"/>
          </a:xfrm>
          <a:prstGeom prst="roundRect">
            <a:avLst>
              <a:gd name="adj" fmla="val 10811"/>
            </a:avLst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EE8CF0-AC98-48AD-9B13-B86ECDC67B93}"/>
              </a:ext>
            </a:extLst>
          </p:cNvPr>
          <p:cNvSpPr>
            <a:spLocks noGrp="1"/>
          </p:cNvSpPr>
          <p:nvPr/>
        </p:nvSpPr>
        <p:spPr>
          <a:xfrm>
            <a:off x="1123950" y="3067050"/>
            <a:ext cx="10668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Team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83B678-2882-43BA-BDEC-F9AB9CD13A07}"/>
              </a:ext>
            </a:extLst>
          </p:cNvPr>
          <p:cNvSpPr>
            <a:spLocks noGrp="1"/>
          </p:cNvSpPr>
          <p:nvPr/>
        </p:nvSpPr>
        <p:spPr>
          <a:xfrm>
            <a:off x="2247900" y="3048000"/>
            <a:ext cx="304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Needs dedicated engineering, SDLC, and support capacity.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A0024D1-C367-4605-85B6-C5480F57B450}"/>
              </a:ext>
            </a:extLst>
          </p:cNvPr>
          <p:cNvSpPr>
            <a:spLocks noGrp="1"/>
          </p:cNvSpPr>
          <p:nvPr/>
        </p:nvSpPr>
        <p:spPr>
          <a:xfrm>
            <a:off x="952500" y="3752850"/>
            <a:ext cx="4591050" cy="704850"/>
          </a:xfrm>
          <a:prstGeom prst="roundRect">
            <a:avLst>
              <a:gd name="adj" fmla="val 10811"/>
            </a:avLst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AB78DE-34C1-46A2-926A-465B6222D31F}"/>
              </a:ext>
            </a:extLst>
          </p:cNvPr>
          <p:cNvSpPr>
            <a:spLocks noGrp="1"/>
          </p:cNvSpPr>
          <p:nvPr/>
        </p:nvSpPr>
        <p:spPr>
          <a:xfrm>
            <a:off x="1123950" y="3867150"/>
            <a:ext cx="10668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3CC3287-C63A-451F-B701-A56848A6B635}"/>
              </a:ext>
            </a:extLst>
          </p:cNvPr>
          <p:cNvSpPr>
            <a:spLocks noGrp="1"/>
          </p:cNvSpPr>
          <p:nvPr/>
        </p:nvSpPr>
        <p:spPr>
          <a:xfrm>
            <a:off x="2247900" y="3848100"/>
            <a:ext cx="304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Full control of audit model, security, and data path.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DDE717D-E8B6-46A8-8370-BDA67FAE274B}"/>
              </a:ext>
            </a:extLst>
          </p:cNvPr>
          <p:cNvSpPr>
            <a:spLocks noGrp="1"/>
          </p:cNvSpPr>
          <p:nvPr/>
        </p:nvSpPr>
        <p:spPr>
          <a:xfrm>
            <a:off x="952500" y="4552950"/>
            <a:ext cx="4591050" cy="704850"/>
          </a:xfrm>
          <a:prstGeom prst="roundRect">
            <a:avLst>
              <a:gd name="adj" fmla="val 10811"/>
            </a:avLst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07C96CD-EA27-4D1B-81F6-E30A425D6212}"/>
              </a:ext>
            </a:extLst>
          </p:cNvPr>
          <p:cNvSpPr>
            <a:spLocks noGrp="1"/>
          </p:cNvSpPr>
          <p:nvPr/>
        </p:nvSpPr>
        <p:spPr>
          <a:xfrm>
            <a:off x="1123950" y="4667250"/>
            <a:ext cx="10668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Time to Market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DF01D8A-44F4-45A5-8FBE-703AA58EE108}"/>
              </a:ext>
            </a:extLst>
          </p:cNvPr>
          <p:cNvSpPr>
            <a:spLocks noGrp="1"/>
          </p:cNvSpPr>
          <p:nvPr/>
        </p:nvSpPr>
        <p:spPr>
          <a:xfrm>
            <a:off x="2247900" y="4648200"/>
            <a:ext cx="304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Slower: infrastructure, build, and hardening take months.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69CDF16-FAD6-4943-916C-9CCC0EE0CC16}"/>
              </a:ext>
            </a:extLst>
          </p:cNvPr>
          <p:cNvSpPr>
            <a:spLocks noGrp="1"/>
          </p:cNvSpPr>
          <p:nvPr/>
        </p:nvSpPr>
        <p:spPr>
          <a:xfrm>
            <a:off x="6419850" y="1466850"/>
            <a:ext cx="5048250" cy="409575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275FDDA-EF74-483C-8A6A-114F5F587779}"/>
              </a:ext>
            </a:extLst>
          </p:cNvPr>
          <p:cNvSpPr>
            <a:spLocks noGrp="1"/>
          </p:cNvSpPr>
          <p:nvPr/>
        </p:nvSpPr>
        <p:spPr>
          <a:xfrm>
            <a:off x="6419850" y="1466850"/>
            <a:ext cx="5048250" cy="514350"/>
          </a:xfrm>
          <a:prstGeom prst="rect">
            <a:avLst/>
          </a:prstGeom>
          <a:solidFill>
            <a:srgbClr val="0B1F45"/>
          </a:solidFill>
          <a:ln w="9525">
            <a:solidFill>
              <a:srgbClr val="0B1F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0FA561B-0404-4A97-A9E4-9662825A9702}"/>
              </a:ext>
            </a:extLst>
          </p:cNvPr>
          <p:cNvSpPr>
            <a:spLocks noGrp="1"/>
          </p:cNvSpPr>
          <p:nvPr/>
        </p:nvSpPr>
        <p:spPr>
          <a:xfrm>
            <a:off x="6648450" y="1600200"/>
            <a:ext cx="457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Option B: Buy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5F534F4-ED20-4DAA-861C-0415373C9865}"/>
              </a:ext>
            </a:extLst>
          </p:cNvPr>
          <p:cNvSpPr>
            <a:spLocks noGrp="1"/>
          </p:cNvSpPr>
          <p:nvPr/>
        </p:nvSpPr>
        <p:spPr>
          <a:xfrm>
            <a:off x="6648450" y="2152650"/>
            <a:ext cx="4591050" cy="704850"/>
          </a:xfrm>
          <a:prstGeom prst="roundRect">
            <a:avLst>
              <a:gd name="adj" fmla="val 10811"/>
            </a:avLst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A88D08-0800-42CF-BA4B-BD6B9A3ACE62}"/>
              </a:ext>
            </a:extLst>
          </p:cNvPr>
          <p:cNvSpPr>
            <a:spLocks noGrp="1"/>
          </p:cNvSpPr>
          <p:nvPr/>
        </p:nvSpPr>
        <p:spPr>
          <a:xfrm>
            <a:off x="6819900" y="2266950"/>
            <a:ext cx="10668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Cost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2A60757-84F6-473F-A5B0-FFFE8F4FF033}"/>
              </a:ext>
            </a:extLst>
          </p:cNvPr>
          <p:cNvSpPr>
            <a:spLocks noGrp="1"/>
          </p:cNvSpPr>
          <p:nvPr/>
        </p:nvSpPr>
        <p:spPr>
          <a:xfrm>
            <a:off x="7943850" y="2247900"/>
            <a:ext cx="304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Lower build effort; recurring licence and change fees.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0A0AB81-7132-40A9-8EB1-1DC6CC793538}"/>
              </a:ext>
            </a:extLst>
          </p:cNvPr>
          <p:cNvSpPr>
            <a:spLocks noGrp="1"/>
          </p:cNvSpPr>
          <p:nvPr/>
        </p:nvSpPr>
        <p:spPr>
          <a:xfrm>
            <a:off x="6648450" y="2952750"/>
            <a:ext cx="4591050" cy="704850"/>
          </a:xfrm>
          <a:prstGeom prst="roundRect">
            <a:avLst>
              <a:gd name="adj" fmla="val 10811"/>
            </a:avLst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A1DF7A1-D725-4EF3-B60E-C21898815691}"/>
              </a:ext>
            </a:extLst>
          </p:cNvPr>
          <p:cNvSpPr>
            <a:spLocks noGrp="1"/>
          </p:cNvSpPr>
          <p:nvPr/>
        </p:nvSpPr>
        <p:spPr>
          <a:xfrm>
            <a:off x="6819900" y="3067050"/>
            <a:ext cx="10668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Team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5F2AA78-C0CE-408E-9735-D20B1F60E547}"/>
              </a:ext>
            </a:extLst>
          </p:cNvPr>
          <p:cNvSpPr>
            <a:spLocks noGrp="1"/>
          </p:cNvSpPr>
          <p:nvPr/>
        </p:nvSpPr>
        <p:spPr>
          <a:xfrm>
            <a:off x="7943850" y="3048000"/>
            <a:ext cx="304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Vendor-led; less in-house build, but vendor management.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81AB43D-0D10-4DC2-999A-708A83846F7C}"/>
              </a:ext>
            </a:extLst>
          </p:cNvPr>
          <p:cNvSpPr>
            <a:spLocks noGrp="1"/>
          </p:cNvSpPr>
          <p:nvPr/>
        </p:nvSpPr>
        <p:spPr>
          <a:xfrm>
            <a:off x="6648450" y="3752850"/>
            <a:ext cx="4591050" cy="704850"/>
          </a:xfrm>
          <a:prstGeom prst="roundRect">
            <a:avLst>
              <a:gd name="adj" fmla="val 10811"/>
            </a:avLst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DA46263-06AE-474D-8AD6-A69E7E019B4B}"/>
              </a:ext>
            </a:extLst>
          </p:cNvPr>
          <p:cNvSpPr>
            <a:spLocks noGrp="1"/>
          </p:cNvSpPr>
          <p:nvPr/>
        </p:nvSpPr>
        <p:spPr>
          <a:xfrm>
            <a:off x="6819900" y="3867150"/>
            <a:ext cx="10668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2CB6997-2849-4D20-87D4-8D940857A30A}"/>
              </a:ext>
            </a:extLst>
          </p:cNvPr>
          <p:cNvSpPr>
            <a:spLocks noGrp="1"/>
          </p:cNvSpPr>
          <p:nvPr/>
        </p:nvSpPr>
        <p:spPr>
          <a:xfrm>
            <a:off x="7943850" y="3848100"/>
            <a:ext cx="304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Shared or limited control; relies on vendor audit/exports.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9FD44B8-31EC-43BC-A65E-C5CDC4CAC31F}"/>
              </a:ext>
            </a:extLst>
          </p:cNvPr>
          <p:cNvSpPr>
            <a:spLocks noGrp="1"/>
          </p:cNvSpPr>
          <p:nvPr/>
        </p:nvSpPr>
        <p:spPr>
          <a:xfrm>
            <a:off x="6648450" y="4552950"/>
            <a:ext cx="4591050" cy="704850"/>
          </a:xfrm>
          <a:prstGeom prst="roundRect">
            <a:avLst>
              <a:gd name="adj" fmla="val 10811"/>
            </a:avLst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C46FFE9-CF46-47C5-B96A-F25342AE57AA}"/>
              </a:ext>
            </a:extLst>
          </p:cNvPr>
          <p:cNvSpPr>
            <a:spLocks noGrp="1"/>
          </p:cNvSpPr>
          <p:nvPr/>
        </p:nvSpPr>
        <p:spPr>
          <a:xfrm>
            <a:off x="6819900" y="4667250"/>
            <a:ext cx="10668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Time to Market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225A0DC-0E89-4355-B831-AF1E7B4B4D1E}"/>
              </a:ext>
            </a:extLst>
          </p:cNvPr>
          <p:cNvSpPr>
            <a:spLocks noGrp="1"/>
          </p:cNvSpPr>
          <p:nvPr/>
        </p:nvSpPr>
        <p:spPr>
          <a:xfrm>
            <a:off x="7943850" y="4648200"/>
            <a:ext cx="304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Faster: mature features sooner, after due diligence.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F6A2260-4910-4550-B63C-8E0AF4D2BA70}"/>
              </a:ext>
            </a:extLst>
          </p:cNvPr>
          <p:cNvSpPr>
            <a:spLocks noGrp="1"/>
          </p:cNvSpPr>
          <p:nvPr/>
        </p:nvSpPr>
        <p:spPr>
          <a:xfrm>
            <a:off x="1200150" y="5886450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Decision lens: choose the path that gives LSPs a reason to move, keeps controls auditable, and has clear ownership.</a:t>
            </a:r>
          </a:p>
        </p:txBody>
      </p:sp>
    </p:spTree>
    <p:extLst>
      <p:ext uri="{BB962C8B-B14F-4D97-AF65-F5344CB8AC3E}">
        <p14:creationId xmlns:p14="http://schemas.microsoft.com/office/powerpoint/2010/main" val="718779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03D89DE3-0BCC-4C80-A877-12EFC851DE84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Prototype Implemented: What It Means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11F367-4F1D-49E7-9A13-2841E24A9ED2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Informative prototype, not production platform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C6B3E9-BFAE-4FB2-BD64-7851960F81B3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03F0AD-F7B6-483D-88BF-35E1945D0AF3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8EAC11-35F0-493F-8F84-82F54A7A6FA9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AA04C6A-6663-47D3-B88A-6B4F7C042021}"/>
              </a:ext>
            </a:extLst>
          </p:cNvPr>
          <p:cNvSpPr>
            <a:spLocks noGrp="1"/>
          </p:cNvSpPr>
          <p:nvPr/>
        </p:nvSpPr>
        <p:spPr>
          <a:xfrm>
            <a:off x="838200" y="1524000"/>
            <a:ext cx="3048000" cy="1790700"/>
          </a:xfrm>
          <a:prstGeom prst="roundRect">
            <a:avLst>
              <a:gd name="adj" fmla="val 5319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8D516C-E385-426D-A077-0C2A3EFA1E54}"/>
              </a:ext>
            </a:extLst>
          </p:cNvPr>
          <p:cNvSpPr>
            <a:spLocks noGrp="1"/>
          </p:cNvSpPr>
          <p:nvPr/>
        </p:nvSpPr>
        <p:spPr>
          <a:xfrm>
            <a:off x="838200" y="1524000"/>
            <a:ext cx="57150" cy="17907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FE40E9-F1D0-40DD-8C7A-F0477E046FF3}"/>
              </a:ext>
            </a:extLst>
          </p:cNvPr>
          <p:cNvSpPr>
            <a:spLocks noGrp="1"/>
          </p:cNvSpPr>
          <p:nvPr/>
        </p:nvSpPr>
        <p:spPr>
          <a:xfrm>
            <a:off x="1028700" y="16954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What exists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9DD9FC0-5A77-4909-9B99-86FD41B32690}"/>
              </a:ext>
            </a:extLst>
          </p:cNvPr>
          <p:cNvSpPr>
            <a:spLocks noGrp="1"/>
          </p:cNvSpPr>
          <p:nvPr/>
        </p:nvSpPr>
        <p:spPr>
          <a:xfrm>
            <a:off x="1028700" y="2076450"/>
            <a:ext cx="2667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 working concept for validation, approval, data capture, and basic workflow.</a:t>
            </a:r>
          </a:p>
          <a:p>
            <a:endParaRPr sz="1200" b="0">
              <a:solidFill>
                <a:srgbClr val="17324D"/>
              </a:solidFill>
              <a:latin typeface="Aptos"/>
              <a:ea typeface="Aptos"/>
              <a:cs typeface="Aptos"/>
            </a:endParaRPr>
          </a:p>
          <a:p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Useful for learning and vendor comparison.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2C2562E-2B12-470D-B010-0DB5DE2A0A48}"/>
              </a:ext>
            </a:extLst>
          </p:cNvPr>
          <p:cNvSpPr>
            <a:spLocks noGrp="1"/>
          </p:cNvSpPr>
          <p:nvPr/>
        </p:nvSpPr>
        <p:spPr>
          <a:xfrm>
            <a:off x="4572000" y="1524000"/>
            <a:ext cx="3048000" cy="1790700"/>
          </a:xfrm>
          <a:prstGeom prst="roundRect">
            <a:avLst>
              <a:gd name="adj" fmla="val 5319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5BB54C-D1A4-4DDA-A25A-E9A0A11D13B2}"/>
              </a:ext>
            </a:extLst>
          </p:cNvPr>
          <p:cNvSpPr>
            <a:spLocks noGrp="1"/>
          </p:cNvSpPr>
          <p:nvPr/>
        </p:nvSpPr>
        <p:spPr>
          <a:xfrm>
            <a:off x="4572000" y="1524000"/>
            <a:ext cx="57150" cy="17907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CDD1A7-D0BF-41B0-B760-B3C5A1CB9638}"/>
              </a:ext>
            </a:extLst>
          </p:cNvPr>
          <p:cNvSpPr>
            <a:spLocks noGrp="1"/>
          </p:cNvSpPr>
          <p:nvPr/>
        </p:nvSpPr>
        <p:spPr>
          <a:xfrm>
            <a:off x="4762500" y="16954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What does not exist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640E833-8B8A-452D-B1C2-ACB06290D584}"/>
              </a:ext>
            </a:extLst>
          </p:cNvPr>
          <p:cNvSpPr>
            <a:spLocks noGrp="1"/>
          </p:cNvSpPr>
          <p:nvPr/>
        </p:nvSpPr>
        <p:spPr>
          <a:xfrm>
            <a:off x="4762500" y="2076450"/>
            <a:ext cx="2667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No production deployment.</a:t>
            </a:r>
          </a:p>
          <a:p>
            <a:pPr algn="l">
              <a:defRPr sz="116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No Azure India subscription or production infrastructure.</a:t>
            </a:r>
          </a:p>
          <a:p>
            <a:pPr algn="l">
              <a:defRPr sz="116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No proven HA, DR, monitoring, support model, or security certification.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BE839E0-3579-4626-BC55-7647AB07D2E3}"/>
              </a:ext>
            </a:extLst>
          </p:cNvPr>
          <p:cNvSpPr>
            <a:spLocks noGrp="1"/>
          </p:cNvSpPr>
          <p:nvPr/>
        </p:nvSpPr>
        <p:spPr>
          <a:xfrm>
            <a:off x="8305800" y="1524000"/>
            <a:ext cx="3048000" cy="1790700"/>
          </a:xfrm>
          <a:prstGeom prst="roundRect">
            <a:avLst>
              <a:gd name="adj" fmla="val 5319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18F6DC-0443-45D6-8A5E-DB755D4C88B0}"/>
              </a:ext>
            </a:extLst>
          </p:cNvPr>
          <p:cNvSpPr>
            <a:spLocks noGrp="1"/>
          </p:cNvSpPr>
          <p:nvPr/>
        </p:nvSpPr>
        <p:spPr>
          <a:xfrm>
            <a:off x="8305800" y="1524000"/>
            <a:ext cx="57150" cy="17907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FC71DAE-A388-40CA-80B9-3F24F609E779}"/>
              </a:ext>
            </a:extLst>
          </p:cNvPr>
          <p:cNvSpPr>
            <a:spLocks noGrp="1"/>
          </p:cNvSpPr>
          <p:nvPr/>
        </p:nvSpPr>
        <p:spPr>
          <a:xfrm>
            <a:off x="8496300" y="16954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Manual interactions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EA3CA6-8C1E-4D88-933D-8A3B41511DC7}"/>
              </a:ext>
            </a:extLst>
          </p:cNvPr>
          <p:cNvSpPr>
            <a:spLocks noGrp="1"/>
          </p:cNvSpPr>
          <p:nvPr/>
        </p:nvSpPr>
        <p:spPr>
          <a:xfrm>
            <a:off x="8496300" y="2076450"/>
            <a:ext cx="2667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People still review exceptions, approve decisions, manage partner issues, and own follow-up.</a:t>
            </a:r>
          </a:p>
          <a:p>
            <a:endParaRPr sz="1163" b="0">
              <a:solidFill>
                <a:srgbClr val="17324D"/>
              </a:solidFill>
              <a:latin typeface="Aptos"/>
              <a:ea typeface="Aptos"/>
              <a:cs typeface="Aptos"/>
            </a:endParaRPr>
          </a:p>
          <a:p>
            <a:pPr algn="l">
              <a:defRPr sz="116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The platform should make these steps auditable.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F7C94A3-01D6-4CD6-97F2-C0C1FB3887C4}"/>
              </a:ext>
            </a:extLst>
          </p:cNvPr>
          <p:cNvSpPr>
            <a:spLocks noGrp="1"/>
          </p:cNvSpPr>
          <p:nvPr/>
        </p:nvSpPr>
        <p:spPr>
          <a:xfrm>
            <a:off x="1143000" y="4171950"/>
            <a:ext cx="9906000" cy="571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2D7A4D3-22BB-4AE0-8BFF-6B3E0E5DCD75}"/>
              </a:ext>
            </a:extLst>
          </p:cNvPr>
          <p:cNvSpPr>
            <a:spLocks noGrp="1"/>
          </p:cNvSpPr>
          <p:nvPr/>
        </p:nvSpPr>
        <p:spPr>
          <a:xfrm>
            <a:off x="1504950" y="3962400"/>
            <a:ext cx="457200" cy="457200"/>
          </a:xfrm>
          <a:prstGeom prst="ellipse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56ECCD3-16C1-4F0C-B7AA-F6740EE08D80}"/>
              </a:ext>
            </a:extLst>
          </p:cNvPr>
          <p:cNvSpPr>
            <a:spLocks noGrp="1"/>
          </p:cNvSpPr>
          <p:nvPr/>
        </p:nvSpPr>
        <p:spPr>
          <a:xfrm>
            <a:off x="1504950" y="40862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0CAEAEC-1B39-4E42-AE14-63899BFF5D74}"/>
              </a:ext>
            </a:extLst>
          </p:cNvPr>
          <p:cNvSpPr>
            <a:spLocks noGrp="1"/>
          </p:cNvSpPr>
          <p:nvPr/>
        </p:nvSpPr>
        <p:spPr>
          <a:xfrm>
            <a:off x="1143000" y="4572000"/>
            <a:ext cx="1219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Prototype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BE428C7-FE9A-42EB-A2F7-243EBC02DDEB}"/>
              </a:ext>
            </a:extLst>
          </p:cNvPr>
          <p:cNvSpPr>
            <a:spLocks noGrp="1"/>
          </p:cNvSpPr>
          <p:nvPr/>
        </p:nvSpPr>
        <p:spPr>
          <a:xfrm>
            <a:off x="4286250" y="3962400"/>
            <a:ext cx="457200" cy="457200"/>
          </a:xfrm>
          <a:prstGeom prst="ellipse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E7757DF-5878-4B17-A430-6AA45C66D214}"/>
              </a:ext>
            </a:extLst>
          </p:cNvPr>
          <p:cNvSpPr>
            <a:spLocks noGrp="1"/>
          </p:cNvSpPr>
          <p:nvPr/>
        </p:nvSpPr>
        <p:spPr>
          <a:xfrm>
            <a:off x="4286250" y="40862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8FF7D02-E430-419A-B142-63F6548135CD}"/>
              </a:ext>
            </a:extLst>
          </p:cNvPr>
          <p:cNvSpPr>
            <a:spLocks noGrp="1"/>
          </p:cNvSpPr>
          <p:nvPr/>
        </p:nvSpPr>
        <p:spPr>
          <a:xfrm>
            <a:off x="3924300" y="4572000"/>
            <a:ext cx="1219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MVP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2CD7EDF-9811-484A-B3F8-3B2A1083B1F0}"/>
              </a:ext>
            </a:extLst>
          </p:cNvPr>
          <p:cNvSpPr>
            <a:spLocks noGrp="1"/>
          </p:cNvSpPr>
          <p:nvPr/>
        </p:nvSpPr>
        <p:spPr>
          <a:xfrm>
            <a:off x="7067550" y="3962400"/>
            <a:ext cx="457200" cy="457200"/>
          </a:xfrm>
          <a:prstGeom prst="ellipse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CB66B00-C93E-4EBC-92D3-B5FD7102BB06}"/>
              </a:ext>
            </a:extLst>
          </p:cNvPr>
          <p:cNvSpPr>
            <a:spLocks noGrp="1"/>
          </p:cNvSpPr>
          <p:nvPr/>
        </p:nvSpPr>
        <p:spPr>
          <a:xfrm>
            <a:off x="7067550" y="40862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FB978E8-9CAA-40E1-B169-964DA808097F}"/>
              </a:ext>
            </a:extLst>
          </p:cNvPr>
          <p:cNvSpPr>
            <a:spLocks noGrp="1"/>
          </p:cNvSpPr>
          <p:nvPr/>
        </p:nvSpPr>
        <p:spPr>
          <a:xfrm>
            <a:off x="6705600" y="4572000"/>
            <a:ext cx="1219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Pilot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AC7A163-0676-4671-AD62-23661A2C55CC}"/>
              </a:ext>
            </a:extLst>
          </p:cNvPr>
          <p:cNvSpPr>
            <a:spLocks noGrp="1"/>
          </p:cNvSpPr>
          <p:nvPr/>
        </p:nvSpPr>
        <p:spPr>
          <a:xfrm>
            <a:off x="9848850" y="3962400"/>
            <a:ext cx="457200" cy="457200"/>
          </a:xfrm>
          <a:prstGeom prst="ellipse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D893A62-DBE5-47ED-A71F-A1BB7E2E055E}"/>
              </a:ext>
            </a:extLst>
          </p:cNvPr>
          <p:cNvSpPr>
            <a:spLocks noGrp="1"/>
          </p:cNvSpPr>
          <p:nvPr/>
        </p:nvSpPr>
        <p:spPr>
          <a:xfrm>
            <a:off x="9848850" y="40862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057A72C-3D94-44FE-B3F9-79E1538F19BF}"/>
              </a:ext>
            </a:extLst>
          </p:cNvPr>
          <p:cNvSpPr>
            <a:spLocks noGrp="1"/>
          </p:cNvSpPr>
          <p:nvPr/>
        </p:nvSpPr>
        <p:spPr>
          <a:xfrm>
            <a:off x="9486900" y="4572000"/>
            <a:ext cx="1219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Scale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A27773A-2345-49AF-B6F6-3FED845225D4}"/>
              </a:ext>
            </a:extLst>
          </p:cNvPr>
          <p:cNvSpPr>
            <a:spLocks noGrp="1"/>
          </p:cNvSpPr>
          <p:nvPr/>
        </p:nvSpPr>
        <p:spPr>
          <a:xfrm>
            <a:off x="2286000" y="5257800"/>
            <a:ext cx="7620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Current state sits at the first point: useful evidence, but not ready for external production use.</a:t>
            </a:r>
          </a:p>
        </p:txBody>
      </p:sp>
    </p:spTree>
    <p:extLst>
      <p:ext uri="{BB962C8B-B14F-4D97-AF65-F5344CB8AC3E}">
        <p14:creationId xmlns:p14="http://schemas.microsoft.com/office/powerpoint/2010/main" val="583165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8E57A83B-7E95-4250-B536-50CA50B1AB76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11430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Governance and Operational Model for Option A)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521EA5-D147-4146-B54F-F059BC9706D3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The platform should make compliance easier, not add undocumented manual work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183F65-7C73-45BD-B885-43680E354BBC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44E9A2-4DFC-470C-88BA-2BD2E66E8D11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0AF891-9276-4AD4-9B04-4AB276251CCE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DD8CA5-1BFB-451B-9387-419DC8E3419D}"/>
              </a:ext>
            </a:extLst>
          </p:cNvPr>
          <p:cNvSpPr>
            <a:spLocks noGrp="1"/>
          </p:cNvSpPr>
          <p:nvPr/>
        </p:nvSpPr>
        <p:spPr>
          <a:xfrm>
            <a:off x="552450" y="1466850"/>
            <a:ext cx="10744200" cy="628650"/>
          </a:xfrm>
          <a:prstGeom prst="rect">
            <a:avLst/>
          </a:prstGeom>
          <a:solidFill>
            <a:srgbClr val="0B1F45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0F5C14-27B7-44D3-8CD9-49A52BACDA8B}"/>
              </a:ext>
            </a:extLst>
          </p:cNvPr>
          <p:cNvSpPr>
            <a:spLocks noGrp="1"/>
          </p:cNvSpPr>
          <p:nvPr/>
        </p:nvSpPr>
        <p:spPr>
          <a:xfrm>
            <a:off x="647700" y="154305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Area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1B5E9C-45D9-469D-B0C4-8A3A7BC35F03}"/>
              </a:ext>
            </a:extLst>
          </p:cNvPr>
          <p:cNvSpPr>
            <a:spLocks noGrp="1"/>
          </p:cNvSpPr>
          <p:nvPr/>
        </p:nvSpPr>
        <p:spPr>
          <a:xfrm>
            <a:off x="2552700" y="14668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197FD8A-C43A-4C4B-A05A-B3735FB28372}"/>
              </a:ext>
            </a:extLst>
          </p:cNvPr>
          <p:cNvSpPr>
            <a:spLocks noGrp="1"/>
          </p:cNvSpPr>
          <p:nvPr/>
        </p:nvSpPr>
        <p:spPr>
          <a:xfrm>
            <a:off x="2647950" y="1543050"/>
            <a:ext cx="3314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Platform control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3732CB-2BD6-45AD-A0A3-6F3DC692B688}"/>
              </a:ext>
            </a:extLst>
          </p:cNvPr>
          <p:cNvSpPr>
            <a:spLocks noGrp="1"/>
          </p:cNvSpPr>
          <p:nvPr/>
        </p:nvSpPr>
        <p:spPr>
          <a:xfrm>
            <a:off x="6057900" y="14668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6E24F5-84BE-4CF4-96B3-5A9449099CAE}"/>
              </a:ext>
            </a:extLst>
          </p:cNvPr>
          <p:cNvSpPr>
            <a:spLocks noGrp="1"/>
          </p:cNvSpPr>
          <p:nvPr/>
        </p:nvSpPr>
        <p:spPr>
          <a:xfrm>
            <a:off x="6153150" y="1543050"/>
            <a:ext cx="2362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Owner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5A2B85-F59C-44D8-922F-9F5BAC3E8524}"/>
              </a:ext>
            </a:extLst>
          </p:cNvPr>
          <p:cNvSpPr>
            <a:spLocks noGrp="1"/>
          </p:cNvSpPr>
          <p:nvPr/>
        </p:nvSpPr>
        <p:spPr>
          <a:xfrm>
            <a:off x="8610600" y="14668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45CAA24-5087-477E-BD5E-8282259A5F0C}"/>
              </a:ext>
            </a:extLst>
          </p:cNvPr>
          <p:cNvSpPr>
            <a:spLocks noGrp="1"/>
          </p:cNvSpPr>
          <p:nvPr/>
        </p:nvSpPr>
        <p:spPr>
          <a:xfrm>
            <a:off x="8705850" y="1543050"/>
            <a:ext cx="2495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Manual interaction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41091B-1032-4169-B1F5-38CE2B0E76B4}"/>
              </a:ext>
            </a:extLst>
          </p:cNvPr>
          <p:cNvSpPr>
            <a:spLocks noGrp="1"/>
          </p:cNvSpPr>
          <p:nvPr/>
        </p:nvSpPr>
        <p:spPr>
          <a:xfrm>
            <a:off x="552450" y="2095500"/>
            <a:ext cx="1074420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A15D0E8-F2D0-49EC-8785-34AE0B21AA02}"/>
              </a:ext>
            </a:extLst>
          </p:cNvPr>
          <p:cNvSpPr>
            <a:spLocks noGrp="1"/>
          </p:cNvSpPr>
          <p:nvPr/>
        </p:nvSpPr>
        <p:spPr>
          <a:xfrm>
            <a:off x="647700" y="217170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Audit evidence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DB66C25-C2AC-4F82-AFB5-40C0223BFD41}"/>
              </a:ext>
            </a:extLst>
          </p:cNvPr>
          <p:cNvSpPr>
            <a:spLocks noGrp="1"/>
          </p:cNvSpPr>
          <p:nvPr/>
        </p:nvSpPr>
        <p:spPr>
          <a:xfrm>
            <a:off x="2552700" y="20955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20AC80D-BB9E-4F30-A456-0DEA2BEF5539}"/>
              </a:ext>
            </a:extLst>
          </p:cNvPr>
          <p:cNvSpPr>
            <a:spLocks noGrp="1"/>
          </p:cNvSpPr>
          <p:nvPr/>
        </p:nvSpPr>
        <p:spPr>
          <a:xfrm>
            <a:off x="2647950" y="2171700"/>
            <a:ext cx="3314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Immutable logs for approvals, status changes, downloads, and exceptions.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598E24-903E-4806-803F-EB67B2109C71}"/>
              </a:ext>
            </a:extLst>
          </p:cNvPr>
          <p:cNvSpPr>
            <a:spLocks noGrp="1"/>
          </p:cNvSpPr>
          <p:nvPr/>
        </p:nvSpPr>
        <p:spPr>
          <a:xfrm>
            <a:off x="6057900" y="20955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6AD60DC-93F5-4A86-BD25-63BBDC96EF32}"/>
              </a:ext>
            </a:extLst>
          </p:cNvPr>
          <p:cNvSpPr>
            <a:spLocks noGrp="1"/>
          </p:cNvSpPr>
          <p:nvPr/>
        </p:nvSpPr>
        <p:spPr>
          <a:xfrm>
            <a:off x="6153150" y="2171700"/>
            <a:ext cx="2362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Platform + Ops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7AD41D3-860C-46E1-AE6C-CC1B2C9563C6}"/>
              </a:ext>
            </a:extLst>
          </p:cNvPr>
          <p:cNvSpPr>
            <a:spLocks noGrp="1"/>
          </p:cNvSpPr>
          <p:nvPr/>
        </p:nvSpPr>
        <p:spPr>
          <a:xfrm>
            <a:off x="8610600" y="20955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217B937-E646-4A6C-863D-C4EED14C7561}"/>
              </a:ext>
            </a:extLst>
          </p:cNvPr>
          <p:cNvSpPr>
            <a:spLocks noGrp="1"/>
          </p:cNvSpPr>
          <p:nvPr/>
        </p:nvSpPr>
        <p:spPr>
          <a:xfrm>
            <a:off x="8705850" y="2171700"/>
            <a:ext cx="2495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Ops reviews exception trail.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4B3C234-6F0E-4577-A0B9-04F2CDC70049}"/>
              </a:ext>
            </a:extLst>
          </p:cNvPr>
          <p:cNvSpPr>
            <a:spLocks noGrp="1"/>
          </p:cNvSpPr>
          <p:nvPr/>
        </p:nvSpPr>
        <p:spPr>
          <a:xfrm>
            <a:off x="552450" y="2724150"/>
            <a:ext cx="10744200" cy="6286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1569290-9A91-48D7-ADB1-56814079EF17}"/>
              </a:ext>
            </a:extLst>
          </p:cNvPr>
          <p:cNvSpPr>
            <a:spLocks noGrp="1"/>
          </p:cNvSpPr>
          <p:nvPr/>
        </p:nvSpPr>
        <p:spPr>
          <a:xfrm>
            <a:off x="647700" y="280035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Security standards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A56E00B-A193-4AAA-BAD3-0BD3EDA1C70A}"/>
              </a:ext>
            </a:extLst>
          </p:cNvPr>
          <p:cNvSpPr>
            <a:spLocks noGrp="1"/>
          </p:cNvSpPr>
          <p:nvPr/>
        </p:nvSpPr>
        <p:spPr>
          <a:xfrm>
            <a:off x="2552700" y="27241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5A817E5-113A-454E-907B-51E4E56E10DE}"/>
              </a:ext>
            </a:extLst>
          </p:cNvPr>
          <p:cNvSpPr>
            <a:spLocks noGrp="1"/>
          </p:cNvSpPr>
          <p:nvPr/>
        </p:nvSpPr>
        <p:spPr>
          <a:xfrm>
            <a:off x="2647950" y="2800350"/>
            <a:ext cx="3314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Group SDLC, secure coding, dependency checks, and change approvals.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484490A-1BD4-4833-8B27-7E9A490FBE5D}"/>
              </a:ext>
            </a:extLst>
          </p:cNvPr>
          <p:cNvSpPr>
            <a:spLocks noGrp="1"/>
          </p:cNvSpPr>
          <p:nvPr/>
        </p:nvSpPr>
        <p:spPr>
          <a:xfrm>
            <a:off x="6057900" y="27241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7FC9DEB-F471-4042-ACB2-1469D928C800}"/>
              </a:ext>
            </a:extLst>
          </p:cNvPr>
          <p:cNvSpPr>
            <a:spLocks noGrp="1"/>
          </p:cNvSpPr>
          <p:nvPr/>
        </p:nvSpPr>
        <p:spPr>
          <a:xfrm>
            <a:off x="6153150" y="2800350"/>
            <a:ext cx="2362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IT Security + Engineering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1CFCDA9-9EDA-4116-8959-886AD3C2892D}"/>
              </a:ext>
            </a:extLst>
          </p:cNvPr>
          <p:cNvSpPr>
            <a:spLocks noGrp="1"/>
          </p:cNvSpPr>
          <p:nvPr/>
        </p:nvSpPr>
        <p:spPr>
          <a:xfrm>
            <a:off x="8610600" y="27241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1352887-843E-4BB4-A7F1-8ABC7EE6B4B1}"/>
              </a:ext>
            </a:extLst>
          </p:cNvPr>
          <p:cNvSpPr>
            <a:spLocks noGrp="1"/>
          </p:cNvSpPr>
          <p:nvPr/>
        </p:nvSpPr>
        <p:spPr>
          <a:xfrm>
            <a:off x="8705850" y="2800350"/>
            <a:ext cx="2495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Security signs off gates.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18C5AD3-55E3-42FF-8B9E-F4749110CB08}"/>
              </a:ext>
            </a:extLst>
          </p:cNvPr>
          <p:cNvSpPr>
            <a:spLocks noGrp="1"/>
          </p:cNvSpPr>
          <p:nvPr/>
        </p:nvSpPr>
        <p:spPr>
          <a:xfrm>
            <a:off x="552450" y="3352800"/>
            <a:ext cx="1074420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911A9F8-3420-4C1B-A0FB-074395A76B96}"/>
              </a:ext>
            </a:extLst>
          </p:cNvPr>
          <p:cNvSpPr>
            <a:spLocks noGrp="1"/>
          </p:cNvSpPr>
          <p:nvPr/>
        </p:nvSpPr>
        <p:spPr>
          <a:xfrm>
            <a:off x="647700" y="342900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Change requests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C9D6A80-C47C-4279-AF80-57F81F525E79}"/>
              </a:ext>
            </a:extLst>
          </p:cNvPr>
          <p:cNvSpPr>
            <a:spLocks noGrp="1"/>
          </p:cNvSpPr>
          <p:nvPr/>
        </p:nvSpPr>
        <p:spPr>
          <a:xfrm>
            <a:off x="2552700" y="33528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CED7895-8299-4447-A7D7-C903F8445501}"/>
              </a:ext>
            </a:extLst>
          </p:cNvPr>
          <p:cNvSpPr>
            <a:spLocks noGrp="1"/>
          </p:cNvSpPr>
          <p:nvPr/>
        </p:nvSpPr>
        <p:spPr>
          <a:xfrm>
            <a:off x="2647950" y="3429000"/>
            <a:ext cx="3314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Formal intake, impact analysis, approval, test evidence, release note.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C9C7B64-FB81-478E-BD14-EA089D723580}"/>
              </a:ext>
            </a:extLst>
          </p:cNvPr>
          <p:cNvSpPr>
            <a:spLocks noGrp="1"/>
          </p:cNvSpPr>
          <p:nvPr/>
        </p:nvSpPr>
        <p:spPr>
          <a:xfrm>
            <a:off x="6057900" y="33528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58826B3-9635-4D96-A50D-178B3AC49A6F}"/>
              </a:ext>
            </a:extLst>
          </p:cNvPr>
          <p:cNvSpPr>
            <a:spLocks noGrp="1"/>
          </p:cNvSpPr>
          <p:nvPr/>
        </p:nvSpPr>
        <p:spPr>
          <a:xfrm>
            <a:off x="6153150" y="3429000"/>
            <a:ext cx="2362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Internal team in India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78A541B-0C6C-45BD-990D-F1F083AF2C70}"/>
              </a:ext>
            </a:extLst>
          </p:cNvPr>
          <p:cNvSpPr>
            <a:spLocks noGrp="1"/>
          </p:cNvSpPr>
          <p:nvPr/>
        </p:nvSpPr>
        <p:spPr>
          <a:xfrm>
            <a:off x="8610600" y="33528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CA1C5F8-B584-44F7-91D0-AF158D54F8E2}"/>
              </a:ext>
            </a:extLst>
          </p:cNvPr>
          <p:cNvSpPr>
            <a:spLocks noGrp="1"/>
          </p:cNvSpPr>
          <p:nvPr/>
        </p:nvSpPr>
        <p:spPr>
          <a:xfrm>
            <a:off x="8705850" y="3429000"/>
            <a:ext cx="2495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Ownership in the team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88C6E88-AF49-41C3-AF1D-AAFE5378239B}"/>
              </a:ext>
            </a:extLst>
          </p:cNvPr>
          <p:cNvSpPr>
            <a:spLocks noGrp="1"/>
          </p:cNvSpPr>
          <p:nvPr/>
        </p:nvSpPr>
        <p:spPr>
          <a:xfrm>
            <a:off x="552450" y="3981450"/>
            <a:ext cx="10744200" cy="6286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AAF6426-F0C4-4009-A72F-2DA74DEC4EC0}"/>
              </a:ext>
            </a:extLst>
          </p:cNvPr>
          <p:cNvSpPr>
            <a:spLocks noGrp="1"/>
          </p:cNvSpPr>
          <p:nvPr/>
        </p:nvSpPr>
        <p:spPr>
          <a:xfrm>
            <a:off x="647700" y="405765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Access management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C1013D5-7785-42A5-BD0A-AE0A8A445920}"/>
              </a:ext>
            </a:extLst>
          </p:cNvPr>
          <p:cNvSpPr>
            <a:spLocks noGrp="1"/>
          </p:cNvSpPr>
          <p:nvPr/>
        </p:nvSpPr>
        <p:spPr>
          <a:xfrm>
            <a:off x="2552700" y="39814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3C8E857-D234-4192-85DE-0C5598FF90EA}"/>
              </a:ext>
            </a:extLst>
          </p:cNvPr>
          <p:cNvSpPr>
            <a:spLocks noGrp="1"/>
          </p:cNvSpPr>
          <p:nvPr/>
        </p:nvSpPr>
        <p:spPr>
          <a:xfrm>
            <a:off x="2647950" y="4057650"/>
            <a:ext cx="3314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Entra ID, role-based access, joiner/mover/leaver process.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6F0261E-DCA6-4BE4-8A95-CEA88C6A5957}"/>
              </a:ext>
            </a:extLst>
          </p:cNvPr>
          <p:cNvSpPr>
            <a:spLocks noGrp="1"/>
          </p:cNvSpPr>
          <p:nvPr/>
        </p:nvSpPr>
        <p:spPr>
          <a:xfrm>
            <a:off x="6057900" y="39814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2E9ABBB-7757-4446-91B5-5CC5C958CA4B}"/>
              </a:ext>
            </a:extLst>
          </p:cNvPr>
          <p:cNvSpPr>
            <a:spLocks noGrp="1"/>
          </p:cNvSpPr>
          <p:nvPr/>
        </p:nvSpPr>
        <p:spPr>
          <a:xfrm>
            <a:off x="6153150" y="4057650"/>
            <a:ext cx="2362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Ops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08E0666-C1D2-4AC1-84A3-A44519F27433}"/>
              </a:ext>
            </a:extLst>
          </p:cNvPr>
          <p:cNvSpPr>
            <a:spLocks noGrp="1"/>
          </p:cNvSpPr>
          <p:nvPr/>
        </p:nvSpPr>
        <p:spPr>
          <a:xfrm>
            <a:off x="8610600" y="39814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0511904-5C30-4553-A84C-581D215710FA}"/>
              </a:ext>
            </a:extLst>
          </p:cNvPr>
          <p:cNvSpPr>
            <a:spLocks noGrp="1"/>
          </p:cNvSpPr>
          <p:nvPr/>
        </p:nvSpPr>
        <p:spPr>
          <a:xfrm>
            <a:off x="8705850" y="4057650"/>
            <a:ext cx="2495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Access owner reviews.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E2D074F-9BB1-4682-B207-26BABFE6D238}"/>
              </a:ext>
            </a:extLst>
          </p:cNvPr>
          <p:cNvSpPr>
            <a:spLocks noGrp="1"/>
          </p:cNvSpPr>
          <p:nvPr/>
        </p:nvSpPr>
        <p:spPr>
          <a:xfrm>
            <a:off x="552450" y="4610100"/>
            <a:ext cx="1074420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781128D-FF32-4597-9B51-409C0FC0EB61}"/>
              </a:ext>
            </a:extLst>
          </p:cNvPr>
          <p:cNvSpPr>
            <a:spLocks noGrp="1"/>
          </p:cNvSpPr>
          <p:nvPr/>
        </p:nvSpPr>
        <p:spPr>
          <a:xfrm>
            <a:off x="647700" y="468630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Operations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027C019-3414-441F-9C65-15C4FDF3EAAA}"/>
              </a:ext>
            </a:extLst>
          </p:cNvPr>
          <p:cNvSpPr>
            <a:spLocks noGrp="1"/>
          </p:cNvSpPr>
          <p:nvPr/>
        </p:nvSpPr>
        <p:spPr>
          <a:xfrm>
            <a:off x="2552700" y="46101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B0139C0-6AAF-4489-A93D-02948D1915D9}"/>
              </a:ext>
            </a:extLst>
          </p:cNvPr>
          <p:cNvSpPr>
            <a:spLocks noGrp="1"/>
          </p:cNvSpPr>
          <p:nvPr/>
        </p:nvSpPr>
        <p:spPr>
          <a:xfrm>
            <a:off x="2647950" y="4686300"/>
            <a:ext cx="3314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Runbooks, on-call, incidents, SLAs, partner support queue.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3F152F1-7B77-4374-A06F-5CDD73608A63}"/>
              </a:ext>
            </a:extLst>
          </p:cNvPr>
          <p:cNvSpPr>
            <a:spLocks noGrp="1"/>
          </p:cNvSpPr>
          <p:nvPr/>
        </p:nvSpPr>
        <p:spPr>
          <a:xfrm>
            <a:off x="6057900" y="46101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150B0A0-5787-4761-8312-5BD3D4BD1917}"/>
              </a:ext>
            </a:extLst>
          </p:cNvPr>
          <p:cNvSpPr>
            <a:spLocks noGrp="1"/>
          </p:cNvSpPr>
          <p:nvPr/>
        </p:nvSpPr>
        <p:spPr>
          <a:xfrm>
            <a:off x="6153150" y="4686300"/>
            <a:ext cx="2362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Internal team in India + Platform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72A01EE-6C43-4DAE-8A0D-A19FE8717415}"/>
              </a:ext>
            </a:extLst>
          </p:cNvPr>
          <p:cNvSpPr>
            <a:spLocks noGrp="1"/>
          </p:cNvSpPr>
          <p:nvPr/>
        </p:nvSpPr>
        <p:spPr>
          <a:xfrm>
            <a:off x="8610600" y="46101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16A63A4-03E0-49D5-AD6A-4D42D37E88A8}"/>
              </a:ext>
            </a:extLst>
          </p:cNvPr>
          <p:cNvSpPr>
            <a:spLocks noGrp="1"/>
          </p:cNvSpPr>
          <p:nvPr/>
        </p:nvSpPr>
        <p:spPr>
          <a:xfrm>
            <a:off x="8705850" y="4686300"/>
            <a:ext cx="2495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Ownership in the team + 24/7 On call support of MITL Platform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49C024C-1332-4A01-B83F-D2D359FEEC2A}"/>
              </a:ext>
            </a:extLst>
          </p:cNvPr>
          <p:cNvSpPr>
            <a:spLocks noGrp="1"/>
          </p:cNvSpPr>
          <p:nvPr/>
        </p:nvSpPr>
        <p:spPr>
          <a:xfrm>
            <a:off x="552450" y="5238750"/>
            <a:ext cx="10744200" cy="6286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C73B36E-0DF4-4F7E-95AB-598622A99CB4}"/>
              </a:ext>
            </a:extLst>
          </p:cNvPr>
          <p:cNvSpPr>
            <a:spLocks noGrp="1"/>
          </p:cNvSpPr>
          <p:nvPr/>
        </p:nvSpPr>
        <p:spPr>
          <a:xfrm>
            <a:off x="647700" y="531495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Development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56ED3EC-4E3A-452F-99F2-81138BB9656C}"/>
              </a:ext>
            </a:extLst>
          </p:cNvPr>
          <p:cNvSpPr>
            <a:spLocks noGrp="1"/>
          </p:cNvSpPr>
          <p:nvPr/>
        </p:nvSpPr>
        <p:spPr>
          <a:xfrm>
            <a:off x="2552700" y="52387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DDE6E8C-5779-4556-B52A-F252C50E14AC}"/>
              </a:ext>
            </a:extLst>
          </p:cNvPr>
          <p:cNvSpPr>
            <a:spLocks noGrp="1"/>
          </p:cNvSpPr>
          <p:nvPr/>
        </p:nvSpPr>
        <p:spPr>
          <a:xfrm>
            <a:off x="2647950" y="5314950"/>
            <a:ext cx="3314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Analysis, Development, Testing, Support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9F638FC-14C6-4E02-8A59-7AEC355A1CD8}"/>
              </a:ext>
            </a:extLst>
          </p:cNvPr>
          <p:cNvSpPr>
            <a:spLocks noGrp="1"/>
          </p:cNvSpPr>
          <p:nvPr/>
        </p:nvSpPr>
        <p:spPr>
          <a:xfrm>
            <a:off x="6057900" y="52387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849262C-8613-4ADA-9C85-928462E52322}"/>
              </a:ext>
            </a:extLst>
          </p:cNvPr>
          <p:cNvSpPr>
            <a:spLocks noGrp="1"/>
          </p:cNvSpPr>
          <p:nvPr/>
        </p:nvSpPr>
        <p:spPr>
          <a:xfrm>
            <a:off x="6153150" y="5314950"/>
            <a:ext cx="2362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Internal team in India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D19A6D3-ED89-4F95-B8CE-BF1C7CA02396}"/>
              </a:ext>
            </a:extLst>
          </p:cNvPr>
          <p:cNvSpPr>
            <a:spLocks noGrp="1"/>
          </p:cNvSpPr>
          <p:nvPr/>
        </p:nvSpPr>
        <p:spPr>
          <a:xfrm>
            <a:off x="8610600" y="52387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C597571-8501-4EF8-99C0-600470FB8E4C}"/>
              </a:ext>
            </a:extLst>
          </p:cNvPr>
          <p:cNvSpPr>
            <a:spLocks noGrp="1"/>
          </p:cNvSpPr>
          <p:nvPr/>
        </p:nvSpPr>
        <p:spPr>
          <a:xfrm>
            <a:off x="8705850" y="5314950"/>
            <a:ext cx="2495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People ownership remains explicit.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79A6784-34B3-483C-B797-183503F9644D}"/>
              </a:ext>
            </a:extLst>
          </p:cNvPr>
          <p:cNvSpPr>
            <a:spLocks noGrp="1"/>
          </p:cNvSpPr>
          <p:nvPr/>
        </p:nvSpPr>
        <p:spPr>
          <a:xfrm>
            <a:off x="914400" y="5943600"/>
            <a:ext cx="1036320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Re-use strong governance principles of the group and build ownership for the solution in India – </a:t>
            </a:r>
            <a:r>
              <a:rPr sz="1275" b="1">
                <a:solidFill>
                  <a:srgbClr val="D92D20"/>
                </a:solidFill>
                <a:latin typeface="Aptos"/>
                <a:ea typeface="Aptos"/>
                <a:cs typeface="Aptos"/>
              </a:rPr>
              <a:t>scale up to team of 4 IT People</a:t>
            </a:r>
          </a:p>
        </p:txBody>
      </p:sp>
    </p:spTree>
    <p:extLst>
      <p:ext uri="{BB962C8B-B14F-4D97-AF65-F5344CB8AC3E}">
        <p14:creationId xmlns:p14="http://schemas.microsoft.com/office/powerpoint/2010/main" val="1335249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BA32870C-DC8D-48B0-B7CC-E9D0D0712ADC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Security and Access Model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9B2F57-115E-494F-B3F4-5DD8CC305283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Use group standards and bank IT Security support from the start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C282F5-47A2-4171-B99F-EA8642685F6A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466170-8593-45F6-AC5B-4C8F6263ED7E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0B9F29-1569-4368-AD7B-CD995C47BBE3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AD44F11-AD7F-4286-90EC-C9131EAD28D8}"/>
              </a:ext>
            </a:extLst>
          </p:cNvPr>
          <p:cNvSpPr>
            <a:spLocks noGrp="1"/>
          </p:cNvSpPr>
          <p:nvPr/>
        </p:nvSpPr>
        <p:spPr>
          <a:xfrm>
            <a:off x="781050" y="1581150"/>
            <a:ext cx="2952750" cy="1619250"/>
          </a:xfrm>
          <a:prstGeom prst="roundRect">
            <a:avLst>
              <a:gd name="adj" fmla="val 5882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AACDEC-F997-4422-A157-0BC3BC315DD1}"/>
              </a:ext>
            </a:extLst>
          </p:cNvPr>
          <p:cNvSpPr>
            <a:spLocks noGrp="1"/>
          </p:cNvSpPr>
          <p:nvPr/>
        </p:nvSpPr>
        <p:spPr>
          <a:xfrm>
            <a:off x="781050" y="1581150"/>
            <a:ext cx="57150" cy="161925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64E533-A48E-4F30-ACF2-3ED7A76BBC7F}"/>
              </a:ext>
            </a:extLst>
          </p:cNvPr>
          <p:cNvSpPr>
            <a:spLocks noGrp="1"/>
          </p:cNvSpPr>
          <p:nvPr/>
        </p:nvSpPr>
        <p:spPr>
          <a:xfrm>
            <a:off x="971550" y="175260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Identity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23A350-3940-4FEF-AAF6-9E9B5AB4E061}"/>
              </a:ext>
            </a:extLst>
          </p:cNvPr>
          <p:cNvSpPr>
            <a:spLocks noGrp="1"/>
          </p:cNvSpPr>
          <p:nvPr/>
        </p:nvSpPr>
        <p:spPr>
          <a:xfrm>
            <a:off x="971550" y="2133600"/>
            <a:ext cx="25717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Entra ID for users and groups.</a:t>
            </a:r>
          </a:p>
          <a:p>
            <a:pPr algn="l"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Role-based access by function.</a:t>
            </a:r>
          </a:p>
          <a:p>
            <a:pPr algn="l"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Joiner/mover/leaver process.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C95F840-699F-4CAE-A077-82014886C354}"/>
              </a:ext>
            </a:extLst>
          </p:cNvPr>
          <p:cNvSpPr>
            <a:spLocks noGrp="1"/>
          </p:cNvSpPr>
          <p:nvPr/>
        </p:nvSpPr>
        <p:spPr>
          <a:xfrm>
            <a:off x="4629150" y="1581150"/>
            <a:ext cx="2952750" cy="1619250"/>
          </a:xfrm>
          <a:prstGeom prst="roundRect">
            <a:avLst>
              <a:gd name="adj" fmla="val 5882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46B5E9C-3FE2-4D92-8391-CBE5AF05424D}"/>
              </a:ext>
            </a:extLst>
          </p:cNvPr>
          <p:cNvSpPr>
            <a:spLocks noGrp="1"/>
          </p:cNvSpPr>
          <p:nvPr/>
        </p:nvSpPr>
        <p:spPr>
          <a:xfrm>
            <a:off x="4629150" y="1581150"/>
            <a:ext cx="57150" cy="161925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803AB02-28AF-458A-BF11-5A5C99E3ED9F}"/>
              </a:ext>
            </a:extLst>
          </p:cNvPr>
          <p:cNvSpPr>
            <a:spLocks noGrp="1"/>
          </p:cNvSpPr>
          <p:nvPr/>
        </p:nvSpPr>
        <p:spPr>
          <a:xfrm>
            <a:off x="4819650" y="175260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Audit and evidence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281B04-AF81-4F60-B05A-D0DCD4AEA30A}"/>
              </a:ext>
            </a:extLst>
          </p:cNvPr>
          <p:cNvSpPr>
            <a:spLocks noGrp="1"/>
          </p:cNvSpPr>
          <p:nvPr/>
        </p:nvSpPr>
        <p:spPr>
          <a:xfrm>
            <a:off x="4819650" y="2133600"/>
            <a:ext cx="25717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Every approval, exception, data change, and access event should produce searchable audit evidence.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14750F3-9D1B-4031-BF61-91B2C5DA4F0F}"/>
              </a:ext>
            </a:extLst>
          </p:cNvPr>
          <p:cNvSpPr>
            <a:spLocks noGrp="1"/>
          </p:cNvSpPr>
          <p:nvPr/>
        </p:nvSpPr>
        <p:spPr>
          <a:xfrm>
            <a:off x="8477250" y="1581150"/>
            <a:ext cx="2952750" cy="1619250"/>
          </a:xfrm>
          <a:prstGeom prst="roundRect">
            <a:avLst>
              <a:gd name="adj" fmla="val 5882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AB0254-8B00-4D8C-95A7-FA4634E4AAF2}"/>
              </a:ext>
            </a:extLst>
          </p:cNvPr>
          <p:cNvSpPr>
            <a:spLocks noGrp="1"/>
          </p:cNvSpPr>
          <p:nvPr/>
        </p:nvSpPr>
        <p:spPr>
          <a:xfrm>
            <a:off x="8477250" y="1581150"/>
            <a:ext cx="57150" cy="161925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0CC2D0-5A74-439D-9B71-20DB1E8982E8}"/>
              </a:ext>
            </a:extLst>
          </p:cNvPr>
          <p:cNvSpPr>
            <a:spLocks noGrp="1"/>
          </p:cNvSpPr>
          <p:nvPr/>
        </p:nvSpPr>
        <p:spPr>
          <a:xfrm>
            <a:off x="8667750" y="175260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Group security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BF1A641-241E-479E-91E7-058E61C204C1}"/>
              </a:ext>
            </a:extLst>
          </p:cNvPr>
          <p:cNvSpPr>
            <a:spLocks noGrp="1"/>
          </p:cNvSpPr>
          <p:nvPr/>
        </p:nvSpPr>
        <p:spPr>
          <a:xfrm>
            <a:off x="8667750" y="2133600"/>
            <a:ext cx="25717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Bank / group IT Security supports standards, review gates, access model, and production readiness.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2EE577B-B667-4392-9E46-67F6A63ECD47}"/>
              </a:ext>
            </a:extLst>
          </p:cNvPr>
          <p:cNvSpPr>
            <a:spLocks noGrp="1"/>
          </p:cNvSpPr>
          <p:nvPr/>
        </p:nvSpPr>
        <p:spPr>
          <a:xfrm>
            <a:off x="1238250" y="3905250"/>
            <a:ext cx="8191500" cy="533400"/>
          </a:xfrm>
          <a:prstGeom prst="rect">
            <a:avLst/>
          </a:prstGeom>
          <a:solidFill>
            <a:srgbClr val="0B1F45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4AE8481-90F3-4765-8D95-32B72DA76D62}"/>
              </a:ext>
            </a:extLst>
          </p:cNvPr>
          <p:cNvSpPr>
            <a:spLocks noGrp="1"/>
          </p:cNvSpPr>
          <p:nvPr/>
        </p:nvSpPr>
        <p:spPr>
          <a:xfrm>
            <a:off x="1333500" y="3981450"/>
            <a:ext cx="2286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Control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6CB2245-5F93-42DF-9E70-50C3C42CAA4E}"/>
              </a:ext>
            </a:extLst>
          </p:cNvPr>
          <p:cNvSpPr>
            <a:spLocks noGrp="1"/>
          </p:cNvSpPr>
          <p:nvPr/>
        </p:nvSpPr>
        <p:spPr>
          <a:xfrm>
            <a:off x="3714750" y="3905250"/>
            <a:ext cx="9525" cy="53340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3E24518-8E79-4B9E-8E24-5689BC6F7D53}"/>
              </a:ext>
            </a:extLst>
          </p:cNvPr>
          <p:cNvSpPr>
            <a:spLocks noGrp="1"/>
          </p:cNvSpPr>
          <p:nvPr/>
        </p:nvSpPr>
        <p:spPr>
          <a:xfrm>
            <a:off x="3810000" y="3981450"/>
            <a:ext cx="266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Build path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05DCAA1-AE84-4682-9033-C21DD2D0A471}"/>
              </a:ext>
            </a:extLst>
          </p:cNvPr>
          <p:cNvSpPr>
            <a:spLocks noGrp="1"/>
          </p:cNvSpPr>
          <p:nvPr/>
        </p:nvSpPr>
        <p:spPr>
          <a:xfrm>
            <a:off x="6572250" y="3905250"/>
            <a:ext cx="9525" cy="53340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9E89C26-4060-4F81-8AE8-5E3A1FDB63EA}"/>
              </a:ext>
            </a:extLst>
          </p:cNvPr>
          <p:cNvSpPr>
            <a:spLocks noGrp="1"/>
          </p:cNvSpPr>
          <p:nvPr/>
        </p:nvSpPr>
        <p:spPr>
          <a:xfrm>
            <a:off x="6667500" y="3981450"/>
            <a:ext cx="266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Buy path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365C319-A836-46E0-A13A-9FBA6DD1CAAE}"/>
              </a:ext>
            </a:extLst>
          </p:cNvPr>
          <p:cNvSpPr>
            <a:spLocks noGrp="1"/>
          </p:cNvSpPr>
          <p:nvPr/>
        </p:nvSpPr>
        <p:spPr>
          <a:xfrm>
            <a:off x="1238250" y="4438650"/>
            <a:ext cx="81915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3D6AD89-BE66-45CD-B3E4-DB3A11AFA099}"/>
              </a:ext>
            </a:extLst>
          </p:cNvPr>
          <p:cNvSpPr>
            <a:spLocks noGrp="1"/>
          </p:cNvSpPr>
          <p:nvPr/>
        </p:nvSpPr>
        <p:spPr>
          <a:xfrm>
            <a:off x="1333500" y="4514850"/>
            <a:ext cx="2286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Access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CCA1A11-9007-4695-9664-0DD9AC3806CF}"/>
              </a:ext>
            </a:extLst>
          </p:cNvPr>
          <p:cNvSpPr>
            <a:spLocks noGrp="1"/>
          </p:cNvSpPr>
          <p:nvPr/>
        </p:nvSpPr>
        <p:spPr>
          <a:xfrm>
            <a:off x="3714750" y="4438650"/>
            <a:ext cx="9525" cy="53340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81B1108-563C-4BEC-A140-B430E714D43E}"/>
              </a:ext>
            </a:extLst>
          </p:cNvPr>
          <p:cNvSpPr>
            <a:spLocks noGrp="1"/>
          </p:cNvSpPr>
          <p:nvPr/>
        </p:nvSpPr>
        <p:spPr>
          <a:xfrm>
            <a:off x="3810000" y="4514850"/>
            <a:ext cx="266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Bhawana defines roles and Entra integration.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6F81DBA-7A12-49AF-B898-6970AD5C87D7}"/>
              </a:ext>
            </a:extLst>
          </p:cNvPr>
          <p:cNvSpPr>
            <a:spLocks noGrp="1"/>
          </p:cNvSpPr>
          <p:nvPr/>
        </p:nvSpPr>
        <p:spPr>
          <a:xfrm>
            <a:off x="6572250" y="4438650"/>
            <a:ext cx="9525" cy="53340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BE44B52-549C-46A5-B06C-816CDA0B606A}"/>
              </a:ext>
            </a:extLst>
          </p:cNvPr>
          <p:cNvSpPr>
            <a:spLocks noGrp="1"/>
          </p:cNvSpPr>
          <p:nvPr/>
        </p:nvSpPr>
        <p:spPr>
          <a:xfrm>
            <a:off x="6667500" y="4514850"/>
            <a:ext cx="266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Vendor must support SSO/RBAC requirements.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19BE9F5-7BF9-4921-8734-85A6BEEE3262}"/>
              </a:ext>
            </a:extLst>
          </p:cNvPr>
          <p:cNvSpPr>
            <a:spLocks noGrp="1"/>
          </p:cNvSpPr>
          <p:nvPr/>
        </p:nvSpPr>
        <p:spPr>
          <a:xfrm>
            <a:off x="1238250" y="4972050"/>
            <a:ext cx="8191500" cy="53340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11F2FB5-31EB-4B15-A382-8BCAAE70E402}"/>
              </a:ext>
            </a:extLst>
          </p:cNvPr>
          <p:cNvSpPr>
            <a:spLocks noGrp="1"/>
          </p:cNvSpPr>
          <p:nvPr/>
        </p:nvSpPr>
        <p:spPr>
          <a:xfrm>
            <a:off x="1333500" y="5048250"/>
            <a:ext cx="2286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Audit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AB805F6-BCA6-40C8-B218-C86EC3AA7512}"/>
              </a:ext>
            </a:extLst>
          </p:cNvPr>
          <p:cNvSpPr>
            <a:spLocks noGrp="1"/>
          </p:cNvSpPr>
          <p:nvPr/>
        </p:nvSpPr>
        <p:spPr>
          <a:xfrm>
            <a:off x="3714750" y="4972050"/>
            <a:ext cx="9525" cy="53340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F6CCF4D-88E6-4E36-8902-088F4B920365}"/>
              </a:ext>
            </a:extLst>
          </p:cNvPr>
          <p:cNvSpPr>
            <a:spLocks noGrp="1"/>
          </p:cNvSpPr>
          <p:nvPr/>
        </p:nvSpPr>
        <p:spPr>
          <a:xfrm>
            <a:off x="3810000" y="5048250"/>
            <a:ext cx="266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Native platform logs and reporting evidence.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66FB6A5-CA2D-49F5-A9C4-3B6B557BB7CE}"/>
              </a:ext>
            </a:extLst>
          </p:cNvPr>
          <p:cNvSpPr>
            <a:spLocks noGrp="1"/>
          </p:cNvSpPr>
          <p:nvPr/>
        </p:nvSpPr>
        <p:spPr>
          <a:xfrm>
            <a:off x="6572250" y="4972050"/>
            <a:ext cx="9525" cy="53340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45F64DD-DC9B-4DCA-80A5-4AA6E7AED1FF}"/>
              </a:ext>
            </a:extLst>
          </p:cNvPr>
          <p:cNvSpPr>
            <a:spLocks noGrp="1"/>
          </p:cNvSpPr>
          <p:nvPr/>
        </p:nvSpPr>
        <p:spPr>
          <a:xfrm>
            <a:off x="6667500" y="5048250"/>
            <a:ext cx="266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Vendor audit export must be tested.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F26972D-1F54-491C-9136-D401DCB33B28}"/>
              </a:ext>
            </a:extLst>
          </p:cNvPr>
          <p:cNvSpPr>
            <a:spLocks noGrp="1"/>
          </p:cNvSpPr>
          <p:nvPr/>
        </p:nvSpPr>
        <p:spPr>
          <a:xfrm>
            <a:off x="1238250" y="5505450"/>
            <a:ext cx="81915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6911CD6-F4E1-4459-AC9B-B3ABE2DF2E99}"/>
              </a:ext>
            </a:extLst>
          </p:cNvPr>
          <p:cNvSpPr>
            <a:spLocks noGrp="1"/>
          </p:cNvSpPr>
          <p:nvPr/>
        </p:nvSpPr>
        <p:spPr>
          <a:xfrm>
            <a:off x="1333500" y="5581650"/>
            <a:ext cx="2286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Security review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21AEE16-26E7-4490-98FC-18CD2564C70E}"/>
              </a:ext>
            </a:extLst>
          </p:cNvPr>
          <p:cNvSpPr>
            <a:spLocks noGrp="1"/>
          </p:cNvSpPr>
          <p:nvPr/>
        </p:nvSpPr>
        <p:spPr>
          <a:xfrm>
            <a:off x="3714750" y="5505450"/>
            <a:ext cx="9525" cy="53340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592C700-1DDB-426A-A187-0E6A82BF813B}"/>
              </a:ext>
            </a:extLst>
          </p:cNvPr>
          <p:cNvSpPr>
            <a:spLocks noGrp="1"/>
          </p:cNvSpPr>
          <p:nvPr/>
        </p:nvSpPr>
        <p:spPr>
          <a:xfrm>
            <a:off x="3810000" y="5581650"/>
            <a:ext cx="266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Code and infra reviewed internally.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25CDEBD-4A53-4276-BA14-8788DEAFE417}"/>
              </a:ext>
            </a:extLst>
          </p:cNvPr>
          <p:cNvSpPr>
            <a:spLocks noGrp="1"/>
          </p:cNvSpPr>
          <p:nvPr/>
        </p:nvSpPr>
        <p:spPr>
          <a:xfrm>
            <a:off x="6572250" y="5505450"/>
            <a:ext cx="9525" cy="53340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7D415C6-0CA1-4A2F-8C58-7FC271DE6C1C}"/>
              </a:ext>
            </a:extLst>
          </p:cNvPr>
          <p:cNvSpPr>
            <a:spLocks noGrp="1"/>
          </p:cNvSpPr>
          <p:nvPr/>
        </p:nvSpPr>
        <p:spPr>
          <a:xfrm>
            <a:off x="6667500" y="5581650"/>
            <a:ext cx="266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Vendor audit, penetration test, and contract review.</a:t>
            </a:r>
          </a:p>
        </p:txBody>
      </p:sp>
    </p:spTree>
    <p:extLst>
      <p:ext uri="{BB962C8B-B14F-4D97-AF65-F5344CB8AC3E}">
        <p14:creationId xmlns:p14="http://schemas.microsoft.com/office/powerpoint/2010/main" val="1408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06749D3-CB81-4BBD-816A-BBF2D70E150C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Current Platform Architecture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1C089B-71E3-4EBB-8EBE-E7F004CE7B4E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Current platform modules, connections, data stores, integrations, and what the platform provides today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254E8E-8B84-4813-8129-E10AA3ECA5FD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AB2E48-4EA0-4B0D-8F47-1923B9600032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44F5A4-2595-48EF-B753-3DE4207FDEC0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pic>
        <p:nvPicPr>
          <p:cNvPr id="7" name="Picture 6" descr="Screenshot 2026-06-25 1349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555354"/>
            <a:ext cx="11338560" cy="4487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789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6EFE4B91-D30F-4BDC-A10B-154879FAF2D2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Infrastructure Direction and Indicative Cost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4561EC-6FFC-430A-8D78-571BDD50ED0C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Start an Azure India subscription only after the decision path is clear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BB0217-D92B-4A05-97D4-D40E39EA56C7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160B65-3329-4444-8DAD-C7E085C6CDA4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7AA850-0E6D-4DF7-9AAA-FEA154E2D746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24B2758-C9F4-44A6-8F1F-3B741C24CE96}"/>
              </a:ext>
            </a:extLst>
          </p:cNvPr>
          <p:cNvSpPr>
            <a:spLocks noGrp="1"/>
          </p:cNvSpPr>
          <p:nvPr/>
        </p:nvSpPr>
        <p:spPr>
          <a:xfrm>
            <a:off x="876300" y="1524000"/>
            <a:ext cx="3143250" cy="1524000"/>
          </a:xfrm>
          <a:prstGeom prst="roundRect">
            <a:avLst>
              <a:gd name="adj" fmla="val 6250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080DB3-82BA-4EC9-A29B-5BEBB7237DCC}"/>
              </a:ext>
            </a:extLst>
          </p:cNvPr>
          <p:cNvSpPr>
            <a:spLocks noGrp="1"/>
          </p:cNvSpPr>
          <p:nvPr/>
        </p:nvSpPr>
        <p:spPr>
          <a:xfrm>
            <a:off x="876300" y="1524000"/>
            <a:ext cx="57150" cy="15240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C35F5C-A4DD-4F1C-9D80-E73F3ABECF4F}"/>
              </a:ext>
            </a:extLst>
          </p:cNvPr>
          <p:cNvSpPr>
            <a:spLocks noGrp="1"/>
          </p:cNvSpPr>
          <p:nvPr/>
        </p:nvSpPr>
        <p:spPr>
          <a:xfrm>
            <a:off x="1066800" y="16954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Initial cloud choice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7428EF-E6BD-4BA7-8C11-40196CC5560C}"/>
              </a:ext>
            </a:extLst>
          </p:cNvPr>
          <p:cNvSpPr>
            <a:spLocks noGrp="1"/>
          </p:cNvSpPr>
          <p:nvPr/>
        </p:nvSpPr>
        <p:spPr>
          <a:xfrm>
            <a:off x="1066800" y="2076450"/>
            <a:ext cx="2762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Azure India subscription for data residency and group-aligned operations.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5566ECC-4CCF-4304-91CF-D45629E5F7E7}"/>
              </a:ext>
            </a:extLst>
          </p:cNvPr>
          <p:cNvSpPr>
            <a:spLocks noGrp="1"/>
          </p:cNvSpPr>
          <p:nvPr/>
        </p:nvSpPr>
        <p:spPr>
          <a:xfrm>
            <a:off x="4533900" y="1524000"/>
            <a:ext cx="3143250" cy="1524000"/>
          </a:xfrm>
          <a:prstGeom prst="roundRect">
            <a:avLst>
              <a:gd name="adj" fmla="val 6250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CD7888-6F35-4BEB-A381-ED66061BEA96}"/>
              </a:ext>
            </a:extLst>
          </p:cNvPr>
          <p:cNvSpPr>
            <a:spLocks noGrp="1"/>
          </p:cNvSpPr>
          <p:nvPr/>
        </p:nvSpPr>
        <p:spPr>
          <a:xfrm>
            <a:off x="4533900" y="1524000"/>
            <a:ext cx="57150" cy="15240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0F72ED-6906-4FC0-8723-425485C1F088}"/>
              </a:ext>
            </a:extLst>
          </p:cNvPr>
          <p:cNvSpPr>
            <a:spLocks noGrp="1"/>
          </p:cNvSpPr>
          <p:nvPr/>
        </p:nvSpPr>
        <p:spPr>
          <a:xfrm>
            <a:off x="4724400" y="16954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Indicative run cost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7A90BAE-4AEB-454B-9A0A-91879BB80292}"/>
              </a:ext>
            </a:extLst>
          </p:cNvPr>
          <p:cNvSpPr>
            <a:spLocks noGrp="1"/>
          </p:cNvSpPr>
          <p:nvPr/>
        </p:nvSpPr>
        <p:spPr>
          <a:xfrm>
            <a:off x="4724400" y="2076450"/>
            <a:ext cx="2762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Planning estimate: about EUR 3K per month for a controlled non-large-scale production footprint.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429CC54-0F5E-45FF-AF53-D8F68DDA1B4B}"/>
              </a:ext>
            </a:extLst>
          </p:cNvPr>
          <p:cNvSpPr>
            <a:spLocks noGrp="1"/>
          </p:cNvSpPr>
          <p:nvPr/>
        </p:nvSpPr>
        <p:spPr>
          <a:xfrm>
            <a:off x="8191500" y="1524000"/>
            <a:ext cx="3143250" cy="1524000"/>
          </a:xfrm>
          <a:prstGeom prst="roundRect">
            <a:avLst>
              <a:gd name="adj" fmla="val 6250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347A030-49AF-4216-9E83-27E859920C12}"/>
              </a:ext>
            </a:extLst>
          </p:cNvPr>
          <p:cNvSpPr>
            <a:spLocks noGrp="1"/>
          </p:cNvSpPr>
          <p:nvPr/>
        </p:nvSpPr>
        <p:spPr>
          <a:xfrm>
            <a:off x="8191500" y="1524000"/>
            <a:ext cx="57150" cy="15240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60A371-E021-4AAA-A9C3-C2A8CC0F1D35}"/>
              </a:ext>
            </a:extLst>
          </p:cNvPr>
          <p:cNvSpPr>
            <a:spLocks noGrp="1"/>
          </p:cNvSpPr>
          <p:nvPr/>
        </p:nvSpPr>
        <p:spPr>
          <a:xfrm>
            <a:off x="8382000" y="16954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Cost caveat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9E300EE-583E-404B-B3E3-62CA1D3F056B}"/>
              </a:ext>
            </a:extLst>
          </p:cNvPr>
          <p:cNvSpPr>
            <a:spLocks noGrp="1"/>
          </p:cNvSpPr>
          <p:nvPr/>
        </p:nvSpPr>
        <p:spPr>
          <a:xfrm>
            <a:off x="8382000" y="2076450"/>
            <a:ext cx="2762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Actual cost depends on HA, DR, logs retention, data volume, Databricks integration, and vendor contracts.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8B4807F-680D-4D4A-BCD1-CC2BA7CCBC8E}"/>
              </a:ext>
            </a:extLst>
          </p:cNvPr>
          <p:cNvSpPr>
            <a:spLocks noGrp="1"/>
          </p:cNvSpPr>
          <p:nvPr/>
        </p:nvSpPr>
        <p:spPr>
          <a:xfrm>
            <a:off x="1162050" y="3790950"/>
            <a:ext cx="8572500" cy="552450"/>
          </a:xfrm>
          <a:prstGeom prst="rect">
            <a:avLst/>
          </a:prstGeom>
          <a:solidFill>
            <a:srgbClr val="0B1F45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77FB99-CC85-4D08-89FE-B46C2CB8BAF0}"/>
              </a:ext>
            </a:extLst>
          </p:cNvPr>
          <p:cNvSpPr>
            <a:spLocks noGrp="1"/>
          </p:cNvSpPr>
          <p:nvPr/>
        </p:nvSpPr>
        <p:spPr>
          <a:xfrm>
            <a:off x="1257300" y="3867150"/>
            <a:ext cx="2286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Infra area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65E6617-B8EC-45EC-BD41-8BFABD638115}"/>
              </a:ext>
            </a:extLst>
          </p:cNvPr>
          <p:cNvSpPr>
            <a:spLocks noGrp="1"/>
          </p:cNvSpPr>
          <p:nvPr/>
        </p:nvSpPr>
        <p:spPr>
          <a:xfrm>
            <a:off x="3638550" y="37909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20CECBD-CEA0-486F-96CF-0D35BFCEDD5B}"/>
              </a:ext>
            </a:extLst>
          </p:cNvPr>
          <p:cNvSpPr>
            <a:spLocks noGrp="1"/>
          </p:cNvSpPr>
          <p:nvPr/>
        </p:nvSpPr>
        <p:spPr>
          <a:xfrm>
            <a:off x="3733800" y="3867150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Likely components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94DE05-E8C2-407E-A3C1-72B6B6BCB900}"/>
              </a:ext>
            </a:extLst>
          </p:cNvPr>
          <p:cNvSpPr>
            <a:spLocks noGrp="1"/>
          </p:cNvSpPr>
          <p:nvPr/>
        </p:nvSpPr>
        <p:spPr>
          <a:xfrm>
            <a:off x="6400800" y="37909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B3C22A4-C7BA-4DD2-80ED-A2B790970994}"/>
              </a:ext>
            </a:extLst>
          </p:cNvPr>
          <p:cNvSpPr>
            <a:spLocks noGrp="1"/>
          </p:cNvSpPr>
          <p:nvPr/>
        </p:nvSpPr>
        <p:spPr>
          <a:xfrm>
            <a:off x="6496050" y="386715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 needed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9B45825-232D-4C32-8DD4-039C0F56D6BF}"/>
              </a:ext>
            </a:extLst>
          </p:cNvPr>
          <p:cNvSpPr>
            <a:spLocks noGrp="1"/>
          </p:cNvSpPr>
          <p:nvPr/>
        </p:nvSpPr>
        <p:spPr>
          <a:xfrm>
            <a:off x="1162050" y="4343400"/>
            <a:ext cx="8572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69A5E8E-CB89-4C77-9A4B-0BC520BA42FA}"/>
              </a:ext>
            </a:extLst>
          </p:cNvPr>
          <p:cNvSpPr>
            <a:spLocks noGrp="1"/>
          </p:cNvSpPr>
          <p:nvPr/>
        </p:nvSpPr>
        <p:spPr>
          <a:xfrm>
            <a:off x="1257300" y="4419600"/>
            <a:ext cx="2286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Application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430A100-B87B-478A-ABC9-AE1426E4A351}"/>
              </a:ext>
            </a:extLst>
          </p:cNvPr>
          <p:cNvSpPr>
            <a:spLocks noGrp="1"/>
          </p:cNvSpPr>
          <p:nvPr/>
        </p:nvSpPr>
        <p:spPr>
          <a:xfrm>
            <a:off x="3638550" y="43434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9D89C04-15F1-4EF5-9171-3952719E93AB}"/>
              </a:ext>
            </a:extLst>
          </p:cNvPr>
          <p:cNvSpPr>
            <a:spLocks noGrp="1"/>
          </p:cNvSpPr>
          <p:nvPr/>
        </p:nvSpPr>
        <p:spPr>
          <a:xfrm>
            <a:off x="3733800" y="4419600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App Service / AKS, gateway, monitoring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DF9B8AF-6CAB-40A2-AD8C-B38DBA5BA9FE}"/>
              </a:ext>
            </a:extLst>
          </p:cNvPr>
          <p:cNvSpPr>
            <a:spLocks noGrp="1"/>
          </p:cNvSpPr>
          <p:nvPr/>
        </p:nvSpPr>
        <p:spPr>
          <a:xfrm>
            <a:off x="6400800" y="43434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70F38AD-FBB5-47AE-9CE8-5DEC0B180D89}"/>
              </a:ext>
            </a:extLst>
          </p:cNvPr>
          <p:cNvSpPr>
            <a:spLocks noGrp="1"/>
          </p:cNvSpPr>
          <p:nvPr/>
        </p:nvSpPr>
        <p:spPr>
          <a:xfrm>
            <a:off x="6496050" y="441960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Build vs vendor deployment model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46B1598-6F5E-4A34-B6CF-11C34A9950FA}"/>
              </a:ext>
            </a:extLst>
          </p:cNvPr>
          <p:cNvSpPr>
            <a:spLocks noGrp="1"/>
          </p:cNvSpPr>
          <p:nvPr/>
        </p:nvSpPr>
        <p:spPr>
          <a:xfrm>
            <a:off x="1162050" y="4895850"/>
            <a:ext cx="8572500" cy="5524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0607130-C53D-4D5B-B12B-80F01AC1DE50}"/>
              </a:ext>
            </a:extLst>
          </p:cNvPr>
          <p:cNvSpPr>
            <a:spLocks noGrp="1"/>
          </p:cNvSpPr>
          <p:nvPr/>
        </p:nvSpPr>
        <p:spPr>
          <a:xfrm>
            <a:off x="1257300" y="4972050"/>
            <a:ext cx="2286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26D1DC9-3280-4E01-BD44-942F5D6BE137}"/>
              </a:ext>
            </a:extLst>
          </p:cNvPr>
          <p:cNvSpPr>
            <a:spLocks noGrp="1"/>
          </p:cNvSpPr>
          <p:nvPr/>
        </p:nvSpPr>
        <p:spPr>
          <a:xfrm>
            <a:off x="3638550" y="48958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862A1EB-FB0F-4372-AE7F-0ED004AFD773}"/>
              </a:ext>
            </a:extLst>
          </p:cNvPr>
          <p:cNvSpPr>
            <a:spLocks noGrp="1"/>
          </p:cNvSpPr>
          <p:nvPr/>
        </p:nvSpPr>
        <p:spPr>
          <a:xfrm>
            <a:off x="3733800" y="4972050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PostgreSQL, storage, backup, retention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2841088-AE86-42BE-9840-133A963D7A55}"/>
              </a:ext>
            </a:extLst>
          </p:cNvPr>
          <p:cNvSpPr>
            <a:spLocks noGrp="1"/>
          </p:cNvSpPr>
          <p:nvPr/>
        </p:nvSpPr>
        <p:spPr>
          <a:xfrm>
            <a:off x="6400800" y="48958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3093310-FC04-4822-9518-4378CE30A1DB}"/>
              </a:ext>
            </a:extLst>
          </p:cNvPr>
          <p:cNvSpPr>
            <a:spLocks noGrp="1"/>
          </p:cNvSpPr>
          <p:nvPr/>
        </p:nvSpPr>
        <p:spPr>
          <a:xfrm>
            <a:off x="6496050" y="497205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RPO/RTO and data residency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132FB3E-C9A8-4DF5-A89E-509B168371E4}"/>
              </a:ext>
            </a:extLst>
          </p:cNvPr>
          <p:cNvSpPr>
            <a:spLocks noGrp="1"/>
          </p:cNvSpPr>
          <p:nvPr/>
        </p:nvSpPr>
        <p:spPr>
          <a:xfrm>
            <a:off x="1162050" y="5448300"/>
            <a:ext cx="8572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B0B8166-71F8-4BBD-871A-19F9E6EA2EC1}"/>
              </a:ext>
            </a:extLst>
          </p:cNvPr>
          <p:cNvSpPr>
            <a:spLocks noGrp="1"/>
          </p:cNvSpPr>
          <p:nvPr/>
        </p:nvSpPr>
        <p:spPr>
          <a:xfrm>
            <a:off x="1257300" y="5524500"/>
            <a:ext cx="2286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Integration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F331871-FE5B-4E63-8D4D-ADCD461137E8}"/>
              </a:ext>
            </a:extLst>
          </p:cNvPr>
          <p:cNvSpPr>
            <a:spLocks noGrp="1"/>
          </p:cNvSpPr>
          <p:nvPr/>
        </p:nvSpPr>
        <p:spPr>
          <a:xfrm>
            <a:off x="3638550" y="54483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063DD1A-9941-49AB-BC9D-3906358928AE}"/>
              </a:ext>
            </a:extLst>
          </p:cNvPr>
          <p:cNvSpPr>
            <a:spLocks noGrp="1"/>
          </p:cNvSpPr>
          <p:nvPr/>
        </p:nvSpPr>
        <p:spPr>
          <a:xfrm>
            <a:off x="3733800" y="5524500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Databricks DWH, email, LSP channels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8627F21-E003-430F-BCAB-2DBEF21BA20D}"/>
              </a:ext>
            </a:extLst>
          </p:cNvPr>
          <p:cNvSpPr>
            <a:spLocks noGrp="1"/>
          </p:cNvSpPr>
          <p:nvPr/>
        </p:nvSpPr>
        <p:spPr>
          <a:xfrm>
            <a:off x="6400800" y="54483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3145B35-0552-461E-8203-DF29ED5F1EE0}"/>
              </a:ext>
            </a:extLst>
          </p:cNvPr>
          <p:cNvSpPr>
            <a:spLocks noGrp="1"/>
          </p:cNvSpPr>
          <p:nvPr/>
        </p:nvSpPr>
        <p:spPr>
          <a:xfrm>
            <a:off x="6496050" y="552450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Interface ownership and support</a:t>
            </a:r>
          </a:p>
        </p:txBody>
      </p:sp>
    </p:spTree>
    <p:extLst>
      <p:ext uri="{BB962C8B-B14F-4D97-AF65-F5344CB8AC3E}">
        <p14:creationId xmlns:p14="http://schemas.microsoft.com/office/powerpoint/2010/main" val="90671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282467C3-9AE7-441E-85EA-CFE9B706E142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Buy Option: Assessment Required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487FB0-E544-49A2-AF8C-3E68576244FF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A vendor decision needs months of diligence, not a demo-only comparison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682F84-59D7-4A17-AEAD-A49942AAD77D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F2E3A9-6552-4FCD-BD2B-E317E3D9D752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6D0150-F062-4A8B-948D-B3FE15AB33BC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DC5B1C-77B6-4EEF-9FE4-79FC252B9E50}"/>
              </a:ext>
            </a:extLst>
          </p:cNvPr>
          <p:cNvSpPr>
            <a:spLocks noGrp="1"/>
          </p:cNvSpPr>
          <p:nvPr/>
        </p:nvSpPr>
        <p:spPr>
          <a:xfrm>
            <a:off x="628650" y="1466850"/>
            <a:ext cx="10477500" cy="590550"/>
          </a:xfrm>
          <a:prstGeom prst="rect">
            <a:avLst/>
          </a:prstGeom>
          <a:solidFill>
            <a:srgbClr val="0B1F45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7045E0-1113-4803-B502-4F4E2ED00936}"/>
              </a:ext>
            </a:extLst>
          </p:cNvPr>
          <p:cNvSpPr>
            <a:spLocks noGrp="1"/>
          </p:cNvSpPr>
          <p:nvPr/>
        </p:nvSpPr>
        <p:spPr>
          <a:xfrm>
            <a:off x="723900" y="154305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Assessment area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854604-5D9D-421F-8619-F46CE12F7096}"/>
              </a:ext>
            </a:extLst>
          </p:cNvPr>
          <p:cNvSpPr>
            <a:spLocks noGrp="1"/>
          </p:cNvSpPr>
          <p:nvPr/>
        </p:nvSpPr>
        <p:spPr>
          <a:xfrm>
            <a:off x="2724150" y="14668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F91E14-EBDC-421B-8927-FAE9292278D4}"/>
              </a:ext>
            </a:extLst>
          </p:cNvPr>
          <p:cNvSpPr>
            <a:spLocks noGrp="1"/>
          </p:cNvSpPr>
          <p:nvPr/>
        </p:nvSpPr>
        <p:spPr>
          <a:xfrm>
            <a:off x="2819400" y="154305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to verify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AECB02-DB85-4AEE-8C5A-00A53FC79153}"/>
              </a:ext>
            </a:extLst>
          </p:cNvPr>
          <p:cNvSpPr>
            <a:spLocks noGrp="1"/>
          </p:cNvSpPr>
          <p:nvPr/>
        </p:nvSpPr>
        <p:spPr>
          <a:xfrm>
            <a:off x="5867400" y="14668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EDA8CE-6AE4-4A34-A5EA-758C6C77F85F}"/>
              </a:ext>
            </a:extLst>
          </p:cNvPr>
          <p:cNvSpPr>
            <a:spLocks noGrp="1"/>
          </p:cNvSpPr>
          <p:nvPr/>
        </p:nvSpPr>
        <p:spPr>
          <a:xfrm>
            <a:off x="5962650" y="154305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Owner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2B0645-1D32-4536-962A-B9D690359124}"/>
              </a:ext>
            </a:extLst>
          </p:cNvPr>
          <p:cNvSpPr>
            <a:spLocks noGrp="1"/>
          </p:cNvSpPr>
          <p:nvPr/>
        </p:nvSpPr>
        <p:spPr>
          <a:xfrm>
            <a:off x="8248650" y="14668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364654-D169-4EFF-8840-F96143E1D4A9}"/>
              </a:ext>
            </a:extLst>
          </p:cNvPr>
          <p:cNvSpPr>
            <a:spLocks noGrp="1"/>
          </p:cNvSpPr>
          <p:nvPr/>
        </p:nvSpPr>
        <p:spPr>
          <a:xfrm>
            <a:off x="8343900" y="154305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Outcome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A430C6-9BEA-4826-A283-978728A149E7}"/>
              </a:ext>
            </a:extLst>
          </p:cNvPr>
          <p:cNvSpPr>
            <a:spLocks noGrp="1"/>
          </p:cNvSpPr>
          <p:nvPr/>
        </p:nvSpPr>
        <p:spPr>
          <a:xfrm>
            <a:off x="628650" y="2057400"/>
            <a:ext cx="10477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6319D98-1DEB-4B63-83FC-35153EFEBBCA}"/>
              </a:ext>
            </a:extLst>
          </p:cNvPr>
          <p:cNvSpPr>
            <a:spLocks noGrp="1"/>
          </p:cNvSpPr>
          <p:nvPr/>
        </p:nvSpPr>
        <p:spPr>
          <a:xfrm>
            <a:off x="723900" y="213360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Functional fit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7881CA7-46B0-4FBD-A9EF-7FA051F94C7F}"/>
              </a:ext>
            </a:extLst>
          </p:cNvPr>
          <p:cNvSpPr>
            <a:spLocks noGrp="1"/>
          </p:cNvSpPr>
          <p:nvPr/>
        </p:nvSpPr>
        <p:spPr>
          <a:xfrm>
            <a:off x="2724150" y="20574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214D270-44BA-4659-90EC-CE11D4144740}"/>
              </a:ext>
            </a:extLst>
          </p:cNvPr>
          <p:cNvSpPr>
            <a:spLocks noGrp="1"/>
          </p:cNvSpPr>
          <p:nvPr/>
        </p:nvSpPr>
        <p:spPr>
          <a:xfrm>
            <a:off x="2819400" y="213360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Origination, approval, audit, reporting, exceptions.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A93D9AA-B779-46FA-8DBF-EBA1E1393B80}"/>
              </a:ext>
            </a:extLst>
          </p:cNvPr>
          <p:cNvSpPr>
            <a:spLocks noGrp="1"/>
          </p:cNvSpPr>
          <p:nvPr/>
        </p:nvSpPr>
        <p:spPr>
          <a:xfrm>
            <a:off x="5867400" y="20574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01FF11C-5EF4-4EE0-8648-95C45B14E9B4}"/>
              </a:ext>
            </a:extLst>
          </p:cNvPr>
          <p:cNvSpPr>
            <a:spLocks noGrp="1"/>
          </p:cNvSpPr>
          <p:nvPr/>
        </p:nvSpPr>
        <p:spPr>
          <a:xfrm>
            <a:off x="5962650" y="213360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Product + Ops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3897273-1F10-47BA-9875-7CD4DD41A99E}"/>
              </a:ext>
            </a:extLst>
          </p:cNvPr>
          <p:cNvSpPr>
            <a:spLocks noGrp="1"/>
          </p:cNvSpPr>
          <p:nvPr/>
        </p:nvSpPr>
        <p:spPr>
          <a:xfrm>
            <a:off x="8248650" y="20574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67BB6A0-E05B-4CFC-9CD3-0D2D224E64A6}"/>
              </a:ext>
            </a:extLst>
          </p:cNvPr>
          <p:cNvSpPr>
            <a:spLocks noGrp="1"/>
          </p:cNvSpPr>
          <p:nvPr/>
        </p:nvSpPr>
        <p:spPr>
          <a:xfrm>
            <a:off x="8343900" y="213360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Fit-gap matrix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CB7F464-7A41-4EBC-932C-6F4D20875419}"/>
              </a:ext>
            </a:extLst>
          </p:cNvPr>
          <p:cNvSpPr>
            <a:spLocks noGrp="1"/>
          </p:cNvSpPr>
          <p:nvPr/>
        </p:nvSpPr>
        <p:spPr>
          <a:xfrm>
            <a:off x="628650" y="2647950"/>
            <a:ext cx="10477500" cy="5905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5EE3615-A279-4CFB-A98B-8D8CBEA75BA4}"/>
              </a:ext>
            </a:extLst>
          </p:cNvPr>
          <p:cNvSpPr>
            <a:spLocks noGrp="1"/>
          </p:cNvSpPr>
          <p:nvPr/>
        </p:nvSpPr>
        <p:spPr>
          <a:xfrm>
            <a:off x="723900" y="272415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Security audit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66306AE-7607-449F-A67C-6E2EA9B4DEB6}"/>
              </a:ext>
            </a:extLst>
          </p:cNvPr>
          <p:cNvSpPr>
            <a:spLocks noGrp="1"/>
          </p:cNvSpPr>
          <p:nvPr/>
        </p:nvSpPr>
        <p:spPr>
          <a:xfrm>
            <a:off x="2724150" y="26479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4BAA8D5-34A1-4EB0-B99C-A5578E7E500A}"/>
              </a:ext>
            </a:extLst>
          </p:cNvPr>
          <p:cNvSpPr>
            <a:spLocks noGrp="1"/>
          </p:cNvSpPr>
          <p:nvPr/>
        </p:nvSpPr>
        <p:spPr>
          <a:xfrm>
            <a:off x="2819400" y="272415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SSO, RBAC, logs, encryption, vulnerability posture.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FF65C3D-91C8-4794-99F8-DF1C9CDEAD27}"/>
              </a:ext>
            </a:extLst>
          </p:cNvPr>
          <p:cNvSpPr>
            <a:spLocks noGrp="1"/>
          </p:cNvSpPr>
          <p:nvPr/>
        </p:nvSpPr>
        <p:spPr>
          <a:xfrm>
            <a:off x="5867400" y="26479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3393488-F2B0-4078-9EB7-E8C1DAC5C4D0}"/>
              </a:ext>
            </a:extLst>
          </p:cNvPr>
          <p:cNvSpPr>
            <a:spLocks noGrp="1"/>
          </p:cNvSpPr>
          <p:nvPr/>
        </p:nvSpPr>
        <p:spPr>
          <a:xfrm>
            <a:off x="5962650" y="272415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IT Security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63B2F46-291A-4545-AB68-5EB17A4673FE}"/>
              </a:ext>
            </a:extLst>
          </p:cNvPr>
          <p:cNvSpPr>
            <a:spLocks noGrp="1"/>
          </p:cNvSpPr>
          <p:nvPr/>
        </p:nvSpPr>
        <p:spPr>
          <a:xfrm>
            <a:off x="8248650" y="26479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EB4E398-F3C9-43B9-AF6E-4F5EEB08FCF3}"/>
              </a:ext>
            </a:extLst>
          </p:cNvPr>
          <p:cNvSpPr>
            <a:spLocks noGrp="1"/>
          </p:cNvSpPr>
          <p:nvPr/>
        </p:nvSpPr>
        <p:spPr>
          <a:xfrm>
            <a:off x="8343900" y="272415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Security sign-off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24DFE5C-0888-4699-A676-84807081DBC5}"/>
              </a:ext>
            </a:extLst>
          </p:cNvPr>
          <p:cNvSpPr>
            <a:spLocks noGrp="1"/>
          </p:cNvSpPr>
          <p:nvPr/>
        </p:nvSpPr>
        <p:spPr>
          <a:xfrm>
            <a:off x="628650" y="3238500"/>
            <a:ext cx="10477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1F7D5C4-718E-4064-96E1-2A81052E82BD}"/>
              </a:ext>
            </a:extLst>
          </p:cNvPr>
          <p:cNvSpPr>
            <a:spLocks noGrp="1"/>
          </p:cNvSpPr>
          <p:nvPr/>
        </p:nvSpPr>
        <p:spPr>
          <a:xfrm>
            <a:off x="723900" y="331470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Integration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AF42C93-6845-4D87-81A6-6B34A8B866CD}"/>
              </a:ext>
            </a:extLst>
          </p:cNvPr>
          <p:cNvSpPr>
            <a:spLocks noGrp="1"/>
          </p:cNvSpPr>
          <p:nvPr/>
        </p:nvSpPr>
        <p:spPr>
          <a:xfrm>
            <a:off x="2724150" y="32385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2F466FE-51E7-4E8F-B11D-55A8DB10363B}"/>
              </a:ext>
            </a:extLst>
          </p:cNvPr>
          <p:cNvSpPr>
            <a:spLocks noGrp="1"/>
          </p:cNvSpPr>
          <p:nvPr/>
        </p:nvSpPr>
        <p:spPr>
          <a:xfrm>
            <a:off x="2819400" y="331470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LSP channels, email, PG/DWH/Databricks, APIs.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EA80191-0E99-4B6A-B7A8-B0AD5A735259}"/>
              </a:ext>
            </a:extLst>
          </p:cNvPr>
          <p:cNvSpPr>
            <a:spLocks noGrp="1"/>
          </p:cNvSpPr>
          <p:nvPr/>
        </p:nvSpPr>
        <p:spPr>
          <a:xfrm>
            <a:off x="5867400" y="32385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61D1543-822C-4E45-B875-69E632EF154B}"/>
              </a:ext>
            </a:extLst>
          </p:cNvPr>
          <p:cNvSpPr>
            <a:spLocks noGrp="1"/>
          </p:cNvSpPr>
          <p:nvPr/>
        </p:nvSpPr>
        <p:spPr>
          <a:xfrm>
            <a:off x="5962650" y="331470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Engineering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A2D1D82-9228-414A-BEED-FEB62C07BE8C}"/>
              </a:ext>
            </a:extLst>
          </p:cNvPr>
          <p:cNvSpPr>
            <a:spLocks noGrp="1"/>
          </p:cNvSpPr>
          <p:nvPr/>
        </p:nvSpPr>
        <p:spPr>
          <a:xfrm>
            <a:off x="8248650" y="32385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0341C80-D1C7-4CE7-BCF9-CD092DE54B71}"/>
              </a:ext>
            </a:extLst>
          </p:cNvPr>
          <p:cNvSpPr>
            <a:spLocks noGrp="1"/>
          </p:cNvSpPr>
          <p:nvPr/>
        </p:nvSpPr>
        <p:spPr>
          <a:xfrm>
            <a:off x="8343900" y="331470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Integration plan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CE9DFF9-038A-4AEC-8D70-1F8B9CB15440}"/>
              </a:ext>
            </a:extLst>
          </p:cNvPr>
          <p:cNvSpPr>
            <a:spLocks noGrp="1"/>
          </p:cNvSpPr>
          <p:nvPr/>
        </p:nvSpPr>
        <p:spPr>
          <a:xfrm>
            <a:off x="628650" y="3829050"/>
            <a:ext cx="10477500" cy="5905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3A50B5B-1DDA-45C4-9283-BF50DDB1DD53}"/>
              </a:ext>
            </a:extLst>
          </p:cNvPr>
          <p:cNvSpPr>
            <a:spLocks noGrp="1"/>
          </p:cNvSpPr>
          <p:nvPr/>
        </p:nvSpPr>
        <p:spPr>
          <a:xfrm>
            <a:off x="723900" y="390525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Operations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6515638-6FDA-4705-AB33-2948D5761976}"/>
              </a:ext>
            </a:extLst>
          </p:cNvPr>
          <p:cNvSpPr>
            <a:spLocks noGrp="1"/>
          </p:cNvSpPr>
          <p:nvPr/>
        </p:nvSpPr>
        <p:spPr>
          <a:xfrm>
            <a:off x="2724150" y="38290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5A2FC31-647A-441B-92DC-2776E3C67E0E}"/>
              </a:ext>
            </a:extLst>
          </p:cNvPr>
          <p:cNvSpPr>
            <a:spLocks noGrp="1"/>
          </p:cNvSpPr>
          <p:nvPr/>
        </p:nvSpPr>
        <p:spPr>
          <a:xfrm>
            <a:off x="2819400" y="390525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Support model, SLAs, incident process, release process.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777BE94-BC5F-4F26-8BDE-CE41EA122DB4}"/>
              </a:ext>
            </a:extLst>
          </p:cNvPr>
          <p:cNvSpPr>
            <a:spLocks noGrp="1"/>
          </p:cNvSpPr>
          <p:nvPr/>
        </p:nvSpPr>
        <p:spPr>
          <a:xfrm>
            <a:off x="5867400" y="38290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AD82EF7-3960-4A71-98E7-308ACF4AC4F7}"/>
              </a:ext>
            </a:extLst>
          </p:cNvPr>
          <p:cNvSpPr>
            <a:spLocks noGrp="1"/>
          </p:cNvSpPr>
          <p:nvPr/>
        </p:nvSpPr>
        <p:spPr>
          <a:xfrm>
            <a:off x="5962650" y="390525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Support + Vendor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F1CC2F5-00D7-4F79-A1C5-EC110FEC1A10}"/>
              </a:ext>
            </a:extLst>
          </p:cNvPr>
          <p:cNvSpPr>
            <a:spLocks noGrp="1"/>
          </p:cNvSpPr>
          <p:nvPr/>
        </p:nvSpPr>
        <p:spPr>
          <a:xfrm>
            <a:off x="8248650" y="38290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8B8FDB1-C056-4ED2-89C7-B5DACA019EBF}"/>
              </a:ext>
            </a:extLst>
          </p:cNvPr>
          <p:cNvSpPr>
            <a:spLocks noGrp="1"/>
          </p:cNvSpPr>
          <p:nvPr/>
        </p:nvSpPr>
        <p:spPr>
          <a:xfrm>
            <a:off x="8343900" y="390525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RACI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8110203-3118-4280-BF7D-F0BF4488A720}"/>
              </a:ext>
            </a:extLst>
          </p:cNvPr>
          <p:cNvSpPr>
            <a:spLocks noGrp="1"/>
          </p:cNvSpPr>
          <p:nvPr/>
        </p:nvSpPr>
        <p:spPr>
          <a:xfrm>
            <a:off x="628650" y="4419600"/>
            <a:ext cx="10477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FD1A511-810E-4B4A-8909-1705B7AF66A4}"/>
              </a:ext>
            </a:extLst>
          </p:cNvPr>
          <p:cNvSpPr>
            <a:spLocks noGrp="1"/>
          </p:cNvSpPr>
          <p:nvPr/>
        </p:nvSpPr>
        <p:spPr>
          <a:xfrm>
            <a:off x="723900" y="449580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Commercials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2407415-2280-4CC1-98D3-F702E5F1DB37}"/>
              </a:ext>
            </a:extLst>
          </p:cNvPr>
          <p:cNvSpPr>
            <a:spLocks noGrp="1"/>
          </p:cNvSpPr>
          <p:nvPr/>
        </p:nvSpPr>
        <p:spPr>
          <a:xfrm>
            <a:off x="2724150" y="44196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9ABFBA9-CCCC-46A6-9B75-8925404E8A92}"/>
              </a:ext>
            </a:extLst>
          </p:cNvPr>
          <p:cNvSpPr>
            <a:spLocks noGrp="1"/>
          </p:cNvSpPr>
          <p:nvPr/>
        </p:nvSpPr>
        <p:spPr>
          <a:xfrm>
            <a:off x="2819400" y="449580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License, implementation, change costs, exit rights.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C7D9A43-9BC5-4DD4-BFC0-FACC8F7DBED5}"/>
              </a:ext>
            </a:extLst>
          </p:cNvPr>
          <p:cNvSpPr>
            <a:spLocks noGrp="1"/>
          </p:cNvSpPr>
          <p:nvPr/>
        </p:nvSpPr>
        <p:spPr>
          <a:xfrm>
            <a:off x="5867400" y="44196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8F79A84-4DE1-4EBC-8B08-FF01B299DFF6}"/>
              </a:ext>
            </a:extLst>
          </p:cNvPr>
          <p:cNvSpPr>
            <a:spLocks noGrp="1"/>
          </p:cNvSpPr>
          <p:nvPr/>
        </p:nvSpPr>
        <p:spPr>
          <a:xfrm>
            <a:off x="5962650" y="449580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Finance + Legal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3394EC7-672D-46F2-9B1D-2F0E246218F6}"/>
              </a:ext>
            </a:extLst>
          </p:cNvPr>
          <p:cNvSpPr>
            <a:spLocks noGrp="1"/>
          </p:cNvSpPr>
          <p:nvPr/>
        </p:nvSpPr>
        <p:spPr>
          <a:xfrm>
            <a:off x="8248650" y="44196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D21C220-E711-4BB7-9FF1-EBC6AED24467}"/>
              </a:ext>
            </a:extLst>
          </p:cNvPr>
          <p:cNvSpPr>
            <a:spLocks noGrp="1"/>
          </p:cNvSpPr>
          <p:nvPr/>
        </p:nvSpPr>
        <p:spPr>
          <a:xfrm>
            <a:off x="8343900" y="449580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TCO and contract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DBBB16B-C130-4A09-B708-192DFD8406EA}"/>
              </a:ext>
            </a:extLst>
          </p:cNvPr>
          <p:cNvSpPr>
            <a:spLocks noGrp="1"/>
          </p:cNvSpPr>
          <p:nvPr/>
        </p:nvSpPr>
        <p:spPr>
          <a:xfrm>
            <a:off x="628650" y="5010150"/>
            <a:ext cx="10477500" cy="5905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C86F977-741E-4330-B85D-0C13A5AF251B}"/>
              </a:ext>
            </a:extLst>
          </p:cNvPr>
          <p:cNvSpPr>
            <a:spLocks noGrp="1"/>
          </p:cNvSpPr>
          <p:nvPr/>
        </p:nvSpPr>
        <p:spPr>
          <a:xfrm>
            <a:off x="723900" y="508635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Data governance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E7601B3-1166-42CB-BFCD-28BB44450E06}"/>
              </a:ext>
            </a:extLst>
          </p:cNvPr>
          <p:cNvSpPr>
            <a:spLocks noGrp="1"/>
          </p:cNvSpPr>
          <p:nvPr/>
        </p:nvSpPr>
        <p:spPr>
          <a:xfrm>
            <a:off x="2724150" y="50101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8244D34-F0FD-4CE7-9DF5-ACA238ECEC8B}"/>
              </a:ext>
            </a:extLst>
          </p:cNvPr>
          <p:cNvSpPr>
            <a:spLocks noGrp="1"/>
          </p:cNvSpPr>
          <p:nvPr/>
        </p:nvSpPr>
        <p:spPr>
          <a:xfrm>
            <a:off x="2819400" y="508635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Ownership, retention, exports, residency, audit access.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1EC21AB-B77E-45B5-BFBF-6D43CC30F7E5}"/>
              </a:ext>
            </a:extLst>
          </p:cNvPr>
          <p:cNvSpPr>
            <a:spLocks noGrp="1"/>
          </p:cNvSpPr>
          <p:nvPr/>
        </p:nvSpPr>
        <p:spPr>
          <a:xfrm>
            <a:off x="5867400" y="50101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36F6A81-4ACC-4C66-AC03-648186B2C8EB}"/>
              </a:ext>
            </a:extLst>
          </p:cNvPr>
          <p:cNvSpPr>
            <a:spLocks noGrp="1"/>
          </p:cNvSpPr>
          <p:nvPr/>
        </p:nvSpPr>
        <p:spPr>
          <a:xfrm>
            <a:off x="5962650" y="508635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6AEA024-5B64-46D9-B322-81DC52E1642C}"/>
              </a:ext>
            </a:extLst>
          </p:cNvPr>
          <p:cNvSpPr>
            <a:spLocks noGrp="1"/>
          </p:cNvSpPr>
          <p:nvPr/>
        </p:nvSpPr>
        <p:spPr>
          <a:xfrm>
            <a:off x="8248650" y="50101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4F3D6EA-B715-43D8-B8EF-E753B4AA147D}"/>
              </a:ext>
            </a:extLst>
          </p:cNvPr>
          <p:cNvSpPr>
            <a:spLocks noGrp="1"/>
          </p:cNvSpPr>
          <p:nvPr/>
        </p:nvSpPr>
        <p:spPr>
          <a:xfrm>
            <a:off x="8343900" y="508635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Control evidence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4D65F27-BD04-4EB5-94E4-B5E0EB3DC61E}"/>
              </a:ext>
            </a:extLst>
          </p:cNvPr>
          <p:cNvSpPr>
            <a:spLocks noGrp="1"/>
          </p:cNvSpPr>
          <p:nvPr/>
        </p:nvSpPr>
        <p:spPr>
          <a:xfrm>
            <a:off x="1200150" y="5981700"/>
            <a:ext cx="9791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Key question: who manages what after go-live? Vendor capability does not remove Bhawana ownership of controls, approvals, data, and LSP experience.</a:t>
            </a:r>
          </a:p>
        </p:txBody>
      </p:sp>
    </p:spTree>
    <p:extLst>
      <p:ext uri="{BB962C8B-B14F-4D97-AF65-F5344CB8AC3E}">
        <p14:creationId xmlns:p14="http://schemas.microsoft.com/office/powerpoint/2010/main" val="1283439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282467C3-9AE7-441E-85EA-CFE9B706E142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Buy Option: Indicative Vendor Cost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487FB0-E544-49A2-AF8C-3E68576244FF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Two live proposals, shown at ~€100M annual scale, first three LSPs, before tax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682F84-59D7-4A17-AEAD-A49942AAD77D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F2E3A9-6552-4FCD-BD2B-E317E3D9D752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6D0150-F062-4A8B-948D-B3FE15AB33BC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4D65F27-BD04-4EB5-94E4-B5E0EB3DC61E}"/>
              </a:ext>
            </a:extLst>
          </p:cNvPr>
          <p:cNvSpPr>
            <a:spLocks noGrp="1"/>
          </p:cNvSpPr>
          <p:nvPr/>
        </p:nvSpPr>
        <p:spPr>
          <a:xfrm>
            <a:off x="1200150" y="5981700"/>
            <a:ext cx="9791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Indicative, pre-tax at ~€100M scale: vendor cost scales with disbursement and AUM; Build cost is mostly infra plus an internal team.</a:t>
            </a:r>
          </a:p>
        </p:txBody>
      </p:sp>
      <p:graphicFrame>
        <p:nvGraphicFramePr>
          <p:cNvPr id="64" name="Table 63"/>
          <p:cNvGraphicFramePr>
            <a:graphicFrameLocks noGrp="1"/>
          </p:cNvGraphicFramePr>
          <p:nvPr/>
        </p:nvGraphicFramePr>
        <p:xfrm>
          <a:off x="630936" y="1463040"/>
          <a:ext cx="10479024" cy="416966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505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09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09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Cost element</a:t>
                      </a:r>
                    </a:p>
                  </a:txBody>
                  <a:tcPr marL="109728" marT="27432" marB="27432" anchor="ctr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0B1F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Vendor A</a:t>
                      </a:r>
                    </a:p>
                  </a:txBody>
                  <a:tcPr marL="109728" marT="27432" marB="27432" anchor="ctr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0B1F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Vendor B (current)</a:t>
                      </a:r>
                    </a:p>
                  </a:txBody>
                  <a:tcPr marL="109728" marT="27432" marB="27432" anchor="ctr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0B1F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Build (in-house)</a:t>
                      </a:r>
                    </a:p>
                  </a:txBody>
                  <a:tcPr marL="109728" marT="27432" marB="27432" anchor="ctr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0B1F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1F45"/>
                          </a:solidFill>
                          <a:latin typeface="Aptos"/>
                        </a:rPr>
                        <a:t>One-time setup</a:t>
                      </a:r>
                    </a:p>
                  </a:txBody>
                  <a:tcPr marL="109728" marT="27432" marB="27432" anchor="ctr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B6B7E"/>
                          </a:solidFill>
                          <a:latin typeface="Aptos"/>
                        </a:rPr>
                        <a:t>₹7,500,000 / €69,139</a:t>
                      </a:r>
                    </a:p>
                  </a:txBody>
                  <a:tcPr marL="109728" marT="27432" marB="27432" anchor="ctr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B6B7E"/>
                          </a:solidFill>
                          <a:latin typeface="Aptos"/>
                        </a:rPr>
                        <a:t>₹0 today</a:t>
                      </a:r>
                    </a:p>
                  </a:txBody>
                  <a:tcPr marL="109728" marT="27432" marB="27432" anchor="ctr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B6B7E"/>
                          </a:solidFill>
                          <a:latin typeface="Aptos"/>
                        </a:rPr>
                        <a:t>Build effort (TBD)</a:t>
                      </a:r>
                    </a:p>
                  </a:txBody>
                  <a:tcPr marL="109728" marT="27432" marB="27432" anchor="ctr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1F45"/>
                          </a:solidFill>
                          <a:latin typeface="Aptos"/>
                        </a:rPr>
                        <a:t>Fixed yearly cost</a:t>
                      </a:r>
                    </a:p>
                  </a:txBody>
                  <a:tcPr marL="109728" marT="27432" marB="27432" anchor="ctr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B6B7E"/>
                          </a:solidFill>
                          <a:latin typeface="Aptos"/>
                        </a:rPr>
                        <a:t>₹1,000,000 / €9,219 (AMF)</a:t>
                      </a:r>
                    </a:p>
                  </a:txBody>
                  <a:tcPr marL="109728" marT="27432" marB="27432" anchor="ctr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B6B7E"/>
                          </a:solidFill>
                          <a:latin typeface="Aptos"/>
                        </a:rPr>
                        <a:t>Floor ₹400,000 / €3,636/mo</a:t>
                      </a:r>
                    </a:p>
                  </a:txBody>
                  <a:tcPr marL="109728" marT="27432" marB="27432" anchor="ctr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B6B7E"/>
                          </a:solidFill>
                          <a:latin typeface="Aptos"/>
                        </a:rPr>
                        <a:t>Infra ₹3,900,000 / €36,000</a:t>
                      </a:r>
                    </a:p>
                  </a:txBody>
                  <a:tcPr marL="109728" marT="27432" marB="27432" anchor="ctr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7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1F45"/>
                          </a:solidFill>
                          <a:latin typeface="Aptos"/>
                        </a:rPr>
                        <a:t>Usage fee - based on</a:t>
                      </a:r>
                    </a:p>
                  </a:txBody>
                  <a:tcPr marL="109728" marT="27432" marB="27432" anchor="ctr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B6B7E"/>
                          </a:solidFill>
                          <a:latin typeface="Aptos"/>
                        </a:rPr>
                        <a:t>0.20% of disbursement</a:t>
                      </a:r>
                    </a:p>
                  </a:txBody>
                  <a:tcPr marL="109728" marT="27432" marB="27432" anchor="ctr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B6B7E"/>
                          </a:solidFill>
                          <a:latin typeface="Aptos"/>
                        </a:rPr>
                        <a:t>Tiered % of AUM</a:t>
                      </a:r>
                    </a:p>
                  </a:txBody>
                  <a:tcPr marL="109728" marT="27432" marB="27432" anchor="ctr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B6B7E"/>
                          </a:solidFill>
                          <a:latin typeface="Aptos"/>
                        </a:rPr>
                        <a:t>None</a:t>
                      </a:r>
                    </a:p>
                  </a:txBody>
                  <a:tcPr marL="109728" marT="27432" marB="27432" anchor="ctr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1F45"/>
                          </a:solidFill>
                          <a:latin typeface="Aptos"/>
                        </a:rPr>
                        <a:t>Usage fee at ~€100M</a:t>
                      </a:r>
                    </a:p>
                  </a:txBody>
                  <a:tcPr marL="109728" marT="27432" marB="27432" anchor="ctr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B6B7E"/>
                          </a:solidFill>
                          <a:latin typeface="Aptos"/>
                        </a:rPr>
                        <a:t>₹21,700,000 / €200,000</a:t>
                      </a:r>
                    </a:p>
                  </a:txBody>
                  <a:tcPr marL="109728" marT="27432" marB="27432" anchor="ctr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B6B7E"/>
                          </a:solidFill>
                          <a:latin typeface="Aptos"/>
                        </a:rPr>
                        <a:t>₹28,400,000 / €257,727</a:t>
                      </a:r>
                    </a:p>
                  </a:txBody>
                  <a:tcPr marL="109728" marT="27432" marB="27432" anchor="ctr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B6B7E"/>
                          </a:solidFill>
                          <a:latin typeface="Aptos"/>
                        </a:rPr>
                        <a:t>n/a</a:t>
                      </a:r>
                    </a:p>
                  </a:txBody>
                  <a:tcPr marL="109728" marT="27432" marB="27432" anchor="ctr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7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1F45"/>
                          </a:solidFill>
                          <a:latin typeface="Aptos"/>
                        </a:rPr>
                        <a:t>Year-1 known cost</a:t>
                      </a:r>
                    </a:p>
                  </a:txBody>
                  <a:tcPr marL="109728" marT="27432" marB="27432" anchor="ctr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B6B7E"/>
                          </a:solidFill>
                          <a:latin typeface="Aptos"/>
                        </a:rPr>
                        <a:t>₹30,200,000 / €278,358</a:t>
                      </a:r>
                    </a:p>
                  </a:txBody>
                  <a:tcPr marL="109728" marT="27432" marB="27432" anchor="ctr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B6B7E"/>
                          </a:solidFill>
                          <a:latin typeface="Aptos"/>
                        </a:rPr>
                        <a:t>₹28,400,000 / €257,727</a:t>
                      </a:r>
                    </a:p>
                  </a:txBody>
                  <a:tcPr marL="109728" marT="27432" marB="27432" anchor="ctr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B6B7E"/>
                          </a:solidFill>
                          <a:latin typeface="Aptos"/>
                        </a:rPr>
                        <a:t>₹3,900,000 / €36,000 + team</a:t>
                      </a:r>
                    </a:p>
                  </a:txBody>
                  <a:tcPr marL="109728" marT="27432" marB="27432" anchor="ctr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1F45"/>
                          </a:solidFill>
                          <a:latin typeface="Aptos"/>
                        </a:rPr>
                        <a:t>Lock-in / exit</a:t>
                      </a:r>
                    </a:p>
                  </a:txBody>
                  <a:tcPr marL="109728" marT="27432" marB="27432" anchor="ctr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B6B7E"/>
                          </a:solidFill>
                          <a:latin typeface="Aptos"/>
                        </a:rPr>
                        <a:t>None stated</a:t>
                      </a:r>
                    </a:p>
                  </a:txBody>
                  <a:tcPr marL="109728" marT="27432" marB="27432" anchor="ctr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B6B7E"/>
                          </a:solidFill>
                          <a:latin typeface="Aptos"/>
                        </a:rPr>
                        <a:t>36 months</a:t>
                      </a:r>
                    </a:p>
                  </a:txBody>
                  <a:tcPr marL="109728" marT="27432" marB="27432" anchor="ctr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B6B7E"/>
                          </a:solidFill>
                          <a:latin typeface="Aptos"/>
                        </a:rPr>
                        <a:t>Full control</a:t>
                      </a:r>
                    </a:p>
                  </a:txBody>
                  <a:tcPr marL="109728" marT="27432" marB="27432" anchor="ctr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7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CC1B1C3A-6E09-4916-AD0C-216CA08740AE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Build Option: Gated Roadmap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C33BACB-E287-4D3F-9386-B910485D59C1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The current prototype is the starting evidence, not the production end state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848A72-23F9-4D13-B61F-FFDA1E5AB6C2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5AA234-4F12-4B76-BC55-1045B366E4CD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99E50A-0F5C-4DEA-89BD-9A4B1584BB18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A2C6D3-C00C-482E-90C9-65E3B1B1D1E1}"/>
              </a:ext>
            </a:extLst>
          </p:cNvPr>
          <p:cNvSpPr>
            <a:spLocks noGrp="1"/>
          </p:cNvSpPr>
          <p:nvPr/>
        </p:nvSpPr>
        <p:spPr>
          <a:xfrm>
            <a:off x="1123950" y="2857500"/>
            <a:ext cx="9906000" cy="7620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4AC805E-5BE0-487B-8223-64D329C1FC22}"/>
              </a:ext>
            </a:extLst>
          </p:cNvPr>
          <p:cNvSpPr>
            <a:spLocks noGrp="1"/>
          </p:cNvSpPr>
          <p:nvPr/>
        </p:nvSpPr>
        <p:spPr>
          <a:xfrm>
            <a:off x="1581150" y="2667000"/>
            <a:ext cx="457200" cy="457200"/>
          </a:xfrm>
          <a:prstGeom prst="ellipse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0ED05D-AC65-4DEE-823A-D4EE9065FE9E}"/>
              </a:ext>
            </a:extLst>
          </p:cNvPr>
          <p:cNvSpPr>
            <a:spLocks noGrp="1"/>
          </p:cNvSpPr>
          <p:nvPr/>
        </p:nvSpPr>
        <p:spPr>
          <a:xfrm>
            <a:off x="1581150" y="27908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F3D28BE-6576-4DCE-A85F-2541AA7ABF73}"/>
              </a:ext>
            </a:extLst>
          </p:cNvPr>
          <p:cNvSpPr>
            <a:spLocks noGrp="1"/>
          </p:cNvSpPr>
          <p:nvPr/>
        </p:nvSpPr>
        <p:spPr>
          <a:xfrm>
            <a:off x="819150" y="3619500"/>
            <a:ext cx="2247900" cy="1524000"/>
          </a:xfrm>
          <a:prstGeom prst="roundRect">
            <a:avLst>
              <a:gd name="adj" fmla="val 6250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F8A6C0-E9EC-4118-8BC4-266D36D191FA}"/>
              </a:ext>
            </a:extLst>
          </p:cNvPr>
          <p:cNvSpPr>
            <a:spLocks noGrp="1"/>
          </p:cNvSpPr>
          <p:nvPr/>
        </p:nvSpPr>
        <p:spPr>
          <a:xfrm>
            <a:off x="819150" y="3619500"/>
            <a:ext cx="57150" cy="15240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07E346-C67A-453A-8BDA-7463C888537E}"/>
              </a:ext>
            </a:extLst>
          </p:cNvPr>
          <p:cNvSpPr>
            <a:spLocks noGrp="1"/>
          </p:cNvSpPr>
          <p:nvPr/>
        </p:nvSpPr>
        <p:spPr>
          <a:xfrm>
            <a:off x="1009650" y="3790950"/>
            <a:ext cx="1866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0-1 month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B0815A-E889-48E7-B58E-7FA926DAC02A}"/>
              </a:ext>
            </a:extLst>
          </p:cNvPr>
          <p:cNvSpPr>
            <a:spLocks noGrp="1"/>
          </p:cNvSpPr>
          <p:nvPr/>
        </p:nvSpPr>
        <p:spPr>
          <a:xfrm>
            <a:off x="1009650" y="4171950"/>
            <a:ext cx="18669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Decision and scope</a:t>
            </a:r>
          </a:p>
          <a:p>
            <a:endParaRPr sz="1125" b="0">
              <a:solidFill>
                <a:srgbClr val="17324D"/>
              </a:solidFill>
              <a:latin typeface="Aptos"/>
              <a:ea typeface="Aptos"/>
              <a:cs typeface="Aptos"/>
            </a:endParaRPr>
          </a:p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Confirm owner, target process, LSP value case.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A7E23C3-7C62-4C53-9259-EB016B32D16D}"/>
              </a:ext>
            </a:extLst>
          </p:cNvPr>
          <p:cNvSpPr>
            <a:spLocks noGrp="1"/>
          </p:cNvSpPr>
          <p:nvPr/>
        </p:nvSpPr>
        <p:spPr>
          <a:xfrm>
            <a:off x="4362450" y="2667000"/>
            <a:ext cx="457200" cy="457200"/>
          </a:xfrm>
          <a:prstGeom prst="ellipse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5DC570-CF2C-4CEA-94B8-DE37F5243DC4}"/>
              </a:ext>
            </a:extLst>
          </p:cNvPr>
          <p:cNvSpPr>
            <a:spLocks noGrp="1"/>
          </p:cNvSpPr>
          <p:nvPr/>
        </p:nvSpPr>
        <p:spPr>
          <a:xfrm>
            <a:off x="4362450" y="27908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A181FBA-3469-4DF0-9541-9D7559C2067E}"/>
              </a:ext>
            </a:extLst>
          </p:cNvPr>
          <p:cNvSpPr>
            <a:spLocks noGrp="1"/>
          </p:cNvSpPr>
          <p:nvPr/>
        </p:nvSpPr>
        <p:spPr>
          <a:xfrm>
            <a:off x="3600450" y="3619500"/>
            <a:ext cx="2247900" cy="1524000"/>
          </a:xfrm>
          <a:prstGeom prst="roundRect">
            <a:avLst>
              <a:gd name="adj" fmla="val 6250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B1041F8-E225-438A-A4EB-B5C90C26C774}"/>
              </a:ext>
            </a:extLst>
          </p:cNvPr>
          <p:cNvSpPr>
            <a:spLocks noGrp="1"/>
          </p:cNvSpPr>
          <p:nvPr/>
        </p:nvSpPr>
        <p:spPr>
          <a:xfrm>
            <a:off x="3600450" y="3619500"/>
            <a:ext cx="57150" cy="15240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09A4B5-6F48-49B6-9DB7-224CA3FF6501}"/>
              </a:ext>
            </a:extLst>
          </p:cNvPr>
          <p:cNvSpPr>
            <a:spLocks noGrp="1"/>
          </p:cNvSpPr>
          <p:nvPr/>
        </p:nvSpPr>
        <p:spPr>
          <a:xfrm>
            <a:off x="3790950" y="3790950"/>
            <a:ext cx="1866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1-3 months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544522-9607-4350-B0A6-9FC158E47BB2}"/>
              </a:ext>
            </a:extLst>
          </p:cNvPr>
          <p:cNvSpPr>
            <a:spLocks noGrp="1"/>
          </p:cNvSpPr>
          <p:nvPr/>
        </p:nvSpPr>
        <p:spPr>
          <a:xfrm>
            <a:off x="3790950" y="4171950"/>
            <a:ext cx="18669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MVP hardening</a:t>
            </a:r>
          </a:p>
          <a:p>
            <a:endParaRPr sz="1125" b="0">
              <a:solidFill>
                <a:srgbClr val="17324D"/>
              </a:solidFill>
              <a:latin typeface="Aptos"/>
              <a:ea typeface="Aptos"/>
              <a:cs typeface="Aptos"/>
            </a:endParaRPr>
          </a:p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Azure, Entra ID, audit, GitHub CI/CD, SDLC.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EB3D934-3079-4951-9348-5A4BFECC1BFE}"/>
              </a:ext>
            </a:extLst>
          </p:cNvPr>
          <p:cNvSpPr>
            <a:spLocks noGrp="1"/>
          </p:cNvSpPr>
          <p:nvPr/>
        </p:nvSpPr>
        <p:spPr>
          <a:xfrm>
            <a:off x="7143750" y="2667000"/>
            <a:ext cx="457200" cy="457200"/>
          </a:xfrm>
          <a:prstGeom prst="ellipse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7BADCD2-FBA0-4465-B4DC-447C31EA19E5}"/>
              </a:ext>
            </a:extLst>
          </p:cNvPr>
          <p:cNvSpPr>
            <a:spLocks noGrp="1"/>
          </p:cNvSpPr>
          <p:nvPr/>
        </p:nvSpPr>
        <p:spPr>
          <a:xfrm>
            <a:off x="7143750" y="27908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7A7D92D-EFD3-440B-B588-D65C72EBC848}"/>
              </a:ext>
            </a:extLst>
          </p:cNvPr>
          <p:cNvSpPr>
            <a:spLocks noGrp="1"/>
          </p:cNvSpPr>
          <p:nvPr/>
        </p:nvSpPr>
        <p:spPr>
          <a:xfrm>
            <a:off x="6381750" y="3619500"/>
            <a:ext cx="2247900" cy="1524000"/>
          </a:xfrm>
          <a:prstGeom prst="roundRect">
            <a:avLst>
              <a:gd name="adj" fmla="val 6250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5FADDE7-74AE-41F2-8B2B-EB3EBC299CCC}"/>
              </a:ext>
            </a:extLst>
          </p:cNvPr>
          <p:cNvSpPr>
            <a:spLocks noGrp="1"/>
          </p:cNvSpPr>
          <p:nvPr/>
        </p:nvSpPr>
        <p:spPr>
          <a:xfrm>
            <a:off x="6381750" y="3619500"/>
            <a:ext cx="57150" cy="15240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F8B0F56-125E-4553-B805-9C7167A6E3BD}"/>
              </a:ext>
            </a:extLst>
          </p:cNvPr>
          <p:cNvSpPr>
            <a:spLocks noGrp="1"/>
          </p:cNvSpPr>
          <p:nvPr/>
        </p:nvSpPr>
        <p:spPr>
          <a:xfrm>
            <a:off x="6572250" y="3790950"/>
            <a:ext cx="1866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3-5 months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AE95636-FDF0-49D9-9CFC-8A1D731FC9BD}"/>
              </a:ext>
            </a:extLst>
          </p:cNvPr>
          <p:cNvSpPr>
            <a:spLocks noGrp="1"/>
          </p:cNvSpPr>
          <p:nvPr/>
        </p:nvSpPr>
        <p:spPr>
          <a:xfrm>
            <a:off x="6572250" y="4171950"/>
            <a:ext cx="18669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Pilot</a:t>
            </a:r>
          </a:p>
          <a:p>
            <a:endParaRPr sz="1125" b="0">
              <a:solidFill>
                <a:srgbClr val="17324D"/>
              </a:solidFill>
              <a:latin typeface="Aptos"/>
              <a:ea typeface="Aptos"/>
              <a:cs typeface="Aptos"/>
            </a:endParaRPr>
          </a:p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One or two LSPs, manual exception flow, reporting.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C924DF0-C6C4-4A18-BAA3-A4BE80515155}"/>
              </a:ext>
            </a:extLst>
          </p:cNvPr>
          <p:cNvSpPr>
            <a:spLocks noGrp="1"/>
          </p:cNvSpPr>
          <p:nvPr/>
        </p:nvSpPr>
        <p:spPr>
          <a:xfrm>
            <a:off x="9925050" y="2667000"/>
            <a:ext cx="457200" cy="457200"/>
          </a:xfrm>
          <a:prstGeom prst="ellipse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3F4E32-9F9B-4116-AA4F-EB60879D2D6A}"/>
              </a:ext>
            </a:extLst>
          </p:cNvPr>
          <p:cNvSpPr>
            <a:spLocks noGrp="1"/>
          </p:cNvSpPr>
          <p:nvPr/>
        </p:nvSpPr>
        <p:spPr>
          <a:xfrm>
            <a:off x="9925050" y="27908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7E70C1B-AB79-4814-BF21-4E0B87D1141C}"/>
              </a:ext>
            </a:extLst>
          </p:cNvPr>
          <p:cNvSpPr>
            <a:spLocks noGrp="1"/>
          </p:cNvSpPr>
          <p:nvPr/>
        </p:nvSpPr>
        <p:spPr>
          <a:xfrm>
            <a:off x="9163050" y="3619500"/>
            <a:ext cx="2247900" cy="1524000"/>
          </a:xfrm>
          <a:prstGeom prst="roundRect">
            <a:avLst>
              <a:gd name="adj" fmla="val 6250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36A44F7-ED09-48A3-9AAB-D03FA214ECA2}"/>
              </a:ext>
            </a:extLst>
          </p:cNvPr>
          <p:cNvSpPr>
            <a:spLocks noGrp="1"/>
          </p:cNvSpPr>
          <p:nvPr/>
        </p:nvSpPr>
        <p:spPr>
          <a:xfrm>
            <a:off x="9163050" y="3619500"/>
            <a:ext cx="57150" cy="15240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88EB8FF-44AB-412B-93EC-F87D4C44CB79}"/>
              </a:ext>
            </a:extLst>
          </p:cNvPr>
          <p:cNvSpPr>
            <a:spLocks noGrp="1"/>
          </p:cNvSpPr>
          <p:nvPr/>
        </p:nvSpPr>
        <p:spPr>
          <a:xfrm>
            <a:off x="9353550" y="3790950"/>
            <a:ext cx="1866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5-8 months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1C7B919-4AA8-4AED-9A89-7771B288AC6C}"/>
              </a:ext>
            </a:extLst>
          </p:cNvPr>
          <p:cNvSpPr>
            <a:spLocks noGrp="1"/>
          </p:cNvSpPr>
          <p:nvPr/>
        </p:nvSpPr>
        <p:spPr>
          <a:xfrm>
            <a:off x="9353550" y="4171950"/>
            <a:ext cx="18669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Scale readiness</a:t>
            </a:r>
          </a:p>
          <a:p>
            <a:endParaRPr sz="1125" b="0">
              <a:solidFill>
                <a:srgbClr val="17324D"/>
              </a:solidFill>
              <a:latin typeface="Aptos"/>
              <a:ea typeface="Aptos"/>
              <a:cs typeface="Aptos"/>
            </a:endParaRPr>
          </a:p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Monitoring, DR, performance, Databricks DWH.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24A27096-8982-4777-AAEE-81881284E682}"/>
              </a:ext>
            </a:extLst>
          </p:cNvPr>
          <p:cNvSpPr>
            <a:spLocks noGrp="1"/>
          </p:cNvSpPr>
          <p:nvPr/>
        </p:nvSpPr>
        <p:spPr>
          <a:xfrm>
            <a:off x="1562100" y="1475493"/>
            <a:ext cx="3905250" cy="1066800"/>
          </a:xfrm>
          <a:prstGeom prst="roundRect">
            <a:avLst>
              <a:gd name="adj" fmla="val 8929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EA38BD7-2949-48BB-B228-86DB5F955B6C}"/>
              </a:ext>
            </a:extLst>
          </p:cNvPr>
          <p:cNvSpPr>
            <a:spLocks noGrp="1"/>
          </p:cNvSpPr>
          <p:nvPr/>
        </p:nvSpPr>
        <p:spPr>
          <a:xfrm>
            <a:off x="1562100" y="1466066"/>
            <a:ext cx="57150" cy="10668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6016C95-59B2-4FDE-AE19-80A135575DAD}"/>
              </a:ext>
            </a:extLst>
          </p:cNvPr>
          <p:cNvSpPr>
            <a:spLocks noGrp="1"/>
          </p:cNvSpPr>
          <p:nvPr/>
        </p:nvSpPr>
        <p:spPr>
          <a:xfrm>
            <a:off x="1752600" y="1562100"/>
            <a:ext cx="3524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Hard gate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6A4104D-C0B3-41C6-8E36-B4A86825B894}"/>
              </a:ext>
            </a:extLst>
          </p:cNvPr>
          <p:cNvSpPr>
            <a:spLocks noGrp="1"/>
          </p:cNvSpPr>
          <p:nvPr/>
        </p:nvSpPr>
        <p:spPr>
          <a:xfrm>
            <a:off x="1752600" y="1943100"/>
            <a:ext cx="3524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No production LSP migration until ownership, security, audit, infra, and manual exception operations are proven.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D440D12-C601-42B9-99E1-3CC44380DF96}"/>
              </a:ext>
            </a:extLst>
          </p:cNvPr>
          <p:cNvSpPr>
            <a:spLocks noGrp="1"/>
          </p:cNvSpPr>
          <p:nvPr/>
        </p:nvSpPr>
        <p:spPr>
          <a:xfrm>
            <a:off x="6705600" y="1390650"/>
            <a:ext cx="3905250" cy="1066800"/>
          </a:xfrm>
          <a:prstGeom prst="roundRect">
            <a:avLst>
              <a:gd name="adj" fmla="val 8929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AB173C9-605E-42AA-A98F-FADEC45F8F92}"/>
              </a:ext>
            </a:extLst>
          </p:cNvPr>
          <p:cNvSpPr>
            <a:spLocks noGrp="1"/>
          </p:cNvSpPr>
          <p:nvPr/>
        </p:nvSpPr>
        <p:spPr>
          <a:xfrm>
            <a:off x="6705600" y="1390650"/>
            <a:ext cx="57150" cy="10668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22CAAB8-A612-43C1-BACD-6457ABE82890}"/>
              </a:ext>
            </a:extLst>
          </p:cNvPr>
          <p:cNvSpPr>
            <a:spLocks noGrp="1"/>
          </p:cNvSpPr>
          <p:nvPr/>
        </p:nvSpPr>
        <p:spPr>
          <a:xfrm>
            <a:off x="6896100" y="1562100"/>
            <a:ext cx="3524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LSP value proof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E56768D-A1BA-428B-8370-8F42EAFB1D40}"/>
              </a:ext>
            </a:extLst>
          </p:cNvPr>
          <p:cNvSpPr>
            <a:spLocks noGrp="1"/>
          </p:cNvSpPr>
          <p:nvPr/>
        </p:nvSpPr>
        <p:spPr>
          <a:xfrm>
            <a:off x="6896100" y="1943100"/>
            <a:ext cx="3524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Pilot must prove the platform is easier for LSPs than email and manual follow-up.</a:t>
            </a:r>
          </a:p>
        </p:txBody>
      </p:sp>
    </p:spTree>
    <p:extLst>
      <p:ext uri="{BB962C8B-B14F-4D97-AF65-F5344CB8AC3E}">
        <p14:creationId xmlns:p14="http://schemas.microsoft.com/office/powerpoint/2010/main" val="18637232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20EAC66B-8997-49FE-B895-5A4D84961F2B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Key Challenges and Executive Asks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AE923D-4641-4C9B-A670-AC65112E8771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The decision can move forward if these questions are explicitly owned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782006-EDDD-438D-99FD-91D3A2CF62AB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087547-D9F9-4FCE-B7B0-E44B29E88788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E8B112-8CEE-4758-9BD9-CF0379925565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BBEBD9A-9F9E-4908-839D-4EE9CAD273D8}"/>
              </a:ext>
            </a:extLst>
          </p:cNvPr>
          <p:cNvSpPr>
            <a:spLocks noGrp="1"/>
          </p:cNvSpPr>
          <p:nvPr/>
        </p:nvSpPr>
        <p:spPr>
          <a:xfrm>
            <a:off x="781050" y="1504950"/>
            <a:ext cx="2381250" cy="1600200"/>
          </a:xfrm>
          <a:prstGeom prst="roundRect">
            <a:avLst>
              <a:gd name="adj" fmla="val 5952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AC159C-4EAA-4668-AF20-76D395B7D66E}"/>
              </a:ext>
            </a:extLst>
          </p:cNvPr>
          <p:cNvSpPr>
            <a:spLocks noGrp="1"/>
          </p:cNvSpPr>
          <p:nvPr/>
        </p:nvSpPr>
        <p:spPr>
          <a:xfrm>
            <a:off x="781050" y="1504950"/>
            <a:ext cx="57150" cy="16002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76FB16-C29C-47BF-9D76-970F46759A5E}"/>
              </a:ext>
            </a:extLst>
          </p:cNvPr>
          <p:cNvSpPr>
            <a:spLocks noGrp="1"/>
          </p:cNvSpPr>
          <p:nvPr/>
        </p:nvSpPr>
        <p:spPr>
          <a:xfrm>
            <a:off x="971550" y="16764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Technology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441E81-AD55-4FE4-B1D7-14CDA7E0D335}"/>
              </a:ext>
            </a:extLst>
          </p:cNvPr>
          <p:cNvSpPr>
            <a:spLocks noGrp="1"/>
          </p:cNvSpPr>
          <p:nvPr/>
        </p:nvSpPr>
        <p:spPr>
          <a:xfrm>
            <a:off x="971550" y="2057400"/>
            <a:ext cx="2000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Prototype is not deployed or scale-ready. Build path needs infra, SDLC, observability, and DWH integration.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6E9B62E-8F0D-4C59-8BC5-267F8BEAB2A9}"/>
              </a:ext>
            </a:extLst>
          </p:cNvPr>
          <p:cNvSpPr>
            <a:spLocks noGrp="1"/>
          </p:cNvSpPr>
          <p:nvPr/>
        </p:nvSpPr>
        <p:spPr>
          <a:xfrm>
            <a:off x="3562350" y="1504950"/>
            <a:ext cx="2381250" cy="1600200"/>
          </a:xfrm>
          <a:prstGeom prst="roundRect">
            <a:avLst>
              <a:gd name="adj" fmla="val 5952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9335DA-9CCA-4CB9-AD62-D3D3CD1ABCE5}"/>
              </a:ext>
            </a:extLst>
          </p:cNvPr>
          <p:cNvSpPr>
            <a:spLocks noGrp="1"/>
          </p:cNvSpPr>
          <p:nvPr/>
        </p:nvSpPr>
        <p:spPr>
          <a:xfrm>
            <a:off x="3562350" y="1504950"/>
            <a:ext cx="57150" cy="16002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F9DE6F-2A38-4443-BCED-9D66D565515D}"/>
              </a:ext>
            </a:extLst>
          </p:cNvPr>
          <p:cNvSpPr>
            <a:spLocks noGrp="1"/>
          </p:cNvSpPr>
          <p:nvPr/>
        </p:nvSpPr>
        <p:spPr>
          <a:xfrm>
            <a:off x="3752850" y="16764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Operations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6D845E-3D2D-4A5D-91FC-F2BAF99FA45A}"/>
              </a:ext>
            </a:extLst>
          </p:cNvPr>
          <p:cNvSpPr>
            <a:spLocks noGrp="1"/>
          </p:cNvSpPr>
          <p:nvPr/>
        </p:nvSpPr>
        <p:spPr>
          <a:xfrm>
            <a:off x="3752850" y="2057400"/>
            <a:ext cx="2000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Manual interactions remain. The platform must define who approves, who supports, and who escalates.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0005187-59DA-4AD6-AC09-32A1BBFEC64A}"/>
              </a:ext>
            </a:extLst>
          </p:cNvPr>
          <p:cNvSpPr>
            <a:spLocks noGrp="1"/>
          </p:cNvSpPr>
          <p:nvPr/>
        </p:nvSpPr>
        <p:spPr>
          <a:xfrm>
            <a:off x="6343650" y="1504950"/>
            <a:ext cx="2381250" cy="1600200"/>
          </a:xfrm>
          <a:prstGeom prst="roundRect">
            <a:avLst>
              <a:gd name="adj" fmla="val 5952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246B1A7-475B-4284-A789-E321DD49F06A}"/>
              </a:ext>
            </a:extLst>
          </p:cNvPr>
          <p:cNvSpPr>
            <a:spLocks noGrp="1"/>
          </p:cNvSpPr>
          <p:nvPr/>
        </p:nvSpPr>
        <p:spPr>
          <a:xfrm>
            <a:off x="6343650" y="1504950"/>
            <a:ext cx="57150" cy="16002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AFC038-FB9F-40B6-A316-18B010E625E5}"/>
              </a:ext>
            </a:extLst>
          </p:cNvPr>
          <p:cNvSpPr>
            <a:spLocks noGrp="1"/>
          </p:cNvSpPr>
          <p:nvPr/>
        </p:nvSpPr>
        <p:spPr>
          <a:xfrm>
            <a:off x="6534150" y="16764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Scalability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5DBEBBF-CF48-48B1-A688-8489DC838925}"/>
              </a:ext>
            </a:extLst>
          </p:cNvPr>
          <p:cNvSpPr>
            <a:spLocks noGrp="1"/>
          </p:cNvSpPr>
          <p:nvPr/>
        </p:nvSpPr>
        <p:spPr>
          <a:xfrm>
            <a:off x="6534150" y="2057400"/>
            <a:ext cx="2000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Email-based process and ad hoc approvals will not scale across multiple LSPs without control automation.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74451F3-D4E3-4CC2-A9A2-7AADAA1E7B3D}"/>
              </a:ext>
            </a:extLst>
          </p:cNvPr>
          <p:cNvSpPr>
            <a:spLocks noGrp="1"/>
          </p:cNvSpPr>
          <p:nvPr/>
        </p:nvSpPr>
        <p:spPr>
          <a:xfrm>
            <a:off x="9124950" y="1504950"/>
            <a:ext cx="2381250" cy="1600200"/>
          </a:xfrm>
          <a:prstGeom prst="roundRect">
            <a:avLst>
              <a:gd name="adj" fmla="val 5952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BD48CB-AF46-4410-B7A5-61A90B0CA9DE}"/>
              </a:ext>
            </a:extLst>
          </p:cNvPr>
          <p:cNvSpPr>
            <a:spLocks noGrp="1"/>
          </p:cNvSpPr>
          <p:nvPr/>
        </p:nvSpPr>
        <p:spPr>
          <a:xfrm>
            <a:off x="9124950" y="1504950"/>
            <a:ext cx="57150" cy="16002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91F63F7-65CC-49E4-945E-7CEFB1373DC8}"/>
              </a:ext>
            </a:extLst>
          </p:cNvPr>
          <p:cNvSpPr>
            <a:spLocks noGrp="1"/>
          </p:cNvSpPr>
          <p:nvPr/>
        </p:nvSpPr>
        <p:spPr>
          <a:xfrm>
            <a:off x="9315450" y="16764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Business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7320F02-CBE6-4DC6-9EAC-56200D2BC4C2}"/>
              </a:ext>
            </a:extLst>
          </p:cNvPr>
          <p:cNvSpPr>
            <a:spLocks noGrp="1"/>
          </p:cNvSpPr>
          <p:nvPr/>
        </p:nvSpPr>
        <p:spPr>
          <a:xfrm>
            <a:off x="9315450" y="2057400"/>
            <a:ext cx="2000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LSP motivation depends on lower effort, faster answers, better transparency, and clean integration.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D38D00C-E33C-4C51-8E54-9185DCAD08D5}"/>
              </a:ext>
            </a:extLst>
          </p:cNvPr>
          <p:cNvSpPr>
            <a:spLocks noGrp="1"/>
          </p:cNvSpPr>
          <p:nvPr/>
        </p:nvSpPr>
        <p:spPr>
          <a:xfrm>
            <a:off x="1162050" y="3905250"/>
            <a:ext cx="9144000" cy="552450"/>
          </a:xfrm>
          <a:prstGeom prst="rect">
            <a:avLst/>
          </a:prstGeom>
          <a:solidFill>
            <a:srgbClr val="0B1F45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F84ACD2-BFAE-4570-92B7-CAA6EFFF5E1C}"/>
              </a:ext>
            </a:extLst>
          </p:cNvPr>
          <p:cNvSpPr>
            <a:spLocks noGrp="1"/>
          </p:cNvSpPr>
          <p:nvPr/>
        </p:nvSpPr>
        <p:spPr>
          <a:xfrm>
            <a:off x="1257300" y="3981450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Executive ask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C899D79-5F0B-4D81-9888-406BB3AEFB74}"/>
              </a:ext>
            </a:extLst>
          </p:cNvPr>
          <p:cNvSpPr>
            <a:spLocks noGrp="1"/>
          </p:cNvSpPr>
          <p:nvPr/>
        </p:nvSpPr>
        <p:spPr>
          <a:xfrm>
            <a:off x="4305300" y="39052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81D4CB6-680D-47B5-93D7-EE15F83EDF7D}"/>
              </a:ext>
            </a:extLst>
          </p:cNvPr>
          <p:cNvSpPr>
            <a:spLocks noGrp="1"/>
          </p:cNvSpPr>
          <p:nvPr/>
        </p:nvSpPr>
        <p:spPr>
          <a:xfrm>
            <a:off x="4400550" y="3981450"/>
            <a:ext cx="342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 required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92BD329-7818-4FB6-B068-243777C90C21}"/>
              </a:ext>
            </a:extLst>
          </p:cNvPr>
          <p:cNvSpPr>
            <a:spLocks noGrp="1"/>
          </p:cNvSpPr>
          <p:nvPr/>
        </p:nvSpPr>
        <p:spPr>
          <a:xfrm>
            <a:off x="7924800" y="39052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A1AFCE2-8A69-494D-AEB5-ED3E0BA9D9D1}"/>
              </a:ext>
            </a:extLst>
          </p:cNvPr>
          <p:cNvSpPr>
            <a:spLocks noGrp="1"/>
          </p:cNvSpPr>
          <p:nvPr/>
        </p:nvSpPr>
        <p:spPr>
          <a:xfrm>
            <a:off x="8020050" y="3981450"/>
            <a:ext cx="219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Owner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762A3DF-392D-4833-8469-C2A93BC60D7D}"/>
              </a:ext>
            </a:extLst>
          </p:cNvPr>
          <p:cNvSpPr>
            <a:spLocks noGrp="1"/>
          </p:cNvSpPr>
          <p:nvPr/>
        </p:nvSpPr>
        <p:spPr>
          <a:xfrm>
            <a:off x="1162050" y="4457700"/>
            <a:ext cx="9144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6A76273-5522-4C97-90A9-016DA5C46571}"/>
              </a:ext>
            </a:extLst>
          </p:cNvPr>
          <p:cNvSpPr>
            <a:spLocks noGrp="1"/>
          </p:cNvSpPr>
          <p:nvPr/>
        </p:nvSpPr>
        <p:spPr>
          <a:xfrm>
            <a:off x="1257300" y="4533900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Build vs buy assessment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EA62224-EE4E-4844-B54F-BDB9E4DC830B}"/>
              </a:ext>
            </a:extLst>
          </p:cNvPr>
          <p:cNvSpPr>
            <a:spLocks noGrp="1"/>
          </p:cNvSpPr>
          <p:nvPr/>
        </p:nvSpPr>
        <p:spPr>
          <a:xfrm>
            <a:off x="4305300" y="44577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DA60A94-CEA1-404E-8EF2-7570EA2B15B7}"/>
              </a:ext>
            </a:extLst>
          </p:cNvPr>
          <p:cNvSpPr>
            <a:spLocks noGrp="1"/>
          </p:cNvSpPr>
          <p:nvPr/>
        </p:nvSpPr>
        <p:spPr>
          <a:xfrm>
            <a:off x="4400550" y="4533900"/>
            <a:ext cx="342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Approve criteria, timeline, and vendor shortlist.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76FCF70-37C3-4BFD-9F07-70BA207C7F82}"/>
              </a:ext>
            </a:extLst>
          </p:cNvPr>
          <p:cNvSpPr>
            <a:spLocks noGrp="1"/>
          </p:cNvSpPr>
          <p:nvPr/>
        </p:nvSpPr>
        <p:spPr>
          <a:xfrm>
            <a:off x="7924800" y="44577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C4B71DF-E980-4609-BA7A-ED4A7BD1DB80}"/>
              </a:ext>
            </a:extLst>
          </p:cNvPr>
          <p:cNvSpPr>
            <a:spLocks noGrp="1"/>
          </p:cNvSpPr>
          <p:nvPr/>
        </p:nvSpPr>
        <p:spPr>
          <a:xfrm>
            <a:off x="8020050" y="4533900"/>
            <a:ext cx="219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Leadership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5892DEA-4B67-45DA-99A9-45EB3DD521C0}"/>
              </a:ext>
            </a:extLst>
          </p:cNvPr>
          <p:cNvSpPr>
            <a:spLocks noGrp="1"/>
          </p:cNvSpPr>
          <p:nvPr/>
        </p:nvSpPr>
        <p:spPr>
          <a:xfrm>
            <a:off x="1162050" y="5010150"/>
            <a:ext cx="9144000" cy="5524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0406299-F724-4BB8-90E3-9B9793664631}"/>
              </a:ext>
            </a:extLst>
          </p:cNvPr>
          <p:cNvSpPr>
            <a:spLocks noGrp="1"/>
          </p:cNvSpPr>
          <p:nvPr/>
        </p:nvSpPr>
        <p:spPr>
          <a:xfrm>
            <a:off x="1257300" y="5086350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Prototype path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38CB2C3-19A7-4E84-9899-D0ABAE840DE2}"/>
              </a:ext>
            </a:extLst>
          </p:cNvPr>
          <p:cNvSpPr>
            <a:spLocks noGrp="1"/>
          </p:cNvSpPr>
          <p:nvPr/>
        </p:nvSpPr>
        <p:spPr>
          <a:xfrm>
            <a:off x="4305300" y="50101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11E0309-9647-4360-BCBB-109E35BA277F}"/>
              </a:ext>
            </a:extLst>
          </p:cNvPr>
          <p:cNvSpPr>
            <a:spLocks noGrp="1"/>
          </p:cNvSpPr>
          <p:nvPr/>
        </p:nvSpPr>
        <p:spPr>
          <a:xfrm>
            <a:off x="4400550" y="5086350"/>
            <a:ext cx="342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Decide whether prototype becomes MVP or remains learning artifact.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19B6643-5879-4FB1-8CF4-17086FB2B920}"/>
              </a:ext>
            </a:extLst>
          </p:cNvPr>
          <p:cNvSpPr>
            <a:spLocks noGrp="1"/>
          </p:cNvSpPr>
          <p:nvPr/>
        </p:nvSpPr>
        <p:spPr>
          <a:xfrm>
            <a:off x="7924800" y="50101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BB55230-52E5-4934-BA23-8909D6736C56}"/>
              </a:ext>
            </a:extLst>
          </p:cNvPr>
          <p:cNvSpPr>
            <a:spLocks noGrp="1"/>
          </p:cNvSpPr>
          <p:nvPr/>
        </p:nvSpPr>
        <p:spPr>
          <a:xfrm>
            <a:off x="8020050" y="5086350"/>
            <a:ext cx="219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Product + Engineering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2C71FA1-065E-487C-B602-0F6064801240}"/>
              </a:ext>
            </a:extLst>
          </p:cNvPr>
          <p:cNvSpPr>
            <a:spLocks noGrp="1"/>
          </p:cNvSpPr>
          <p:nvPr/>
        </p:nvSpPr>
        <p:spPr>
          <a:xfrm>
            <a:off x="1162050" y="5562600"/>
            <a:ext cx="9144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E5F46CE-E412-40F1-9C4B-FD8A69C86E35}"/>
              </a:ext>
            </a:extLst>
          </p:cNvPr>
          <p:cNvSpPr>
            <a:spLocks noGrp="1"/>
          </p:cNvSpPr>
          <p:nvPr/>
        </p:nvSpPr>
        <p:spPr>
          <a:xfrm>
            <a:off x="1257300" y="5638800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Operating model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7BEBE9C-14B8-4BD5-8477-24FBB630A384}"/>
              </a:ext>
            </a:extLst>
          </p:cNvPr>
          <p:cNvSpPr>
            <a:spLocks noGrp="1"/>
          </p:cNvSpPr>
          <p:nvPr/>
        </p:nvSpPr>
        <p:spPr>
          <a:xfrm>
            <a:off x="4305300" y="55626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34D4B8B-55F7-4C27-8411-881E2B3245BB}"/>
              </a:ext>
            </a:extLst>
          </p:cNvPr>
          <p:cNvSpPr>
            <a:spLocks noGrp="1"/>
          </p:cNvSpPr>
          <p:nvPr/>
        </p:nvSpPr>
        <p:spPr>
          <a:xfrm>
            <a:off x="4400550" y="5638800"/>
            <a:ext cx="342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Confirm RACI, manual approvals, support, and security gates.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45E047F-D8CC-4C65-A596-ED3B815DE332}"/>
              </a:ext>
            </a:extLst>
          </p:cNvPr>
          <p:cNvSpPr>
            <a:spLocks noGrp="1"/>
          </p:cNvSpPr>
          <p:nvPr/>
        </p:nvSpPr>
        <p:spPr>
          <a:xfrm>
            <a:off x="7924800" y="55626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2064AED-17DC-48AD-95BA-62978C7D786A}"/>
              </a:ext>
            </a:extLst>
          </p:cNvPr>
          <p:cNvSpPr>
            <a:spLocks noGrp="1"/>
          </p:cNvSpPr>
          <p:nvPr/>
        </p:nvSpPr>
        <p:spPr>
          <a:xfrm>
            <a:off x="8020050" y="5638800"/>
            <a:ext cx="219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Ops + Governance</a:t>
            </a:r>
          </a:p>
        </p:txBody>
      </p:sp>
    </p:spTree>
    <p:extLst>
      <p:ext uri="{BB962C8B-B14F-4D97-AF65-F5344CB8AC3E}">
        <p14:creationId xmlns:p14="http://schemas.microsoft.com/office/powerpoint/2010/main" val="165549621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1655</Words>
  <Application>Microsoft Office PowerPoint</Application>
  <DocSecurity>0</DocSecurity>
  <PresentationFormat>Widescreen</PresentationFormat>
  <Paragraphs>293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Siddhant</cp:lastModifiedBy>
  <cp:revision>2</cp:revision>
  <dcterms:created xsi:type="dcterms:W3CDTF">2026-06-25T05:59:16Z</dcterms:created>
  <dcterms:modified xsi:type="dcterms:W3CDTF">2026-06-25T09:03:11Z</dcterms:modified>
</cp:coreProperties>
</file>