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e7640346a84404" /><Relationship Type="http://schemas.openxmlformats.org/officeDocument/2006/relationships/extended-properties" Target="/docProps/app.xml" Id="Rb1d86b5add244af9" /><Relationship Type="http://schemas.openxmlformats.org/officeDocument/2006/relationships/officeDocument" Target="/ppt/presentation.xml" Id="R9ab5ddd4df544a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0313e1c6b24a4b"/>
  </p:sldMasterIdLst>
  <p:notesMasterIdLst>
    <p:notesMasterId xmlns:r="http://schemas.openxmlformats.org/officeDocument/2006/relationships" r:id="R054caf5dae634126"/>
  </p:notesMasterIdLst>
  <p:sldIdLst>
    <p:sldId xmlns:r="http://schemas.openxmlformats.org/officeDocument/2006/relationships" id="256" r:id="R3f3aa0cd1f2745e3"/>
    <p:sldId xmlns:r="http://schemas.openxmlformats.org/officeDocument/2006/relationships" id="257" r:id="R2eb70626947141a0"/>
    <p:sldId xmlns:r="http://schemas.openxmlformats.org/officeDocument/2006/relationships" id="258" r:id="R88a257a43b9d4ff8"/>
    <p:sldId xmlns:r="http://schemas.openxmlformats.org/officeDocument/2006/relationships" id="259" r:id="R31f14e127f8e478f"/>
    <p:sldId xmlns:r="http://schemas.openxmlformats.org/officeDocument/2006/relationships" id="260" r:id="Rb4f02e64cacd4354"/>
    <p:sldId xmlns:r="http://schemas.openxmlformats.org/officeDocument/2006/relationships" id="261" r:id="Ra749a1fb4ad541fa"/>
    <p:sldId xmlns:r="http://schemas.openxmlformats.org/officeDocument/2006/relationships" id="262" r:id="R99f5cc8571814353"/>
    <p:sldId xmlns:r="http://schemas.openxmlformats.org/officeDocument/2006/relationships" id="263" r:id="R59ecaf16dbec409b"/>
    <p:sldId xmlns:r="http://schemas.openxmlformats.org/officeDocument/2006/relationships" id="264" r:id="Rd3ad0e7597844b16"/>
    <p:sldId xmlns:r="http://schemas.openxmlformats.org/officeDocument/2006/relationships" id="265" r:id="R2da6cd94ba594b99"/>
    <p:sldId xmlns:r="http://schemas.openxmlformats.org/officeDocument/2006/relationships" id="266" r:id="R596db025ee8c4060"/>
    <p:sldId xmlns:r="http://schemas.openxmlformats.org/officeDocument/2006/relationships" id="267" r:id="R477568bb4b72432c"/>
    <p:sldId xmlns:r="http://schemas.openxmlformats.org/officeDocument/2006/relationships" id="268" r:id="R719792160bdf4ad7"/>
    <p:sldId xmlns:r="http://schemas.openxmlformats.org/officeDocument/2006/relationships" id="269" r:id="Rc2361d3be1d249f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9f25b3845b4354" /><Relationship Type="http://schemas.openxmlformats.org/officeDocument/2006/relationships/slideMaster" Target="/ppt/slideMasters/slideMaster1.xml" Id="Rc40313e1c6b24a4b" /><Relationship Type="http://schemas.openxmlformats.org/officeDocument/2006/relationships/notesMaster" Target="/ppt/notesMasters/notesMaster1.xml" Id="R054caf5dae634126" /><Relationship Type="http://schemas.openxmlformats.org/officeDocument/2006/relationships/presProps" Target="/ppt/presProps.xml" Id="R51d2a276bae140e2" /><Relationship Type="http://schemas.openxmlformats.org/officeDocument/2006/relationships/tableStyles" Target="/ppt/tableStyles.xml" Id="R65fcb553faac4d2a" /><Relationship Type="http://schemas.openxmlformats.org/officeDocument/2006/relationships/slide" Target="/ppt/slides/slide1.xml" Id="R3f3aa0cd1f2745e3" /><Relationship Type="http://schemas.openxmlformats.org/officeDocument/2006/relationships/slide" Target="/ppt/slides/slide2.xml" Id="R2eb70626947141a0" /><Relationship Type="http://schemas.openxmlformats.org/officeDocument/2006/relationships/slide" Target="/ppt/slides/slide3.xml" Id="R88a257a43b9d4ff8" /><Relationship Type="http://schemas.openxmlformats.org/officeDocument/2006/relationships/slide" Target="/ppt/slides/slide4.xml" Id="R31f14e127f8e478f" /><Relationship Type="http://schemas.openxmlformats.org/officeDocument/2006/relationships/slide" Target="/ppt/slides/slide5.xml" Id="Rb4f02e64cacd4354" /><Relationship Type="http://schemas.openxmlformats.org/officeDocument/2006/relationships/slide" Target="/ppt/slides/slide6.xml" Id="Ra749a1fb4ad541fa" /><Relationship Type="http://schemas.openxmlformats.org/officeDocument/2006/relationships/slide" Target="/ppt/slides/slide7.xml" Id="R99f5cc8571814353" /><Relationship Type="http://schemas.openxmlformats.org/officeDocument/2006/relationships/slide" Target="/ppt/slides/slide8.xml" Id="R59ecaf16dbec409b" /><Relationship Type="http://schemas.openxmlformats.org/officeDocument/2006/relationships/slide" Target="/ppt/slides/slide9.xml" Id="Rd3ad0e7597844b16" /><Relationship Type="http://schemas.openxmlformats.org/officeDocument/2006/relationships/slide" Target="/ppt/slides/slide10.xml" Id="R2da6cd94ba594b99" /><Relationship Type="http://schemas.openxmlformats.org/officeDocument/2006/relationships/slide" Target="/ppt/slides/slide11.xml" Id="R596db025ee8c4060" /><Relationship Type="http://schemas.openxmlformats.org/officeDocument/2006/relationships/slide" Target="/ppt/slides/slide12.xml" Id="R477568bb4b72432c" /><Relationship Type="http://schemas.openxmlformats.org/officeDocument/2006/relationships/slide" Target="/ppt/slides/slide13.xml" Id="R719792160bdf4ad7" /><Relationship Type="http://schemas.openxmlformats.org/officeDocument/2006/relationships/slide" Target="/ppt/slides/slide14.xml" Id="Rc2361d3be1d249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593d32e3e247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b10aa1ddd544f5" /><Relationship Type="http://schemas.openxmlformats.org/officeDocument/2006/relationships/notesMaster" Target="/ppt/notesMasters/notesMaster1.xml" Id="R30520867807e41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4c20f2106c4d4d" /><Relationship Type="http://schemas.openxmlformats.org/officeDocument/2006/relationships/notesMaster" Target="/ppt/notesMasters/notesMaster1.xml" Id="Rc4d2668a398143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1d1295b1e54b84" /><Relationship Type="http://schemas.openxmlformats.org/officeDocument/2006/relationships/notesMaster" Target="/ppt/notesMasters/notesMaster1.xml" Id="R5e6dd49ab80f4c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b458785c5d4461" /><Relationship Type="http://schemas.openxmlformats.org/officeDocument/2006/relationships/notesMaster" Target="/ppt/notesMasters/notesMaster1.xml" Id="R92458f755389478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1c775c9c6044f8" /><Relationship Type="http://schemas.openxmlformats.org/officeDocument/2006/relationships/notesMaster" Target="/ppt/notesMasters/notesMaster1.xml" Id="R35a5bd04dccb45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69ba4d659743ff" /><Relationship Type="http://schemas.openxmlformats.org/officeDocument/2006/relationships/notesMaster" Target="/ppt/notesMasters/notesMaster1.xml" Id="Ra3a6f34ccf264e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5cb723ca6f4a3b" /><Relationship Type="http://schemas.openxmlformats.org/officeDocument/2006/relationships/notesMaster" Target="/ppt/notesMasters/notesMaster1.xml" Id="Rfb32d705a57d4f3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41fb33806574706" /><Relationship Type="http://schemas.openxmlformats.org/officeDocument/2006/relationships/notesMaster" Target="/ppt/notesMasters/notesMaster1.xml" Id="R6e065a92547341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a2bba3575424c3c" /><Relationship Type="http://schemas.openxmlformats.org/officeDocument/2006/relationships/notesMaster" Target="/ppt/notesMasters/notesMaster1.xml" Id="Ra083c1ad70fa417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c14ccc15684d82" /><Relationship Type="http://schemas.openxmlformats.org/officeDocument/2006/relationships/notesMaster" Target="/ppt/notesMasters/notesMaster1.xml" Id="R9cb70dd50640494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6be370e763d4663" /><Relationship Type="http://schemas.openxmlformats.org/officeDocument/2006/relationships/notesMaster" Target="/ppt/notesMasters/notesMaster1.xml" Id="R47141d1295cd4e6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b303fb4d82c4f8f" /><Relationship Type="http://schemas.openxmlformats.org/officeDocument/2006/relationships/notesMaster" Target="/ppt/notesMasters/notesMaster1.xml" Id="R4ea0adb78c9549a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780883db42540a0" /><Relationship Type="http://schemas.openxmlformats.org/officeDocument/2006/relationships/notesMaster" Target="/ppt/notesMasters/notesMaster1.xml" Id="R82cea3dbc6a545c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742a041721b4a64" /><Relationship Type="http://schemas.openxmlformats.org/officeDocument/2006/relationships/notesMaster" Target="/ppt/notesMasters/notesMaster1.xml" Id="Rb9ecad7dfd7e48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f9bd7c656447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8cc0a97f5e45e3" /><Relationship Type="http://schemas.openxmlformats.org/officeDocument/2006/relationships/slideLayout" Target="/ppt/slideLayouts/slideLayout1.xml" Id="Reb1aa09f7c314f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1aa09f7c314f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f5ce70c1f94617" /><Relationship Type="http://schemas.openxmlformats.org/officeDocument/2006/relationships/notesSlide" Target="/ppt/notesSlides/notesSlide1.xml" Id="R96ae540378c34d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aa9f0cc0424117" /><Relationship Type="http://schemas.openxmlformats.org/officeDocument/2006/relationships/notesSlide" Target="/ppt/notesSlides/notesSlide2.xml" Id="Rdde9eebdf8c54e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1d45d85aee4bc0" /><Relationship Type="http://schemas.openxmlformats.org/officeDocument/2006/relationships/notesSlide" Target="/ppt/notesSlides/notesSlide3.xml" Id="R6a9cb4a178414a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d76fd7a4b344ec" /><Relationship Type="http://schemas.openxmlformats.org/officeDocument/2006/relationships/notesSlide" Target="/ppt/notesSlides/notesSlide4.xml" Id="R015b152109fd44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d5ee21fa2e409b" /><Relationship Type="http://schemas.openxmlformats.org/officeDocument/2006/relationships/notesSlide" Target="/ppt/notesSlides/notesSlide5.xml" Id="R7bea77c6463244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85142cd1064155" /><Relationship Type="http://schemas.openxmlformats.org/officeDocument/2006/relationships/notesSlide" Target="/ppt/notesSlides/notesSlide6.xml" Id="R23d86c65abbe4e5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c05c5ca1284b49" /><Relationship Type="http://schemas.openxmlformats.org/officeDocument/2006/relationships/notesSlide" Target="/ppt/notesSlides/notesSlide7.xml" Id="R824b826834eb4e4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c849b8b1c6428d" /><Relationship Type="http://schemas.openxmlformats.org/officeDocument/2006/relationships/notesSlide" Target="/ppt/notesSlides/notesSlide8.xml" Id="R8757fc24b3b2497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d2353b4cc74be1" /><Relationship Type="http://schemas.openxmlformats.org/officeDocument/2006/relationships/notesSlide" Target="/ppt/notesSlides/notesSlide9.xml" Id="Rdce72acd7b81477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1335ce18064ebb" /><Relationship Type="http://schemas.openxmlformats.org/officeDocument/2006/relationships/notesSlide" Target="/ppt/notesSlides/notesSlide10.xml" Id="R9e3b126238d242c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bfaf9f702a4374" /><Relationship Type="http://schemas.openxmlformats.org/officeDocument/2006/relationships/notesSlide" Target="/ppt/notesSlides/notesSlide11.xml" Id="R4df1d906da0a4da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57c4b38fee4328" /><Relationship Type="http://schemas.openxmlformats.org/officeDocument/2006/relationships/notesSlide" Target="/ppt/notesSlides/notesSlide12.xml" Id="Rc6cd37c8476b463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6433f2f9714a96" /><Relationship Type="http://schemas.openxmlformats.org/officeDocument/2006/relationships/notesSlide" Target="/ppt/notesSlides/notesSlide13.xml" Id="R2f5f55a9b02845d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993309a6014f12" /><Relationship Type="http://schemas.openxmlformats.org/officeDocument/2006/relationships/notesSlide" Target="/ppt/notesSlides/notesSlide14.xml" Id="R238bc1bbc81947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244BF0-B2D6-4989-904F-FCC3BDBF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45"/>
          </a:solidFill>
          <a:ln xmlns:a="http://schemas.openxmlformats.org/drawingml/2006/main" w="0">
            <a:solidFill>
              <a:srgbClr val="0B1F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CCA99E-BD31-4452-9612-5EE81C2E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67375"/>
            <a:ext cx="12192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75B"/>
          </a:solidFill>
          <a:ln xmlns:a="http://schemas.openxmlformats.org/drawingml/2006/main" w="0">
            <a:solidFill>
              <a:srgbClr val="0927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899276-14FB-4B22-9F9E-220C95AA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19150"/>
            <a:ext cx="2286000" cy="2286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E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122076-A541-4543-94FD-97A0F45E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028700"/>
            <a:ext cx="2057400" cy="2057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EA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5837F1-EDF8-48C0-931A-72CB5D55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38250"/>
            <a:ext cx="1828800" cy="1828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EA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EF6911-4974-427D-8334-D90862AA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447800"/>
            <a:ext cx="1600200" cy="1600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E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12383F-6418-4AC9-94CB-C513C3AA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657350"/>
            <a:ext cx="1371600" cy="1371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EA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D9B661-8B3E-4DF3-B476-3CFC51A7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571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Bhawana LMS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A71CCD-8A89-4A26-8450-3ADD4EBF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E8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7E8FF"/>
                </a:solidFill>
                <a:latin typeface="Aptos"/>
                <a:ea typeface="Aptos"/>
                <a:cs typeface="Aptos"/>
              </a:rPr>
              <a:t>CEO-ready platform overview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191A42-74AC-4388-8FA5-8741ADA7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Architecture, deployment, operating model, security, roadmap, and future challenges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2782F0-D1BE-4431-8433-688CF887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57600"/>
            <a:ext cx="1200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7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7F69EF-AED9-435E-9D96-36893855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Originate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902062-7311-49EE-84FB-E7EB6111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695700"/>
            <a:ext cx="3429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FB6FF"/>
          </a:solidFill>
          <a:ln xmlns:a="http://schemas.openxmlformats.org/drawingml/2006/main" w="0">
            <a:solidFill>
              <a:srgbClr val="6FB6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29DCD8-84E6-4DEF-A5BC-E6A3B69A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657600"/>
            <a:ext cx="1200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7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9E71B9-DDC0-4E3C-8742-D7DD1632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7147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Approve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104396-8887-4E7C-9DD0-DF858860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95700"/>
            <a:ext cx="3429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FB6FF"/>
          </a:solidFill>
          <a:ln xmlns:a="http://schemas.openxmlformats.org/drawingml/2006/main" w="0">
            <a:solidFill>
              <a:srgbClr val="6FB6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DB73C4-29AB-4AF4-8DE8-4AC6375E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657600"/>
            <a:ext cx="1200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7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016B47-22AA-43F4-9491-2E6C7CBA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147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Disburse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16A217-283B-4648-B098-F4525A93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695700"/>
            <a:ext cx="3429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FB6FF"/>
          </a:solidFill>
          <a:ln xmlns:a="http://schemas.openxmlformats.org/drawingml/2006/main" w="0">
            <a:solidFill>
              <a:srgbClr val="6FB6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6D46EF-758C-4DD7-AA0E-E9B993C9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657600"/>
            <a:ext cx="1200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7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73FDAA-2BCD-46F4-8A04-2FE93DAB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7147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Repay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BA291B-8F46-4E62-BB8B-7B2C9F01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95700"/>
            <a:ext cx="3429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FB6FF"/>
          </a:solidFill>
          <a:ln xmlns:a="http://schemas.openxmlformats.org/drawingml/2006/main" w="0">
            <a:solidFill>
              <a:srgbClr val="6FB6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5BFBDE-1261-46B2-B804-6612336A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57600"/>
            <a:ext cx="1200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7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496140-0896-438A-9CE9-20DD95CD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147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Close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F21463-773E-40F3-A14E-BCE2CC82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3143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366F"/>
          </a:solidFill>
          <a:ln xmlns:a="http://schemas.openxmlformats.org/drawingml/2006/main" w="9525">
            <a:solidFill>
              <a:srgbClr val="2D64B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264302-716E-4DCD-A6E9-D1DC7CA0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6FF"/>
          </a:solidFill>
          <a:ln xmlns:a="http://schemas.openxmlformats.org/drawingml/2006/main" w="0">
            <a:solidFill>
              <a:srgbClr val="6FB6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E13DB6-23A5-4D9F-ACED-127BDB59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147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Executive decision frame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FA3FF9-7D52-40A3-98B7-4B94E274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2724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D7E8FF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D7E8FF"/>
                </a:solidFill>
                <a:latin typeface="Aptos"/>
                <a:ea typeface="Aptos"/>
                <a:cs typeface="Aptos"/>
              </a:rPr>
              <a:t>Strong product foundation. Scale readiness and money-path hardening are the gates before live volume.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DD0375-E96B-4CEF-A45C-DC9AE5CE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FCBE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FCBEE"/>
                </a:solidFill>
                <a:latin typeface="Aptos"/>
                <a:ea typeface="Aptos"/>
                <a:cs typeface="Aptos"/>
              </a:rPr>
              <a:t>Prepared from repository architecture, security, roadmap, and graphify sources. As of 2026-06-19.</a:t>
            </a:r>
          </a:p>
        </p:txBody>
      </p:sp>
    </p:spTree>
    <p:extLst>
      <p:ext uri="{BB962C8B-B14F-4D97-AF65-F5344CB8AC3E}">
        <p14:creationId xmlns:p14="http://schemas.microsoft.com/office/powerpoint/2010/main" val="14792319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C1E583-927F-4081-ACCD-46DAD2DC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Executive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700105-52C1-4768-935C-AEAC9089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What leadership needs to know before production scale-up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90400F-8B4C-40CE-AE92-0F9989CA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7ACE2D-94F8-4265-BC35-244274D9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LMS executive platform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515653-3FA6-48C2-B91A-9176A66C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29C6FB-AE42-44D3-A33D-D40BBD82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4384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B50F0A-F823-4428-8E73-7ECB00CD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571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BC659D-7CF7-49DB-B0AC-ED211C11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18060E-0E0D-4A20-9832-C5AF1943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811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76B8F7-E55D-4615-95DF-189F0AFC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764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Platform purpose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4B4B6E-CD5B-43FA-A10B-1CC42C00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3600"/>
            <a:ext cx="2019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Multi-tenant lending platform where LSP partners originate by API and internal teams control the loan lifecycle.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4BF66B-1FA4-4AA3-A1B9-9F033CAA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504950"/>
            <a:ext cx="24384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132B51-F03C-4B5A-BDEA-DC6D5ED5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504950"/>
            <a:ext cx="571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B8"/>
          </a:solidFill>
          <a:ln xmlns:a="http://schemas.openxmlformats.org/drawingml/2006/main" w="0">
            <a:solidFill>
              <a:srgbClr val="16A3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D38A24-619F-48E2-A201-F43858E6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695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A3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7AA637-FE1A-4FF5-862B-B329D955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7811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A3B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231BEB-4D4D-463B-9E86-B52916E5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764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Current shape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33DE13-35F1-48DF-ADAB-BB683B80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133600"/>
            <a:ext cx="2019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Spring Boot modular monolith, React portal, PostgreSQL, Redis, S3 storage, webhooks, and async reporting.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3B8417-AFBA-4E48-9423-178A71C6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04950"/>
            <a:ext cx="24384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8B546D-8C9B-40B6-8B01-DF961818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04950"/>
            <a:ext cx="571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B41AE1-EF2C-4C16-8C25-1F48898C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95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8088D0-1245-4C3C-9F87-6B67B4D0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811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100035-0760-42E4-9FE0-84EC3E26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6764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Scale target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1A7CC3-BF01-4727-814D-771EE45F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33600"/>
            <a:ext cx="2019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~100K loans/day, 1M+/month, and 10+ LSP tenants. Current high-volume readiness is about 32%.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039172-5D50-44D0-A9EE-3943E3B8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04950"/>
            <a:ext cx="24384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BE2841-7CFA-4E3D-937C-4EA7DFDB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04950"/>
            <a:ext cx="571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D92D2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636BC3-52B1-4F97-92F0-61ACCD6E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95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92D2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524E78-E64D-4E0C-AAC0-6E8A4BC4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811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92D2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92D2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7797DC-8587-4805-8271-BE36A3C8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6764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Go-live posture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0BECC0-0D15-44C4-811B-F383C62C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33600"/>
            <a:ext cx="2019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Product flows exist, but real-bank volume needs money-path safety, observability, and performance isolation first.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E03114-0B96-4A75-BE15-3D1D11BB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57600"/>
            <a:ext cx="44196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19FB85-9AAA-4917-B560-AE93A08D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57600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7C1070-81BD-4EDB-BE1D-65EF6619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29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CEO-level takeaway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F83B1B-6CC5-4DCB-B9ED-839B38F3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52900"/>
            <a:ext cx="400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This is not a rebuild. It is a gated hardening program: protect funds movement, prove operations, then ramp partners.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470E4F-B2CD-4677-958F-7AEEFB99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57600"/>
            <a:ext cx="44196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57F80C-D50C-45B4-B5BF-2367779E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57600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D28D56-31E6-43A8-A731-EEE80F54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29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Recommended decision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C4D171F-D7ED-4292-BBE7-4A15BE11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52900"/>
            <a:ext cx="400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Endorse P0 as the hard gate before live volume and confirm cloud/region plus recovery targets.</a:t>
            </a:r>
          </a:p>
        </p:txBody>
      </p:sp>
    </p:spTree>
    <p:extLst>
      <p:ext uri="{BB962C8B-B14F-4D97-AF65-F5344CB8AC3E}">
        <p14:creationId xmlns:p14="http://schemas.microsoft.com/office/powerpoint/2010/main" val="7919592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132FC9-9B3E-4441-9DC6-E310BE67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Architecture Diagram: Platform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04A5A9-3E6B-4E7D-93CE-098AAA5C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Infrastructure, data flow, integrations, and reporting in one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526FE7-45FA-47A4-8F05-4405AFB9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79EDC1-F371-4FD9-84CC-8A79A754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LMS executive platform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E2097E-A798-4545-9141-CB2E62D9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8EC426-3E97-452A-81C1-213769A1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18478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A9F9F4-E14B-4862-9B45-8D26768F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64D1CD-510F-4865-B0BE-A9929D07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06C1A9-73EE-477E-AADB-C1F98668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0C173E-D331-4A75-930F-6D46C147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4785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Users and partners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948271-EA41-4E41-B1F2-2529E01E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Ops/Admin portal</a:t>
            </a:r>
          </a:p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LSP staff</a:t>
            </a:r>
          </a:p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LSP machine clients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D4E0EC-679B-4CF9-B54C-FEE3DF92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43050"/>
            <a:ext cx="19621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0C8454-ABFF-4420-AFFC-68E5E6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4305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45"/>
          </a:solidFill>
          <a:ln xmlns:a="http://schemas.openxmlformats.org/drawingml/2006/main" w="0">
            <a:solidFill>
              <a:srgbClr val="0B1F4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3CC484-E945-42D2-8188-5C62175C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3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0B1F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AB144E-513E-4CB4-83E8-2723FF96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192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4C14B1-87CE-4DF8-AA29-79094560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7145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API tier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A60DC7-4E9E-48CD-9265-B87BA5F7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71700"/>
            <a:ext cx="154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Stateless Spring Boot</a:t>
            </a:r>
          </a:p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Auth, RBAC, APIs</a:t>
            </a:r>
          </a:p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Lifecycle commands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542F76-6707-4E60-B264-4AC68288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71900"/>
            <a:ext cx="19621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218808-ECEA-411B-9D81-B193AF8D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7190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B8"/>
          </a:solidFill>
          <a:ln xmlns:a="http://schemas.openxmlformats.org/drawingml/2006/main" w="0">
            <a:solidFill>
              <a:srgbClr val="16A3B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07FDBD-6515-4383-9F35-7EE7F6C7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62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A3B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32D561-32DF-42DD-8846-DEFF0FE5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481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A3B8"/>
                </a:solidFill>
                <a:latin typeface="Aptos"/>
                <a:ea typeface="Aptos"/>
                <a:cs typeface="Aptos"/>
              </a:rPr>
              <a:t>WK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45830B-B635-4B57-BBB3-44BA9D6C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943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Worker tier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6DBB51-4303-48D6-AFD0-25DE9B49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400550"/>
            <a:ext cx="1543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Disbursement</a:t>
            </a:r>
          </a:p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Webhooks</a:t>
            </a:r>
          </a:p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Reports and alerts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6AC5E4-84AD-4DD1-B8E4-2D96A580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600200"/>
            <a:ext cx="2095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723800-B687-46C6-9916-060A595B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6002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5234D8-2601-4130-88D4-42F38F89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90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AD211B-040E-4E7D-9785-E1035872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764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DB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A7A0D9-26C5-4B53-A30C-48A7A924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716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1CCDCB-2E76-4BEB-96EF-6F96FBC3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28850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System of record</a:t>
            </a:r>
          </a:p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Row-level security</a:t>
            </a:r>
          </a:p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DB-table queues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44D59B-11B1-49D2-9561-80E75D34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181350"/>
            <a:ext cx="2095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8749AF-0E81-483A-916D-6903C191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181350"/>
            <a:ext cx="57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B194DC-7B33-4A35-9E3E-6A8C93AC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71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0527EA-9A7D-4029-9427-5E603AAD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575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RL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A01141-7F2E-44DD-B804-EEE47A69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528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Redis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7C48D7-9B9D-4A26-BC74-98C2CC92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810000"/>
            <a:ext cx="1676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Rate-limit buckets only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423D00-7746-4DA0-A50C-9C645902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00550"/>
            <a:ext cx="2095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B8D159-E4B2-4EA4-8E20-A96A7C1E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00550"/>
            <a:ext cx="57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B8"/>
          </a:solidFill>
          <a:ln xmlns:a="http://schemas.openxmlformats.org/drawingml/2006/main" w="0">
            <a:solidFill>
              <a:srgbClr val="16A3B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C0E052-41C0-4397-A995-82E02EC0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91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A3B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B0E5654-C9E6-4623-92D0-A9007592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6767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A3B8"/>
                </a:solidFill>
                <a:latin typeface="Aptos"/>
                <a:ea typeface="Aptos"/>
                <a:cs typeface="Aptos"/>
              </a:rPr>
              <a:t>S3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303C697-5C8B-4C8F-BF19-C9DDE6E2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720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Object storage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4631107-E37E-4D13-80D1-B4E12B56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029200"/>
            <a:ext cx="1676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Documents and report files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4C6FF23-45B6-400B-8589-B908DA7E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62100"/>
            <a:ext cx="2095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13CBC37-60F3-4B42-B7F4-A548726F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621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D92D2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F23509D-5E9F-4D48-9D0E-2E49B2C2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752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92D2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429709A-3117-4ABE-937F-5270D458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8383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92D2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92D20"/>
                </a:solidFill>
                <a:latin typeface="Aptos"/>
                <a:ea typeface="Aptos"/>
                <a:cs typeface="Aptos"/>
              </a:rPr>
              <a:t>BNK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0B8A865-068A-4DA6-9930-DE4E5D2E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7335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Bank adapter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80C6CFF-C50B-4394-9C2E-E2528066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90750"/>
            <a:ext cx="1676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ICICI target; mock today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9428910-9523-4E9B-BE95-991603AF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95600"/>
            <a:ext cx="2095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E96D462-BA72-4C00-A94A-6C678EAC8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956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C72E855-1F25-474F-A6B4-DE0FEC6E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086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AF9BC9C-1AB7-4A3B-99FD-3EC5C6BA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1718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WH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729CDE1-AAAB-4D62-A076-A6EB3279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670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Signed webhooks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3194E5E-DA0B-4E65-9462-3E82325A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24250"/>
            <a:ext cx="1676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Lifecycle events to LSPs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30F8F14-53A2-4215-8626-894D4979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29100"/>
            <a:ext cx="2095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EAD2988-966E-4B6A-8D15-9473F973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291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B3D2869-4819-4A96-89A6-830A3E9E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419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3E8A658-50A2-4348-A915-47E045C8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5053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EM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A320CD8-D2E7-417B-8EF2-818ECE66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4005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SMTP email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90CDCD7-4595-4F2F-9A3E-1A769714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857750"/>
            <a:ext cx="1676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Report-ready notifications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29D7B22-D925-4816-BD12-B6E32E25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76450"/>
            <a:ext cx="4191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4788CEB-63D2-46B7-8DD0-010BC278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95500"/>
            <a:ext cx="4191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A3F0B1B-2725-4596-829E-AC2FEEBA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17195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3B8"/>
          </a:solidFill>
          <a:ln xmlns:a="http://schemas.openxmlformats.org/drawingml/2006/main" w="0">
            <a:solidFill>
              <a:srgbClr val="16A3B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EF5EB68-BD8D-4F39-A248-600589E4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24050"/>
            <a:ext cx="4191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D92D2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9364F45-39F9-4127-A91D-223C10CB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57550"/>
            <a:ext cx="4191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6B46C1C-73A7-4874-9185-203F9880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91050"/>
            <a:ext cx="4191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0E85AE7-E541-412F-B71A-55291867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9055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Tenant isolation, audit, rate limits, and correlation IDs run across every tier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2F88F31-601E-4739-ABCE-76A57066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24200"/>
            <a:ext cx="1485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AED2D8F-5C41-4F9D-8C50-85B89006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API-only origination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9D415F6-5C84-4CC0-AE4B-D8C393C3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467350"/>
            <a:ext cx="1581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AFC"/>
          </a:solidFill>
          <a:ln xmlns:a="http://schemas.openxmlformats.org/drawingml/2006/main" w="9525">
            <a:solidFill>
              <a:srgbClr val="16A3B8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F3B1D96-6618-40EC-BB32-0F56D05B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524500"/>
            <a:ext cx="1390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6A3B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A3B8"/>
                </a:solidFill>
                <a:latin typeface="Aptos"/>
                <a:ea typeface="Aptos"/>
                <a:cs typeface="Aptos"/>
              </a:rPr>
              <a:t>Async MIS reporting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AB307DD-39A3-4AD7-96A6-D7171DBE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467350"/>
            <a:ext cx="1638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3C470AD-0BD3-449B-92D1-ED940260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524500"/>
            <a:ext cx="1447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Outbound integrations</a:t>
            </a:r>
          </a:p>
        </p:txBody>
      </p:sp>
    </p:spTree>
    <p:extLst>
      <p:ext uri="{BB962C8B-B14F-4D97-AF65-F5344CB8AC3E}">
        <p14:creationId xmlns:p14="http://schemas.microsoft.com/office/powerpoint/2010/main" val="11191732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F52193-07FB-4CD3-83B8-86303EAC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Business and Data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ECAAD9-85DB-461D-B508-2501D942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Simple business language for how a loan and a report move through the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9EE74A-722F-4F7E-8D8E-BEC62826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C76A0A-9913-41BC-977C-4C56DE46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LMS executive platform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726DB6-4010-4CBA-9157-616332DB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A756EA-3C00-472F-BDE9-1A8B9023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5621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77B3D0-97E3-4C50-9B00-92207259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571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11ED6D-51E2-47F9-983B-F3F86D53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BD04E4-F42C-4473-96B0-BDBB15F4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954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6DA6C6-536D-4F37-9DDE-D08FF69D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907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LSP submits loan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814C5F-A182-47D0-A3C0-FAB50E5F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114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REST API + JWT</a:t>
            </a:r>
          </a:p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Idempotency where needed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B912E5-CA54-44B6-9CEF-71C2417D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20980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27741D-A22B-40D8-93C5-1206E47A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619250"/>
            <a:ext cx="15621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08B120-B36E-4B96-B7EE-2D5CDA9F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619250"/>
            <a:ext cx="571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45"/>
          </a:solidFill>
          <a:ln xmlns:a="http://schemas.openxmlformats.org/drawingml/2006/main" w="0">
            <a:solidFill>
              <a:srgbClr val="0B1F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65B9CB-FBFA-4FF7-B908-9AC94123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09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0B1F4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479855-3A03-476B-91F3-0F7D4D4A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954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6D79D7-091E-4A3C-9BF3-97E30B41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907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Security checks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0E367A-8909-4DC3-BBE7-B0C7F42B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247900"/>
            <a:ext cx="114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Tenant scope</a:t>
            </a:r>
          </a:p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RBAC + rate limits</a:t>
            </a:r>
          </a:p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IP allowlist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F38F71-333D-415A-88BA-AB530FCE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0980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1F45"/>
          </a:solidFill>
          <a:ln xmlns:a="http://schemas.openxmlformats.org/drawingml/2006/main" w="0">
            <a:solidFill>
              <a:srgbClr val="0B1F4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0D636C-D765-4D94-9CB5-2E79C24B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19250"/>
            <a:ext cx="15621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550644-770D-404E-85C7-B8B6272B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19250"/>
            <a:ext cx="571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B8"/>
          </a:solidFill>
          <a:ln xmlns:a="http://schemas.openxmlformats.org/drawingml/2006/main" w="0">
            <a:solidFill>
              <a:srgbClr val="16A3B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65B702-0F4B-4DBB-B7CF-9E80126D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809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A3B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E3B40C-C0CB-4074-B663-14B83F9B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8954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A3B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414A98-1016-4479-BC58-26831C30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7907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Loan lifecycle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6ECD5D-C9D9-4D66-81FC-3A37C178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47900"/>
            <a:ext cx="114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Borrower dedupe</a:t>
            </a:r>
          </a:p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One-open-loan rule</a:t>
            </a:r>
          </a:p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Status history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EB182B-BC31-433E-92D6-8E524E81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0980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3B8"/>
          </a:solidFill>
          <a:ln xmlns:a="http://schemas.openxmlformats.org/drawingml/2006/main" w="0">
            <a:solidFill>
              <a:srgbClr val="16A3B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29D4E6-467E-49AC-88D0-249E649D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619250"/>
            <a:ext cx="15621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0A1C5A-F8A7-4FBD-A2B0-0DD99836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619250"/>
            <a:ext cx="571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471D1B-1921-4DEE-A290-78555E45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09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D59F69-DD18-48EB-8D6C-5953B843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954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540AF7-FD9C-47CB-BC26-D9F93637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907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Worker processes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F5DF6A-0762-4970-8AB0-D0FAE8A4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47900"/>
            <a:ext cx="114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Disbursement</a:t>
            </a:r>
          </a:p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Reports</a:t>
            </a:r>
          </a:p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Alerts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604E10-0A76-4C36-BBFE-C638F5F8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0980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AF318D-57F6-4413-B5DC-73B41248A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19250"/>
            <a:ext cx="15621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3E4660-2947-4A95-8297-E9BFE3A7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19250"/>
            <a:ext cx="571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7999A6-A23E-46F9-AD81-65235354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09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20D8E9E-32C5-44D3-9497-959E07FA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954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F1E4E74-1960-42A1-9108-5EFA4E7F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7907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LSP notified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8742764-C69D-4EFA-93A4-FE5CC2F9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47900"/>
            <a:ext cx="114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Signed webhook</a:t>
            </a:r>
          </a:p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Email where useful</a:t>
            </a:r>
          </a:p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Audit trail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7A967E4-0C7B-47D9-B3EB-C3AF98E5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Loan journey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E9343B4-C089-40C1-805B-344F9ABF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Reporting journey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A842461-F7DB-42B8-BD4D-2E2F99EE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5621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82ECDA9-9B96-466D-B2D4-672CCE92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571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72FF357-2549-4C7A-8D73-2132D3D2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33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BCAB8FA-7AA2-41F1-9F16-65AD12D0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95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1B9420D-26A8-46C0-BDDC-853991D1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148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Ops requests MIS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1408257-0047-4A8C-BE4C-1EF4768C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Filters and date range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4EEE657-BEC1-4172-9754-3BEE4ED5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4767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7C134A7-4D20-4ACD-A60E-26622C1A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943350"/>
            <a:ext cx="15621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F56090E-FE1F-4D15-9692-88A679DA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943350"/>
            <a:ext cx="571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B8"/>
          </a:solidFill>
          <a:ln xmlns:a="http://schemas.openxmlformats.org/drawingml/2006/main" w="0">
            <a:solidFill>
              <a:srgbClr val="16A3B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B8F922C-746A-485E-860B-11A25673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33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A3B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2E860AC-43C3-4A59-BE61-CC926577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195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A3B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27D94AF-62D8-4C02-A3D2-581CF18C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148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Queue row created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A12A7E2-8CA2-4212-880D-BCB58618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57200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PostgreSQL queue</a:t>
            </a:r>
          </a:p>
          <a:p xmlns:a="http://schemas.openxmlformats.org/drawingml/2006/main">
            <a:pPr algn="l">
              <a:defRPr sz="9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Claim-safe target state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B011CB6-AB11-42EE-A854-7B221033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767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3B8"/>
          </a:solidFill>
          <a:ln xmlns:a="http://schemas.openxmlformats.org/drawingml/2006/main" w="0">
            <a:solidFill>
              <a:srgbClr val="16A3B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4F841E2-E2D2-4C88-8BB7-2B5A0FC3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943350"/>
            <a:ext cx="15621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AE9E845-69A6-488B-A651-C5F155A15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943350"/>
            <a:ext cx="571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29EBBFF-4F84-4015-AEE6-2C499B4E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133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E013DF2-91C1-471E-AB90-80578374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2195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C2F3134-AF85-4B09-B8F4-C6C081C0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1148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Worker generates CSV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C2B6C58-3EA4-4D3C-A11F-C76BFF88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57200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Portfolio data</a:t>
            </a:r>
          </a:p>
          <a:p xmlns:a="http://schemas.openxmlformats.org/drawingml/2006/main">
            <a:pPr algn="l">
              <a:defRPr sz="9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CSV first, XLSX later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2B828E9-673E-4B57-BE29-C18FD5C2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767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6E30AD8-7600-4BBF-8FCD-578AD5EE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943350"/>
            <a:ext cx="15621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046494C-EBCA-4686-9F60-6EB25A2F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943350"/>
            <a:ext cx="571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45"/>
          </a:solidFill>
          <a:ln xmlns:a="http://schemas.openxmlformats.org/drawingml/2006/main" w="0">
            <a:solidFill>
              <a:srgbClr val="0B1F4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FDFA305-E9F4-415F-9148-9753537F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33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0B1F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3B9C11C-15CE-4DAC-A4D1-16EAF914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2195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BB24815-19DB-4F2C-9C42-1A2980A7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1148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Stored securely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07729B7-0040-4613-9E18-31D21760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57200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S3-compatible storage</a:t>
            </a:r>
          </a:p>
          <a:p xmlns:a="http://schemas.openxmlformats.org/drawingml/2006/main">
            <a:pPr algn="l">
              <a:defRPr sz="9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Presigned URL target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5B1ED31-EA8E-4BF8-B881-C521950C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767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1F45"/>
          </a:solidFill>
          <a:ln xmlns:a="http://schemas.openxmlformats.org/drawingml/2006/main" w="0">
            <a:solidFill>
              <a:srgbClr val="0B1F4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141A45D-F6D3-4720-A4BC-88391266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43350"/>
            <a:ext cx="15621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483D1BC-3551-4218-98D6-D8FA456B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43350"/>
            <a:ext cx="571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46A5662-EDB1-4D25-AAF7-1A91121A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133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1224392-45D5-4D5A-B305-D8DB684B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195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18D2419-2909-43E8-91D0-3C23B50D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1148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Requester notified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CEC7073-45F1-4DB1-8D21-81A649E8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7200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Email + report history</a:t>
            </a:r>
          </a:p>
          <a:p xmlns:a="http://schemas.openxmlformats.org/drawingml/2006/main">
            <a:pPr algn="l">
              <a:defRPr sz="9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Download audit</a:t>
            </a:r>
          </a:p>
        </p:txBody>
      </p:sp>
    </p:spTree>
    <p:extLst>
      <p:ext uri="{BB962C8B-B14F-4D97-AF65-F5344CB8AC3E}">
        <p14:creationId xmlns:p14="http://schemas.microsoft.com/office/powerpoint/2010/main" val="10258960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5967CB-4DF1-447E-BC37-D0D51417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Technology Stack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45211A-2E2A-4672-8DBC-ED7B8894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Mainstream, hireable technologies with cloud-agnostic interfaces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2AFC96-DC07-4FC7-A79B-2E6F1AC3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B9384A-4D89-4F8B-A996-5104F7CB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LMS executive platform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FAAABC-7B23-4207-B36C-6B4A8F3D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F31D05-55D4-4B92-80FB-8FFD7769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495300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E4481B-4827-474C-A0CB-A1B52CC2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764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BE5730-C2BB-45DA-9A39-6E0C2421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666875"/>
            <a:ext cx="3105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Java 21, Spring Boot 3.5, Spring Security, JPA, Flyway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91FB66-5D35-431C-BB76-7A462304D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495300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F13E48-D010-4EA7-A216-C1CA7979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193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DFBB01-F559-4969-9CA5-2C164BAC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09825"/>
            <a:ext cx="3105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React 19, Vite, TypeScript, Tailwind, shadcn/Radix, Recharts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5B189A-2297-47E8-B91E-0A229F2F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495300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CC3399-C838-40EC-9F4D-DD22AB58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623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55B1EA-86FA-471C-B1D8-D82B98C9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52775"/>
            <a:ext cx="3105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PostgreSQL, Row-Level Security, Redis, S3-compatible storage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13CC24-A9AE-4325-A411-7779D781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495300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226FBD-9170-4801-ACD1-5DFFA803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052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Integrations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9E3DB2-D0CF-4F18-BA73-75E5A9AB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895725"/>
            <a:ext cx="3105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REST + JWT, OpenAPI generated types, HMAC webhooks, SMTP, bank adapter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345AB6-FB26-488C-94E5-E833C0AF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495300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2D0E3B-A7D9-4C22-9E0D-53293B23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482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Testing and CI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C0ACD5-8AEC-4F7B-B9E4-FF571FD3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638675"/>
            <a:ext cx="3105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JUnit, Testcontainers, ArchUnit, Vitest, Playwright, GitHub Actions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F8CD6D-DE97-46A5-AD08-225F3D9D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04950"/>
            <a:ext cx="20955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C928BB-5BA2-46D1-8541-7CA56A7C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04950"/>
            <a:ext cx="571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D92D2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CCE40E-7067-4FAA-88CE-07547009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695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92D2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EAA1C6-DBA0-4A4B-86F0-CA11C575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7811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92D2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92D20"/>
                </a:solidFill>
                <a:latin typeface="Aptos"/>
                <a:ea typeface="Aptos"/>
                <a:cs typeface="Aptos"/>
              </a:rPr>
              <a:t>P0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C96AB7-27DB-4395-B9C5-E13EEC4A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6764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At-scale add-on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E1B758-058F-4EF7-ABF5-D814A3BA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33600"/>
            <a:ext cx="1676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Transaction-mode DB pooler. Mandatory because database connections bind before CPU.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D6FE5B-9BAE-4692-9C12-45D248FE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04950"/>
            <a:ext cx="20955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1360B2-F8F6-432F-AE10-52EF89B4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04950"/>
            <a:ext cx="571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B97C34-7744-4C01-879A-9456478F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95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EC0860-F648-411A-91AA-CEC20214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811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OPS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27C4DE-E980-4F3C-ADC3-35D0C2E8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6764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At-scale add-on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57E8F3-F9EB-4AFC-B2F9-9A95D8DD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33600"/>
            <a:ext cx="1676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Prometheus, Grafana, structured logs, and alert fan-out for production operations.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AB96AA-CB40-4DDA-AC82-D9F35A99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38500"/>
            <a:ext cx="20955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7A0552-AC98-42E4-871C-CA0175DC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38500"/>
            <a:ext cx="571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B8"/>
          </a:solidFill>
          <a:ln xmlns:a="http://schemas.openxmlformats.org/drawingml/2006/main" w="0">
            <a:solidFill>
              <a:srgbClr val="16A3B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3BF37D1-DE28-490A-A5EF-020A85E3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29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A3B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98E86D-355E-4637-801F-771AF145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147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A3B8"/>
                </a:solidFill>
                <a:latin typeface="Aptos"/>
                <a:ea typeface="Aptos"/>
                <a:cs typeface="Aptos"/>
              </a:rPr>
              <a:t>DB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42DD6E-1B96-4C18-8038-FB7EFB6A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4099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At-scale add-on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DBF8AF-949D-42C5-BDEA-D68B4C96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67150"/>
            <a:ext cx="1676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Partitioning and retention for audit, idempotency, webhook, and payment growth.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D1C81B6-915F-4AFB-B6F7-9D5E0EBE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0"/>
            <a:ext cx="20955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DDB424C-BFE3-4F77-A6D7-2B7EB83F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0"/>
            <a:ext cx="571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56488CE-6840-4211-9E42-F691084D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29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FF931B-DC0B-4817-83C6-79967EA8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147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SEC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A3F341F-65B9-4C37-8A89-69F851E4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4099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At-scale add-on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5F9D0BC-D6A0-4308-85BD-72D485F6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867150"/>
            <a:ext cx="1676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Image scanning, upload AV, and dependency/SAST checks in the pipeline.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EC2231F-CAC9-432B-93CF-FA1B2638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149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45"/>
                </a:solidFill>
                <a:latin typeface="Aptos"/>
                <a:ea typeface="Aptos"/>
                <a:cs typeface="Aptos"/>
              </a:rPr>
              <a:t>Design principle: the app depends on portable protocols: Kubernetes, PostgreSQL, Redis, S3 API, SMTP, Prometheus, and 12-factor configuration.</a:t>
            </a:r>
          </a:p>
        </p:txBody>
      </p:sp>
    </p:spTree>
    <p:extLst>
      <p:ext uri="{BB962C8B-B14F-4D97-AF65-F5344CB8AC3E}">
        <p14:creationId xmlns:p14="http://schemas.microsoft.com/office/powerpoint/2010/main" val="5920931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D5CE61-A2FE-495C-91B5-AB0DA5B1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Deployment Procedure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029F04-7D02-4E77-AAFA-83A89371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Controlled promotion from local development to production ramp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88A3F4-95B4-42ED-B10B-4A85ABA7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71B6D7-D4C2-455A-A016-DFFEA3AB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LMS executive platform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416EA0-176E-486D-A3D3-3A157042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60EDD9-E1C2-422A-9880-6D874980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28800"/>
            <a:ext cx="219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1154FD-F70B-4835-83E2-EBF62530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2880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7F0663-9497-4AD9-B529-B8AE22E7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319EAF-05C3-4EFF-8ED1-58076E40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050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F37203-6B46-4251-8EDD-878A1556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002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DEV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683B5B-052C-4AFC-99F5-6EF81EC7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57450"/>
            <a:ext cx="1771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Local full stack</a:t>
            </a:r>
          </a:p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Fast engineer feedback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C09AE2-E113-40E2-9D8B-863531CD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76500"/>
            <a:ext cx="4191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23E42A-1C8E-47D5-9086-31883708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28800"/>
            <a:ext cx="219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066149-8F87-49D0-A571-04B5DF23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2880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B8"/>
          </a:solidFill>
          <a:ln xmlns:a="http://schemas.openxmlformats.org/drawingml/2006/main" w="0">
            <a:solidFill>
              <a:srgbClr val="16A3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D2DA40-5D01-48C2-A1FA-4C9CD8AD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19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A3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DB5825-018D-4FC4-BD40-1A5574C5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050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A3B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BECE40-7EB4-4FBA-BE85-A3F71048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002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TEST / UAT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D40689-2805-4BA8-9FA6-12919618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57450"/>
            <a:ext cx="1771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Ops and partner validation</a:t>
            </a:r>
          </a:p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Business acceptance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94A8B9-4789-4A36-9DF3-F4E26645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76500"/>
            <a:ext cx="4191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3B8"/>
          </a:solidFill>
          <a:ln xmlns:a="http://schemas.openxmlformats.org/drawingml/2006/main" w="0">
            <a:solidFill>
              <a:srgbClr val="16A3B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BA10E1-8C94-4D17-9C9B-6956DD55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28800"/>
            <a:ext cx="219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139FF6-0430-46C7-920C-A87AA004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2880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594982-B770-4A24-A709-9D3689DE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19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DD8815-D113-4378-86EC-C3A340D4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050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E1EFB1-1CF0-4D36-AA56-DBC8A2E2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002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STAGING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171F95-034E-4E54-9570-6FBB5E6B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57450"/>
            <a:ext cx="1771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Prod-shaped topology</a:t>
            </a:r>
          </a:p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Load and noisy-neighbor tests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181B21-03DA-4790-B042-DD4AC2E8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76500"/>
            <a:ext cx="4191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FB0A74-CC0D-49E4-8D81-1F3B8750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28800"/>
            <a:ext cx="219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2719B2-E0A4-4CF2-94C2-F410727D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2880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F2C470-1BBD-4342-A54F-3CDA890B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19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AE17D5-48A3-4AA4-A045-FC63AD94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050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B2E4B4-0976-49C7-8162-CE852B67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002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PRODUCTION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85C4E2-F3A1-4D09-8A97-D5684231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57450"/>
            <a:ext cx="1771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Multi-AZ, autoscaled</a:t>
            </a:r>
          </a:p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Controlled volume ramp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7155BA-E3A5-458B-B506-EC6C3FB7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3385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F590C1-0AE9-4EA2-B380-E357138F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3385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E7F192-404F-4840-BD2E-A8B16D69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Gate 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15AB1D-7377-4440-AED3-1C121DD2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2915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Green CI: tests, lint, typecheck, build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0E6F280-CB9D-447C-8007-BBD119A8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13385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320A8D-2B2C-4E5D-9445-913F040E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13385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B8"/>
          </a:solidFill>
          <a:ln xmlns:a="http://schemas.openxmlformats.org/drawingml/2006/main" w="0">
            <a:solidFill>
              <a:srgbClr val="16A3B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D5EE65-7E5C-451E-AA83-866D5CD3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30530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Gate 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6E30F7-EA26-409C-9635-67076B91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62915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UAT sign-off with at least one LSP flow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0921DD8-39D7-4E8B-8C52-3FF646FD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3385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6B2C872-AD78-49E2-9E02-6DAE84DAE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3385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7411D0E-1610-4909-A74E-64F03662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0530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Gate 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D0E4216-F36A-41A2-ABD8-B46599AD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2915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Performance matrix and staging validation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44ED43A-72C8-454E-A72E-EE7F3B6B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3385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8C15E1B-3767-4340-ACB6-7EBE4F4E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3385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D92D2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5AC6421-85DD-44A6-8E6C-3F47717E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30530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Gate 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993E7A0-5ACC-4BE9-94AF-24B65885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2915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P0 hardening cleared before live volume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0876DAD-9B99-40B6-AFB8-D731402D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292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1F45"/>
                </a:solidFill>
                <a:latin typeface="Aptos"/>
                <a:ea typeface="Aptos"/>
                <a:cs typeface="Aptos"/>
              </a:rPr>
              <a:t>Database migrations run as a pre-deploy Flyway job using expand -&gt; migrate -&gt; contract so rolling deploys remain compatible.</a:t>
            </a:r>
          </a:p>
        </p:txBody>
      </p:sp>
    </p:spTree>
    <p:extLst>
      <p:ext uri="{BB962C8B-B14F-4D97-AF65-F5344CB8AC3E}">
        <p14:creationId xmlns:p14="http://schemas.microsoft.com/office/powerpoint/2010/main" val="10501909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77BFBB-6E6A-4A01-9EAB-8ED199BF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CI/CD Pipeline and Release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FA51AE-63C9-4240-B71A-97DAF0E0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Every production change should be tested, traceable, reversible, and observable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798C39-4B74-47C1-9762-7680D892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F2C42B-EBD2-4137-ACC4-F96F1508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LMS executive platform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848ED2-8956-49B2-8C8B-82973CED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D2B66A-EB45-4534-8743-D81F8714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600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03D14A-D236-4A5A-8538-46297184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45"/>
          </a:solidFill>
          <a:ln xmlns:a="http://schemas.openxmlformats.org/drawingml/2006/main" w="0">
            <a:solidFill>
              <a:srgbClr val="0B1F4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DCF86C-4DAB-4842-A6BF-C9BE7AE4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0B1F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803A61-32AA-4B2C-AAB7-0F4328A5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907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ECBA57-0E1C-407B-810C-6A93D173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859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PR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46D4AC-19E7-421D-B951-4C3DA7C4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Peer 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CF4D08-7C1C-4413-877A-A0220276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15265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1F45"/>
          </a:solidFill>
          <a:ln xmlns:a="http://schemas.openxmlformats.org/drawingml/2006/main" w="0">
            <a:solidFill>
              <a:srgbClr val="0B1F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1638F9-482A-44C0-ADBA-1637C0B4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14500"/>
            <a:ext cx="1600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79EB64-CEC0-4D35-A7CE-B9312C10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145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D744A7-B5C3-4AE5-A470-FBB76A57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905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F9E6CC-BFB3-4706-A376-2D55F10F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9907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C09551-C5FB-4412-9192-EC1F47B8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859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CI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11B8C2-71C1-4148-82B7-C6CBB450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431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Tests, lint, contract, scans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02B316-DF35-491C-ADCC-52EC6B4E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5265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69F68B-BDD7-4425-AE30-942DA376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14500"/>
            <a:ext cx="1600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3394EA-559E-4D66-B283-05373F1C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145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B8"/>
          </a:solidFill>
          <a:ln xmlns:a="http://schemas.openxmlformats.org/drawingml/2006/main" w="0">
            <a:solidFill>
              <a:srgbClr val="16A3B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8767E5-5F5C-471F-928A-05800784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05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A3B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D4A843-13DE-4828-870B-52F2B59B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907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A3B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05B6E-527D-4A90-8C4D-8AC81FC28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859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2A6655-99C7-42B4-8D79-FE61E394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431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Container image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F92556-E6EF-4EDC-BB11-FF50C57F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3B8"/>
          </a:solidFill>
          <a:ln xmlns:a="http://schemas.openxmlformats.org/drawingml/2006/main" w="0">
            <a:solidFill>
              <a:srgbClr val="16A3B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F1175C-087F-4F5A-ABD8-1A070B69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14500"/>
            <a:ext cx="1600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14EBF3-FE28-43CB-9C3B-9364AEB6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145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2F6D91-C02E-4ED6-81AA-2D9CD1C8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05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7D954B-8016-4822-8643-438D8F4B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907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8F2839-CF3C-44A4-8E6C-324289F9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859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Staging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95B262-9263-4AE4-8C74-C5B38B53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431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Deploy and validate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1818F8-DB02-430F-8662-D90C4423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5265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FAC778-7818-44DD-B519-D133E514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14500"/>
            <a:ext cx="1600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AB5EE6-D2BF-46B2-B4F3-F166D0FE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145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D92D2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D1DC34-8747-4EC5-80CA-561E5A99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05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92D2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1D00BCB-400A-4E0C-B385-61E44068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907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92D2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92D20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5477F6E-5F35-49DA-85BA-3CACD1AD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8859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Approval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B38C7C-FB89-4DDF-BD6C-78D5707F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431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DevOps + risk gate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797A0BD-2A44-44EF-AF25-303FFE54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15265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D92D2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4DE957F-646F-4252-A5A4-4A0CB986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714500"/>
            <a:ext cx="1600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60529E-F16E-4E68-92E5-785B5022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7145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0685D64-3100-4195-BA07-F94A531F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905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BE85209-973A-4861-B7F6-4CE8890E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9907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3091670-F3B7-46DC-814D-6198A402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885950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Prod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61313A1-8FFE-4D90-A84E-1A817AD0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3431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Rolling deploy or flag flip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1CA2454-8536-4CCA-B540-D6CD9B90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2952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377DBD8-4CF3-4F87-A77B-A52D0F60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45"/>
          </a:solidFill>
          <a:ln xmlns:a="http://schemas.openxmlformats.org/drawingml/2006/main" w="0">
            <a:solidFill>
              <a:srgbClr val="0B1F4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ADB3BBF-05DC-4BEA-BD85-BEFCD26C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71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0B1F4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53B95DA-15C6-4D48-BF40-D571144B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576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GOV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A6B8D67-CE38-4790-AA35-F2467F37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7528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Controls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0FB235D-6D50-47DB-9B4E-CAB6B21A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0050"/>
            <a:ext cx="2533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Architecture or API contract change -&gt; ADR and sign-off. Behavior changes ship behind feature flags by default.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DE54363-3E19-4B7A-AE40-FF18B650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81400"/>
            <a:ext cx="2952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3C2BFF5-3810-4A02-A57A-9C4DE6E8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814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5DC09DF-9EBD-4B46-B2A4-04B3EE98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771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E27BE68-B485-4B18-9BDA-68E6B350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576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RB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CABC29B-F9DD-4A72-9A28-0F6AAED9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7528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Rollback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49F9F19-2615-45FC-B95D-15884556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210050"/>
            <a:ext cx="2533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Flag flip for behavior. Previous image for bad builds. Expand/contract schema keeps prior app compatible.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2A0CA08-45E2-4EEE-AF1A-56778A2D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81400"/>
            <a:ext cx="2952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C4BE1B4-87D7-4CB6-8679-8BC32629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814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8E8E288-F0AF-4787-A891-D89822D3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71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404A208-9C17-48E7-BED1-63335BA8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8576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SEC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71F4907-2372-448E-9FC7-7CC5830D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7528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Security checks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B000A90-05E7-4524-B5CE-77D8D129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10050"/>
            <a:ext cx="2533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Target state includes dependency scans, SAST, container scanning, signed images, and upload AV.</a:t>
            </a:r>
          </a:p>
        </p:txBody>
      </p:sp>
    </p:spTree>
    <p:extLst>
      <p:ext uri="{BB962C8B-B14F-4D97-AF65-F5344CB8AC3E}">
        <p14:creationId xmlns:p14="http://schemas.microsoft.com/office/powerpoint/2010/main" val="16644282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0AB4D3-EC84-477F-8F78-6545B671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Operating Model and Ownership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BB54D6-97E3-4BBA-99C9-3A0260E2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Clear accountability across build, test, support, infrastructure, governance, and security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0ABCFF-A91F-4992-93B6-152B76D4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125577-CB6B-46E5-9158-4DA423CD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LMS executive platform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87C1FB-2ABA-4D57-87E8-136A9E9F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4988BF-0962-4AEA-8D8A-758ADBCB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31813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561EA9-3071-464D-AFDC-31990AC3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F3591C-A034-4255-8342-A71EA9AF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C2528A-1184-4AFB-ABFA-CD5895FE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811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ABD50D-848E-4FB0-8D1C-FE77E0B6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764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Development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E20FAD-1EB7-4A3F-83CD-D04B99FE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33600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 / Platform Engineering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Backend, frontend, domain rules, OpenAPI contracts, migrations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ED913D-CD86-4228-9F2E-B08EF6B2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504950"/>
            <a:ext cx="31813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D9AA8D-7611-45A0-B2D0-B0FAD83C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504950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B8"/>
          </a:solidFill>
          <a:ln xmlns:a="http://schemas.openxmlformats.org/drawingml/2006/main" w="0">
            <a:solidFill>
              <a:srgbClr val="16A3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4E84F1-8E70-4C3C-A4CD-8B986713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695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A3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5E0A4B-1D0F-49A0-B7EC-110E54A4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7811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A3B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80EDCD-FF55-4A57-9D0F-EE7ECD56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6764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Testing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7FD02A-250F-474B-AF67-C47B2651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33600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Engineering + Ops UAT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Unit, integration, e2e, partner validation, release acceptance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5D9EAC-93D5-4310-AAE3-23747B42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04950"/>
            <a:ext cx="31813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B71125-E6BC-42C0-9380-A38277C8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04950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74606C-FF3B-46B8-B8B7-515DD451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95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C55AEC-0B8F-420B-BF38-CE87AC0D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7811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C92AD4-D9C3-4E3E-A38E-FFE44971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6764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Support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3BC837-9395-4F36-9479-BCF8E3D0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33600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Ops / Support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Loan lifecycle tickets, LSP onboarding, alert triage, partner queries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398568-1522-4FFC-80B3-DB0AF0A6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31813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2212CE-B777-4B43-9B0D-0D2A9C07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45"/>
          </a:solidFill>
          <a:ln xmlns:a="http://schemas.openxmlformats.org/drawingml/2006/main" w="0">
            <a:solidFill>
              <a:srgbClr val="0B1F4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3CF75D-5D5A-4F2D-A930-C7CC4345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0B1F4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BA54DC-34D9-4A6E-983A-BABBA4B9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80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0A4AEE-02E0-42C8-8BF0-3EB607A5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433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Infrastructure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3B4407-1F57-493B-AD69-A3C15299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DevOps / SRE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Kubernetes, Helm, DB pooler, backups, scaling, DR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E864CA-5180-456E-9E5C-0FE14E45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71850"/>
            <a:ext cx="31813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98053D-AF66-4749-BC6D-771CB1D5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71850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5FFBBB-C820-482A-BC37-9C0B8D01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62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753C45-5E11-4AE2-9CF8-20B669BA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480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6AF991-E1B1-4E56-A56A-6CF923B7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5433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10F47F-9128-4745-9154-F9934790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00500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Architecture + DevOps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ADRs, change control, release approvals, roadmap gates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C9B606-EAA1-414E-8568-1A8431B4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71850"/>
            <a:ext cx="31813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A91424-287D-415B-8651-3FB4D45A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71850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D92D2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5255925-02D0-4540-9CB2-8E998BF2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62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92D2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52BA8D7-88E0-4577-9D86-CD941F8B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480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92D2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92D20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8C84710-1AC9-4423-979E-D2D0FA38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5433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Security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889EC6B-901E-467F-A923-A8364991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00500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Security / Compliance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Secrets, RBAC policy, audit, data residency, incident response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594AD6A-F43E-48A0-BFA2-709A3CD5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19700"/>
            <a:ext cx="4286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8F5C370-E49C-4E6D-97E6-344C0279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1970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EF98D9E-9199-4E93-AF1D-64873F71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91150"/>
            <a:ext cx="3867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Access principle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67317A3-6648-469F-920F-2054498F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715000"/>
            <a:ext cx="3867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Least privilege by default; elevated production access is time-boxed and audited.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224BA3F-3DBA-4BF4-A599-3CB560CC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219700"/>
            <a:ext cx="4286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BEE1636-348D-48F0-BED1-84218D14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21970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D92D2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D3D25FF-3A4D-4C71-93CC-FD86CADE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391150"/>
            <a:ext cx="3867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Open operating item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897FC76-E7CD-4210-B993-E2A6585F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715000"/>
            <a:ext cx="3867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Formal RACI and worker-tier on-call ownership need closure before ramp.</a:t>
            </a:r>
          </a:p>
        </p:txBody>
      </p:sp>
    </p:spTree>
    <p:extLst>
      <p:ext uri="{BB962C8B-B14F-4D97-AF65-F5344CB8AC3E}">
        <p14:creationId xmlns:p14="http://schemas.microsoft.com/office/powerpoint/2010/main" val="18535619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572A44-B1F3-421B-BB1E-BAA301D8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Security Model: Permissions and Tenant Isolation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B0763B-F95E-4E08-97A5-86E1AE91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Fail closed, prove tenant scope, then allow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829CD9-9FAA-4580-B0F3-23EC322C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C772BC-FF65-4A5A-B615-EC2B1E08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LMS executive platform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FB1914-4101-492A-A57F-907CED77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65CA21-781E-4A48-B070-82011916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28750"/>
            <a:ext cx="790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13E9E3-DB77-4B37-8B82-1308370E2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543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40E476-EFBB-4ECE-9F7C-0612F965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192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D3BF6E-00A5-4F99-9F23-B2CB1C4E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335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Authenticated principal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A29A4B-5F6F-4396-B2C9-7F872238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430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JWT for users and API clients; token versions enable instant revocation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0A8281-5980-4CBF-9E5E-B1C3F64B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47900"/>
            <a:ext cx="790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2101ED-AFFE-4C39-9349-E16542E1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62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45"/>
          </a:solidFill>
          <a:ln xmlns:a="http://schemas.openxmlformats.org/drawingml/2006/main" w="9525">
            <a:solidFill>
              <a:srgbClr val="0B1F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F41928-8393-498A-83F3-FE2C1FBE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3840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438317-8618-40DC-B9CF-39738B8C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3526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Role and permission 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1D3C44-BF3A-456A-B200-D23B6ED5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622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SYSTEM_ADMIN, OPS_USER, PRODUCT_ADMIN, LSP_UI_READ/WRITE, LSP_API_CLIENT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C6A991-2819-4BC0-A68D-09F3FB08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790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0C1AA3-DD25-4C3F-A0F9-15D1FF29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81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B8"/>
          </a:solidFill>
          <a:ln xmlns:a="http://schemas.openxmlformats.org/drawingml/2006/main" w="9525">
            <a:solidFill>
              <a:srgbClr val="16A3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3B6275-2FC7-46B8-A9C1-ED837828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575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717EEC-CED3-4ABA-B17D-D1DEADE9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718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Tenant scope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746881-EC9A-4D99-85E2-8932BEDF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813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LSP users and machines see only their tenant; internal roles can see all LSPs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3F8E05-B5AC-41F1-A532-8E9D2803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86200"/>
            <a:ext cx="790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911B30-430C-489F-980E-CA885B40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B5876F-9E32-40B0-A525-7A987D30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7670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8F704F-8646-4BED-AAAD-F64C3EB6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9909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Database enforcement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792DE3-516D-43CF-809B-F647AE50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005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PostgreSQL RLS, tenant DB role, and fail-closed routing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DA37B-F2C3-4541-BDE1-B9A0716D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05350"/>
            <a:ext cx="7905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9D7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F2358F-D708-4946-8E09-D10F02BE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19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C46ACE-4CCC-4358-9787-182F52F0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958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3DC3F9-B4DA-40C3-9121-1A6149B8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101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Operational guardrails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CFA5A7-95EA-43B7-B810-E473129D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196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IP allowlists, rate limits, audit events, and correlation IDs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5A0B8B-4BCE-4A55-82A3-A4560144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676400"/>
            <a:ext cx="18478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87DBE4-FC96-4B10-8824-4D6D93EC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67640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7AB694-8640-48BA-9BAD-B5D2A811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66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A6DA3D-4A80-4B3E-9EBB-29C26880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526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12C143-2B2D-4C75-A41F-2594C36A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84785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Strong control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F4E133-9CEF-41BD-8130-327714A8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3050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Tenant data isolation is designed around RLS and fail-closed scoping.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7D11CA-78F5-47A7-82DD-74375AAC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71850"/>
            <a:ext cx="18478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5F5"/>
          </a:solidFill>
          <a:ln xmlns:a="http://schemas.openxmlformats.org/drawingml/2006/main" w="9525">
            <a:solidFill>
              <a:srgbClr val="FECAC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91E0AB-9F04-4A9B-AD75-C982D32F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71850"/>
            <a:ext cx="571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D92D2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1483AE6-EA0B-4A57-820A-3C69B9183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62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92D2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6CA1997-9D23-48F2-9591-6E9CC2E8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480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92D2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92D20"/>
                </a:solidFill>
                <a:latin typeface="Aptos"/>
                <a:ea typeface="Aptos"/>
                <a:cs typeface="Aptos"/>
              </a:rPr>
              <a:t>FIX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36AC135-AB8D-4C46-A38A-572E9040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5433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Open gaps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1FC8B82-E5AD-4691-A43E-30024A9F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000500"/>
            <a:ext cx="142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Bank PII masking, API-client lockout, CORS config, and upload AV.</a:t>
            </a:r>
          </a:p>
        </p:txBody>
      </p:sp>
    </p:spTree>
    <p:extLst>
      <p:ext uri="{BB962C8B-B14F-4D97-AF65-F5344CB8AC3E}">
        <p14:creationId xmlns:p14="http://schemas.microsoft.com/office/powerpoint/2010/main" val="21396510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467D37-282F-48A7-BBB9-6D7530B3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Security Model: Environments, Secrets, and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032DD9-A848-4153-946E-EC955E50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Production is separated by network, credentials, approvals, and audit trail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C088C4-491F-43B7-9423-E69D761E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C697CD-C305-49B1-A3BB-70E49C20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LMS executive platform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3AB449-AE0E-4F40-B528-E7C83297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10051E-6C8F-41D5-9CF7-4E2D15DE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22479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7073E7-A878-4F60-A18B-9F6983D3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C7EB82-DA14-4B0F-8F48-10676C4A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C9323B-8B62-43D1-BDB2-14F5ED95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02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30720A-3876-4A4C-8D02-58149749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954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Dev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66F39B-D5C2-4A4F-8EB2-3D971047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52650"/>
            <a:ext cx="1828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Local data, local services, no production credentials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39EEE2-0A87-4DAA-BE07-5DBE5B16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01930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BADE51-93B1-4E93-8C27-207E1CA2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524000"/>
            <a:ext cx="22479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600CD2-B188-42C3-BEFB-C8536562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5240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B8"/>
          </a:solidFill>
          <a:ln xmlns:a="http://schemas.openxmlformats.org/drawingml/2006/main" w="0">
            <a:solidFill>
              <a:srgbClr val="16A3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4FA904-5EFC-48C7-9F7A-3DA90F9C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714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A3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EA4C88-6658-4673-AC75-CBB7E84B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002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A3B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D3C9C8-D72D-4BDB-9C7A-0838A596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6954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Test / UAT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02BE7A-F2B1-4AB6-8CCF-A0A2B3D6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52650"/>
            <a:ext cx="1828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Synthetic or approved test data, partner validation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AFD05E-250D-42F6-9B85-29B240D6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01930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A3B8"/>
          </a:solidFill>
          <a:ln xmlns:a="http://schemas.openxmlformats.org/drawingml/2006/main" w="0">
            <a:solidFill>
              <a:srgbClr val="16A3B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82445A-B826-47D9-920D-845F30CA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24000"/>
            <a:ext cx="22479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0482A9-67D0-4A4D-AB73-C6767A52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240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428E7E-39A8-4FAD-9601-34AE7FBD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14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B61691-3334-4C3D-A0BC-A7CBDAB1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02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C39DE4-8642-4449-8D6A-263A2163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6954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Staging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C50B2B-72EF-4B4F-A1B2-65CCB6BA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52650"/>
            <a:ext cx="1828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Prod-shaped, small scale, load tests, no live borrowers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609E22-3B6B-4E7D-84D4-5418A6DA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1930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2FBB8B-C168-4758-A78B-C9BED584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524000"/>
            <a:ext cx="22479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01774D-9C63-41A3-AFE7-F027C2E9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5240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FD1C3B-3CF2-4A2A-AF4D-8D77E49A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714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9767B7-38DD-416D-83C3-48A24205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8002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223435-BC23-43EF-90B0-0F0CEB67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6954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Production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1116DB-9B51-4838-AA7B-BE050A1B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52650"/>
            <a:ext cx="1828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Private networks, managed secrets, audited access only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DC1E6C-B500-446B-99F3-E6982D77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2857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A6B78C-FA5F-4737-B6E8-226C56F9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45"/>
          </a:solidFill>
          <a:ln xmlns:a="http://schemas.openxmlformats.org/drawingml/2006/main" w="0">
            <a:solidFill>
              <a:srgbClr val="0B1F4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FD960A4-81CD-4FED-95EB-B3E26168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90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0B1F4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B7D294-8AAD-4EDD-BBA4-FC7C355D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766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KEY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6E2D533-E7F7-47AA-9DAE-73F2BA22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719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Secrets and config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9DC4B1-5574-4002-A1DE-22919B29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29100"/>
            <a:ext cx="2438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12-factor env injection from provider secret store. No secrets in images. Startup blocks placeholder secrets outside local/test.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53F0B22-5948-4510-855C-C23FB402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00450"/>
            <a:ext cx="2857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70CDCDF-116A-4855-AA61-8A20B4F9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004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4150118-AECD-4DB8-9320-F4D88EE3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0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AB1151D-E594-4874-9F43-29EE1FD9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8766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NET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B2759B1-1266-4783-BB38-E4CF9376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7719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Network controls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DD75AE7-137D-4BCC-9A52-11B46485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229100"/>
            <a:ext cx="2438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TLS at the edge. Database, Redis, and storage remain private. WAF and coarse edge rate limits add defense in depth.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9780057-BAA5-4AA7-872B-F9645578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00450"/>
            <a:ext cx="2857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6A023F6-A53B-4398-B2E7-C58D978E1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004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5D1ABB5-173F-4C09-B292-6BDF94F3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90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DF7A89E-5E0A-4B9E-B0F8-7AB817C5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766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CI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F751335-C76D-40AB-9ABA-5302EBCB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719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Pipeline security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A5D2E54-71EE-4F9C-B744-28D863FB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229100"/>
            <a:ext cx="2438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Target state: scan dependencies, source, containers, and partner uploads. Sign images and use private registries.</a:t>
            </a:r>
          </a:p>
        </p:txBody>
      </p:sp>
    </p:spTree>
    <p:extLst>
      <p:ext uri="{BB962C8B-B14F-4D97-AF65-F5344CB8AC3E}">
        <p14:creationId xmlns:p14="http://schemas.microsoft.com/office/powerpoint/2010/main" val="20199298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D8B10A-0EA9-44B3-B09A-A68BCA18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Roadmap Timeline: Gated Path to Production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4009D0-E5DA-4F1B-973B-418CFB6F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Relative timing is shown because source docs do not commit calendar dates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71CF79-C8F5-4970-AC60-32FD3BA5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F6CCA1-93BA-419A-AA62-74E2BDD5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LMS executive platform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EDAE53-25A4-4FB8-AE4E-1924D96D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D10A57-3829-4443-B543-D86C31A7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10020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FF"/>
          </a:solidFill>
          <a:ln xmlns:a="http://schemas.openxmlformats.org/drawingml/2006/main" w="0">
            <a:solidFill>
              <a:srgbClr val="B9D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4B361E-4CC3-4184-86FC-8C969657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24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628C70-AD4C-4304-83BF-E4EBD287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289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E91743-EA0E-419D-9CF9-A3BFEF90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16383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6863F0-59D2-4B14-841F-60864227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571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77DC23-FDFF-406C-9762-40421A9D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Now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BB83A5-41F8-4AD8-81B2-4E0BFAC6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1219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Functionally complete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Auth, tenancy, products, lifecycle, servicing, webhooks, MIS, audit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E2C785-DDD8-41BE-A11D-A500F70F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24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9525">
            <a:solidFill>
              <a:srgbClr val="D92D2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DDBF4C-5746-465E-990B-F6B0849B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289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70E632-55C3-46B3-9CA8-5A18C576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57600"/>
            <a:ext cx="16383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944CE7-BBAA-4C15-B3D4-A40D948B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57600"/>
            <a:ext cx="571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D92D2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3B3E83-983A-43BF-B0FE-FAC73488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2905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Month 0-2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DA053C-F5AE-4084-83A0-390A8DDF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152900"/>
            <a:ext cx="1219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P0 production blockers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DB pooler, money-path safety, payment correctness, worker split, observability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F71B46-9615-4544-9B9D-E4E1B9BD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24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F90A4C-821E-4F72-A304-03C1B9B0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289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DAE47C-F0AA-451B-9252-92839979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657600"/>
            <a:ext cx="16383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BB5052-3E5B-481E-9E88-27C42DFB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657600"/>
            <a:ext cx="571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816C2E-25CF-4DE2-B296-C03BC8CB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82905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Month 2-4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C165DB-C528-4EF6-8E28-E6203EB9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152900"/>
            <a:ext cx="1219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P1 scale readiness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Reporting stream, audit retention, partitioning, webhooks, security gaps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901B77-6168-4321-80F9-0FBB2AA0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24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B8"/>
          </a:solidFill>
          <a:ln xmlns:a="http://schemas.openxmlformats.org/drawingml/2006/main" w="9525">
            <a:solidFill>
              <a:srgbClr val="16A3B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296CA2-7B45-4579-9FB6-35F1E198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289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288069-2F58-48FE-B6E7-1EB17BFD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657600"/>
            <a:ext cx="16383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303D8E-0F50-41F7-9A64-2B4F059E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657600"/>
            <a:ext cx="571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B8"/>
          </a:solidFill>
          <a:ln xmlns:a="http://schemas.openxmlformats.org/drawingml/2006/main" w="0">
            <a:solidFill>
              <a:srgbClr val="16A3B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87AF64-8FEA-41D3-85BD-D5FF555B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2905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Month 4-6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E4F737-906B-4856-AC32-DC071D58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52900"/>
            <a:ext cx="1219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P2 operating maturity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Runbooks, dashboards, staging test bed, automation, cleanup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FB4EC9-74E8-4DB8-981D-084A4680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724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668D53-B91D-4BD5-A0C3-818C24EF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8289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247D68-BF4A-4FCF-8E65-799BF3E1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57600"/>
            <a:ext cx="16383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74631C-65FF-4B07-8CBF-E71DBA11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57600"/>
            <a:ext cx="571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2A71A0-8425-4E0C-B819-D1DC5E2E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82905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96C81C-EA1F-488C-BD79-3BDE7C98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152900"/>
            <a:ext cx="1219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Bank + production ramp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ICICI integration, perf matrix, target readiness &gt;=85%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82D612-072C-4798-B35A-F47D71C8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47800"/>
            <a:ext cx="42672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180173-D069-49ED-AFD0-F8D552F6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47800"/>
            <a:ext cx="57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D92D2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53E181C-58AD-4C42-9180-5165AE5A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19250"/>
            <a:ext cx="3848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Bank go-live condition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6725310-FE80-4CF2-89F5-242FEF32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43100"/>
            <a:ext cx="3848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Real ICICI starts only after P0 money-path controls and contract tests.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E914474-C34F-4F4F-A990-EE6E0BC5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47800"/>
            <a:ext cx="42672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F504EF-55AA-4A09-A18D-6A1079BB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47800"/>
            <a:ext cx="57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4D43BC3-636A-4B1A-85B6-D62B176D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619250"/>
            <a:ext cx="3848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Production ramp condition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94F568C-E6EC-40D7-9066-581DF99E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943100"/>
            <a:ext cx="3848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Ramp after staging performance passes and readiness reaches target &gt;=85%.</a:t>
            </a:r>
          </a:p>
        </p:txBody>
      </p:sp>
    </p:spTree>
    <p:extLst>
      <p:ext uri="{BB962C8B-B14F-4D97-AF65-F5344CB8AC3E}">
        <p14:creationId xmlns:p14="http://schemas.microsoft.com/office/powerpoint/2010/main" val="19721740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48AA77-7468-46CB-8776-C4EAB486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Key Future Challenges and Mitigations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68BBD6-12F9-4E3A-8027-667C4C9C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The main risks are known, bounded, and roadmap-backed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FB2B4D-13FB-4C5A-AF7B-40C4185C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E8830D-D051-4FA6-A4D6-9C2ADC7D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LMS executive platform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EE00AE-49CB-4860-8EEE-B1D39948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8EFFF9-8C5F-4292-AC79-3994258F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62100"/>
            <a:ext cx="23812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3E772F-0D2C-45AD-8606-BAF29604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6210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66ACFD-D09A-4131-AF76-7050167B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FAE6E9-DB2F-416A-B6B5-D64B00DD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383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TECH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709E6C-75F5-4D5E-858E-0D1149FD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335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Technology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21D0BC-E2F6-4489-B284-FFDA48A2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90750"/>
            <a:ext cx="1962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Database connections bind first. Monolith maintainability and real-bank integration require disciplined boundaries.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A29907-28A9-4D08-8D0E-92EAA850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562100"/>
            <a:ext cx="23812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2CC5D8-45AE-4070-A4FD-41AA6340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56210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E8E0FF-CE0D-4DCB-85E1-646740DB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752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0F8356-B256-4136-8FD8-F4B5CA99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8383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OPS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2418F4-2840-43F8-B054-193BA65C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7335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D0BDE4-7367-41ED-AF3C-F34AF8F5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90750"/>
            <a:ext cx="1962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Worker on-call, alert delivery, runbooks, DR drills, and incident response need formal ownership.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86D665-D19D-4326-8A3F-5A615987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62100"/>
            <a:ext cx="23812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67B732-9EBF-4FE8-AAAB-6E8AC51C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6210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B8"/>
          </a:solidFill>
          <a:ln xmlns:a="http://schemas.openxmlformats.org/drawingml/2006/main" w="0">
            <a:solidFill>
              <a:srgbClr val="16A3B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3A8BBB-A84D-4B3D-BABD-77963C2C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52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A3B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3426AD-1183-4386-8AAB-1E5B439D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383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A3B8"/>
                </a:solidFill>
                <a:latin typeface="Aptos"/>
                <a:ea typeface="Aptos"/>
                <a:cs typeface="Aptos"/>
              </a:rPr>
              <a:t>SCALE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4D3BAB-E0C1-41A9-B389-706DFB0C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7335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Scalability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743A93-4C1A-4D37-A5AB-8700A166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90750"/>
            <a:ext cx="1962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Audit, idempotency, webhook, payment, and reporting tables will grow fast at 100K loans/day.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EDD817-1698-4820-AC52-E9178CF9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562100"/>
            <a:ext cx="23812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55F532-3088-440A-8741-3816B4F1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56210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BB80C0-9CDA-4726-AAEA-3793F2A5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752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0D4977-864D-4635-924B-B8129EE4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8383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BIZ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709A35-800D-428F-8063-5A94F6795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7335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Business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3A86C9-DC5C-4330-8715-91408B49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90750"/>
            <a:ext cx="1962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API-only origination shifts partner errors into support. Compliance and data residency must stay ahead of growth.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477126-0D1E-4CB0-8F8F-B99AE936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43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Mitigation themes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1F27FC-9D0B-44DA-B124-E73F72E7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00550"/>
            <a:ext cx="1885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4CB2F6-C17B-4C41-9314-6ED23DCA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577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Pooler + worker split  |  P0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40DA12-977C-490E-B44C-457B5868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400550"/>
            <a:ext cx="1885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DCADC3-7156-4299-933F-6D6CEDEF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4577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Metrics + alert fan-out  |  P0/P1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2B3B27-2A19-40A6-BADC-D3ED6EBE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400550"/>
            <a:ext cx="1885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B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CB0612-A2CB-4D69-A205-4CE201D3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577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6A3B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A3B8"/>
                </a:solidFill>
                <a:latin typeface="Aptos"/>
                <a:ea typeface="Aptos"/>
                <a:cs typeface="Aptos"/>
              </a:rPr>
              <a:t>Partitioning + retention  |  P1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097E54-4316-4183-AF7B-1BA0E940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400550"/>
            <a:ext cx="1885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C1D3AA-E81A-4E72-9DD5-F584ABF3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4577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Partner sandbox + clear contracts  |  P1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DDA8AB-B4B8-48BE-9983-6CF0008A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400550"/>
            <a:ext cx="1885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2D2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34B1252-733E-46D5-B445-C9B0D909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577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D92D2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92D20"/>
                </a:solidFill>
                <a:latin typeface="Aptos"/>
                <a:ea typeface="Aptos"/>
                <a:cs typeface="Aptos"/>
              </a:rPr>
              <a:t>PII masking + audit controls  |  P0/P1</a:t>
            </a:r>
          </a:p>
        </p:txBody>
      </p:sp>
    </p:spTree>
    <p:extLst>
      <p:ext uri="{BB962C8B-B14F-4D97-AF65-F5344CB8AC3E}">
        <p14:creationId xmlns:p14="http://schemas.microsoft.com/office/powerpoint/2010/main" val="7803103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A651D8-5539-45B9-A583-9A0CF4A7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Recommendation and Executive 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35C39C-68B8-4F0F-BAD5-DF59753A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A small set of decisions unlocks a controlled production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7A9F9B-9A84-45AF-A87E-F2F6552C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4B1BDF-ADB3-44B3-9A07-7A583532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LMS executive platform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819E8B-0AB7-4BF8-B742-6FCE6DAC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7E40EF-554E-46C9-A1D3-5510437E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62100"/>
            <a:ext cx="31242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6D1B78-977F-4C2B-A5B5-483D8840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62100"/>
            <a:ext cx="571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D92D2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C88BA0-6493-416B-BE2C-85DC713B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92D2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1CA4AE-05DA-4D01-B79B-4E46EF3E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383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92D2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92D2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1998BF-AAE9-42C1-9356-EB4E2B35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33550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1. Endorse the P0 gate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4F636A-561F-4BDE-8062-E2CD1260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90750"/>
            <a:ext cx="27051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Do not onboard live volume until money-path safety, pool sizing, worker split, dashboard snapshots, and observability are complete.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C7DC2E-127F-4EAC-8657-92932F04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562100"/>
            <a:ext cx="31242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871FF8-7A24-437B-8F7D-7DC18488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562100"/>
            <a:ext cx="571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F04539-2140-416E-AF6A-CEE7D461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752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769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FB7CCC-2D3D-47EA-8F4C-583875C2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8383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1E002D-68F9-42FC-AB6C-EFDDB546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33550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2. Confirm production constraints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AE3BB8-DD30-4C62-B4FC-6512D324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190750"/>
            <a:ext cx="27051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Choose target cloud/region with India data residency. Confirm RPO/RTO so infrastructure and DR drills are testable.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6332D0-BBAE-4528-8CE6-987BA25D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562100"/>
            <a:ext cx="31242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74B7BC-A423-4F3E-9D68-75455F51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562100"/>
            <a:ext cx="571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A35D64-CDF6-4BA4-88F6-36DFBA7B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52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9E26EF-C0BD-4FD4-8E52-3D6E9E59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383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320972-FB0A-4C2D-A44A-3CD20D69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733550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3. Authorize bank track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FD13A7-97A8-4A9B-843F-826CCF40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90750"/>
            <a:ext cx="27051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Start real ICICI integration only behind P0 safety controls and contract/reconciliation testing.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D8511F-2C0F-4E0B-A659-CD78CC36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52900"/>
            <a:ext cx="8763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EEA0A5-A164-4DB0-A907-90228867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52900"/>
            <a:ext cx="57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45"/>
          </a:solidFill>
          <a:ln xmlns:a="http://schemas.openxmlformats.org/drawingml/2006/main" w="0">
            <a:solidFill>
              <a:srgbClr val="0B1F4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A0CAB0-6219-44EF-A439-2540BF31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324350"/>
            <a:ext cx="834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Next 90 days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98940D-4717-4112-88D1-1CDD00A3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834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Close production blockers, stand up staging validation, define RACI/on-call, complete security quick wins, then run the performance matrix for go/no-go.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204643-AD8D-409D-9637-C6E08199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816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Outcome: a portable, auditable, multi-tenant lending platform ready to ramp partners with controlled risk.</a:t>
            </a:r>
          </a:p>
        </p:txBody>
      </p:sp>
    </p:spTree>
    <p:extLst>
      <p:ext uri="{BB962C8B-B14F-4D97-AF65-F5344CB8AC3E}">
        <p14:creationId xmlns:p14="http://schemas.microsoft.com/office/powerpoint/2010/main" val="100375520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EBD5B3-2C6C-4ADA-805A-5BC95E60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Appendix: Source-Backed Assumptions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C6AE1B-3202-4FEC-9CEB-6D2CBC4A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Reference facts behind the executive narrative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2037F6-EE26-4E0E-B24A-68B936CE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D21C4A-E24B-4EAE-8BAC-09E30C16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LMS executive platform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78A408-2B41-4453-95C5-E57E0FD9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F70AAE-676A-4370-AB2A-941E53C2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66850"/>
            <a:ext cx="4762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9C34E7-F289-46E4-9A87-A0E0A1DA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668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solidFill>
              <a:srgbClr val="1769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7541AB-004D-4E27-8B78-DABF11A5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63830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Target volume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79E051-F34D-43C9-9FEE-D54F80B3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6215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~100K loans/day, ~1M+/month, 10+ LSP tenants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5D0A1E-08CD-47D1-BDBD-7646FE1E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4762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6F1F88-2908-463A-8D26-1466A8A1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B8"/>
          </a:solidFill>
          <a:ln xmlns:a="http://schemas.openxmlformats.org/drawingml/2006/main" w="0">
            <a:solidFill>
              <a:srgbClr val="16A3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58B55E-CF3F-40D7-8219-6E19F494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9560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9C0DB9-E0D2-4854-915D-742512F8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1945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Spring Boot modular monolith + React SPA; PostgreSQL with RLS; Redis; S3-compatible storage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B1CFC5-4AAA-400A-8EF1-4C73B1F7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4762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E6A6A2-61B4-408F-8160-0D1E55FC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5AE01A-3889-4707-A10C-082051D0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5290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Integrations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35F9C2-3AE7-4ABB-9EC1-189814FB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7675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Outbound HMAC webhooks, SMTP, bank adapter; ICICI is the target real-bank integration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F6F8FB-DF57-47C1-A73E-9E2F0144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66850"/>
            <a:ext cx="4762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B5A8AA-C653-40FA-B7DD-ED860F68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668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0A099F-D69C-4C13-81B8-1CDA7DC1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63830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Reporting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81C153-325B-4F93-8B5D-9DA94D3D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96215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Portfolio MIS is async: request, queue, generate CSV, store, notify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0F0DB1-1A89-4B89-9939-54A57CF7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24150"/>
            <a:ext cx="4762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8DAC67-8058-4C41-A78B-2CBDEBF5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241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D92D2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0FA7EA-ADDD-40EE-AB40-5ACA2D9C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9560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Readiness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267128-415E-4411-8F1C-6F9BA5A7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21945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About 32% high-volume readiness; validation target &gt;=85% before ramp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4D7314-09FF-4EB2-A3BE-0B18D568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81450"/>
            <a:ext cx="4762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EF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A4ABF3-057B-4257-ADAF-4E604CD6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814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45"/>
          </a:solidFill>
          <a:ln xmlns:a="http://schemas.openxmlformats.org/drawingml/2006/main" w="0">
            <a:solidFill>
              <a:srgbClr val="0B1F4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373F76-648D-4578-AD3E-417F5791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5290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Security posture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DD7159-7E0C-4C20-972A-57C8829E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7675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Strong tenant-isolation foundation; open gaps include PII masking, API-client lockout, upload AV, CORS externalization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65D18A-7828-4E13-878E-937A5B83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38800"/>
            <a:ext cx="1043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Primary sources: graphify-out/GRAPH_REPORT.md; architecture package; deployment strategy; LMS blueprint; implementation roadmap; security audit; backend/frontend build files; CI and infra configs.</a:t>
            </a:r>
          </a:p>
        </p:txBody>
      </p:sp>
    </p:spTree>
    <p:extLst>
      <p:ext uri="{BB962C8B-B14F-4D97-AF65-F5344CB8AC3E}">
        <p14:creationId xmlns:p14="http://schemas.microsoft.com/office/powerpoint/2010/main" val="1632958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2026-06-19T10:39:29.9420000Z</dcterms:created>
  <dcterms:modified xsi:type="dcterms:W3CDTF">2026-06-19T10:39:29.9420000Z</dcterms:modified>
</coreProperties>
</file>