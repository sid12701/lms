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414cd2b2147a8" /><Relationship Type="http://schemas.openxmlformats.org/officeDocument/2006/relationships/extended-properties" Target="/docProps/app.xml" Id="Rbd92560c3d7649ee" /><Relationship Type="http://schemas.openxmlformats.org/officeDocument/2006/relationships/officeDocument" Target="/ppt/presentation.xml" Id="R942b3e6bc862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780dccc78b450d"/>
  </p:sldMasterIdLst>
  <p:notesMasterIdLst>
    <p:notesMasterId xmlns:r="http://schemas.openxmlformats.org/officeDocument/2006/relationships" r:id="Rf0d90866e4894263"/>
  </p:notesMasterIdLst>
  <p:sldIdLst>
    <p:sldId xmlns:r="http://schemas.openxmlformats.org/officeDocument/2006/relationships" id="256" r:id="R4177b692332d4a15"/>
    <p:sldId xmlns:r="http://schemas.openxmlformats.org/officeDocument/2006/relationships" id="257" r:id="R92949e1d66dc491c"/>
    <p:sldId xmlns:r="http://schemas.openxmlformats.org/officeDocument/2006/relationships" id="258" r:id="R44d4a49f90af4d5e"/>
    <p:sldId xmlns:r="http://schemas.openxmlformats.org/officeDocument/2006/relationships" id="259" r:id="R7782fd9e67924ca0"/>
    <p:sldId xmlns:r="http://schemas.openxmlformats.org/officeDocument/2006/relationships" id="260" r:id="Rfb32a913ad06431d"/>
    <p:sldId xmlns:r="http://schemas.openxmlformats.org/officeDocument/2006/relationships" id="261" r:id="R1d3a60afbabc45a2"/>
    <p:sldId xmlns:r="http://schemas.openxmlformats.org/officeDocument/2006/relationships" id="262" r:id="R671fef18401e45ae"/>
    <p:sldId xmlns:r="http://schemas.openxmlformats.org/officeDocument/2006/relationships" id="263" r:id="R3d4015bbac2c4120"/>
    <p:sldId xmlns:r="http://schemas.openxmlformats.org/officeDocument/2006/relationships" id="264" r:id="Rbba1118728894397"/>
    <p:sldId xmlns:r="http://schemas.openxmlformats.org/officeDocument/2006/relationships" id="265" r:id="R0e94809ee3804169"/>
    <p:sldId xmlns:r="http://schemas.openxmlformats.org/officeDocument/2006/relationships" id="266" r:id="R73b18c37fd124050"/>
    <p:sldId xmlns:r="http://schemas.openxmlformats.org/officeDocument/2006/relationships" id="267" r:id="R1a8c464bc29141d8"/>
    <p:sldId xmlns:r="http://schemas.openxmlformats.org/officeDocument/2006/relationships" id="268" r:id="R91d58336571f499d"/>
    <p:sldId xmlns:r="http://schemas.openxmlformats.org/officeDocument/2006/relationships" id="269" r:id="R712cdbba344f4b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c68ab31804efe" /><Relationship Type="http://schemas.openxmlformats.org/officeDocument/2006/relationships/slideMaster" Target="/ppt/slideMasters/slideMaster1.xml" Id="Rab780dccc78b450d" /><Relationship Type="http://schemas.openxmlformats.org/officeDocument/2006/relationships/notesMaster" Target="/ppt/notesMasters/notesMaster1.xml" Id="Rf0d90866e4894263" /><Relationship Type="http://schemas.openxmlformats.org/officeDocument/2006/relationships/presProps" Target="/ppt/presProps.xml" Id="R8321210240bd4ebc" /><Relationship Type="http://schemas.openxmlformats.org/officeDocument/2006/relationships/tableStyles" Target="/ppt/tableStyles.xml" Id="Rc3baa885c26943c9" /><Relationship Type="http://schemas.openxmlformats.org/officeDocument/2006/relationships/slide" Target="/ppt/slides/slide1.xml" Id="R4177b692332d4a15" /><Relationship Type="http://schemas.openxmlformats.org/officeDocument/2006/relationships/slide" Target="/ppt/slides/slide2.xml" Id="R92949e1d66dc491c" /><Relationship Type="http://schemas.openxmlformats.org/officeDocument/2006/relationships/slide" Target="/ppt/slides/slide3.xml" Id="R44d4a49f90af4d5e" /><Relationship Type="http://schemas.openxmlformats.org/officeDocument/2006/relationships/slide" Target="/ppt/slides/slide4.xml" Id="R7782fd9e67924ca0" /><Relationship Type="http://schemas.openxmlformats.org/officeDocument/2006/relationships/slide" Target="/ppt/slides/slide5.xml" Id="Rfb32a913ad06431d" /><Relationship Type="http://schemas.openxmlformats.org/officeDocument/2006/relationships/slide" Target="/ppt/slides/slide6.xml" Id="R1d3a60afbabc45a2" /><Relationship Type="http://schemas.openxmlformats.org/officeDocument/2006/relationships/slide" Target="/ppt/slides/slide7.xml" Id="R671fef18401e45ae" /><Relationship Type="http://schemas.openxmlformats.org/officeDocument/2006/relationships/slide" Target="/ppt/slides/slide8.xml" Id="R3d4015bbac2c4120" /><Relationship Type="http://schemas.openxmlformats.org/officeDocument/2006/relationships/slide" Target="/ppt/slides/slide9.xml" Id="Rbba1118728894397" /><Relationship Type="http://schemas.openxmlformats.org/officeDocument/2006/relationships/slide" Target="/ppt/slides/slide10.xml" Id="R0e94809ee3804169" /><Relationship Type="http://schemas.openxmlformats.org/officeDocument/2006/relationships/slide" Target="/ppt/slides/slide11.xml" Id="R73b18c37fd124050" /><Relationship Type="http://schemas.openxmlformats.org/officeDocument/2006/relationships/slide" Target="/ppt/slides/slide12.xml" Id="R1a8c464bc29141d8" /><Relationship Type="http://schemas.openxmlformats.org/officeDocument/2006/relationships/slide" Target="/ppt/slides/slide13.xml" Id="R91d58336571f499d" /><Relationship Type="http://schemas.openxmlformats.org/officeDocument/2006/relationships/slide" Target="/ppt/slides/slide14.xml" Id="R712cdbba344f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dda49d827947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b7093b74e24328" /><Relationship Type="http://schemas.openxmlformats.org/officeDocument/2006/relationships/notesMaster" Target="/ppt/notesMasters/notesMaster1.xml" Id="R7461fd0ee5624e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0f19bb5458491a" /><Relationship Type="http://schemas.openxmlformats.org/officeDocument/2006/relationships/notesMaster" Target="/ppt/notesMasters/notesMaster1.xml" Id="Ra70a85ccb64f41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d47255609547e5" /><Relationship Type="http://schemas.openxmlformats.org/officeDocument/2006/relationships/notesMaster" Target="/ppt/notesMasters/notesMaster1.xml" Id="Racba9aa1c26f4e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dbdbea3f6e4a87" /><Relationship Type="http://schemas.openxmlformats.org/officeDocument/2006/relationships/notesMaster" Target="/ppt/notesMasters/notesMaster1.xml" Id="R2a1333531a7943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eb3e803104b23" /><Relationship Type="http://schemas.openxmlformats.org/officeDocument/2006/relationships/notesMaster" Target="/ppt/notesMasters/notesMaster1.xml" Id="Rb140be7a5d5842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93388864fc49f1" /><Relationship Type="http://schemas.openxmlformats.org/officeDocument/2006/relationships/notesMaster" Target="/ppt/notesMasters/notesMaster1.xml" Id="R93a5e079fb214c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869f33dac54c39" /><Relationship Type="http://schemas.openxmlformats.org/officeDocument/2006/relationships/notesMaster" Target="/ppt/notesMasters/notesMaster1.xml" Id="R15662a9335fb4d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bbccbeed2c4ffa" /><Relationship Type="http://schemas.openxmlformats.org/officeDocument/2006/relationships/notesMaster" Target="/ppt/notesMasters/notesMaster1.xml" Id="R0c6a37e5289d46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5242a8819b4e76" /><Relationship Type="http://schemas.openxmlformats.org/officeDocument/2006/relationships/notesMaster" Target="/ppt/notesMasters/notesMaster1.xml" Id="R9e97b1e1bea14e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25862b83ef4f90" /><Relationship Type="http://schemas.openxmlformats.org/officeDocument/2006/relationships/notesMaster" Target="/ppt/notesMasters/notesMaster1.xml" Id="Rb521c5b08bce4c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aa694d23a740b9" /><Relationship Type="http://schemas.openxmlformats.org/officeDocument/2006/relationships/notesMaster" Target="/ppt/notesMasters/notesMaster1.xml" Id="R2dc8debf76ef48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df36f8c19b456d" /><Relationship Type="http://schemas.openxmlformats.org/officeDocument/2006/relationships/notesMaster" Target="/ppt/notesMasters/notesMaster1.xml" Id="Rd2d985344e814b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93c7f5c51c4f53" /><Relationship Type="http://schemas.openxmlformats.org/officeDocument/2006/relationships/notesMaster" Target="/ppt/notesMasters/notesMaster1.xml" Id="R1d21f091d99745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153b0c28844c5c" /><Relationship Type="http://schemas.openxmlformats.org/officeDocument/2006/relationships/notesMaster" Target="/ppt/notesMasters/notesMaster1.xml" Id="Rff07941f8ad4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a3428037043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84a95a2264410" /><Relationship Type="http://schemas.openxmlformats.org/officeDocument/2006/relationships/slideLayout" Target="/ppt/slideLayouts/slideLayout1.xml" Id="Rc98496dc8b55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8496dc8b55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14e7a43fa4308" /><Relationship Type="http://schemas.openxmlformats.org/officeDocument/2006/relationships/notesSlide" Target="/ppt/notesSlides/notesSlide1.xml" Id="Re96e5405b0d1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84f4fc8f4e62" /><Relationship Type="http://schemas.openxmlformats.org/officeDocument/2006/relationships/notesSlide" Target="/ppt/notesSlides/notesSlide2.xml" Id="R21ebb73aefd6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59aaf56df47a6" /><Relationship Type="http://schemas.openxmlformats.org/officeDocument/2006/relationships/image" Target="/ppt/media/image.png" Id="R540b2f1a57934a64" /><Relationship Type="http://schemas.openxmlformats.org/officeDocument/2006/relationships/notesSlide" Target="/ppt/notesSlides/notesSlide3.xml" Id="R1435d896b4254f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1fb5e4cac4d1e" /><Relationship Type="http://schemas.openxmlformats.org/officeDocument/2006/relationships/image" Target="/ppt/media/image2.png" Id="Rea93f51605e54817" /><Relationship Type="http://schemas.openxmlformats.org/officeDocument/2006/relationships/notesSlide" Target="/ppt/notesSlides/notesSlide4.xml" Id="Rd13c171685c6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68754280548ef" /><Relationship Type="http://schemas.openxmlformats.org/officeDocument/2006/relationships/notesSlide" Target="/ppt/notesSlides/notesSlide5.xml" Id="R5c73e4a07143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85abfa944e1f" /><Relationship Type="http://schemas.openxmlformats.org/officeDocument/2006/relationships/notesSlide" Target="/ppt/notesSlides/notesSlide6.xml" Id="R35cd37b6adb74a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822ffb0ea4f0b" /><Relationship Type="http://schemas.openxmlformats.org/officeDocument/2006/relationships/notesSlide" Target="/ppt/notesSlides/notesSlide7.xml" Id="R92c8ba75d9d542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138ef3eb84e72" /><Relationship Type="http://schemas.openxmlformats.org/officeDocument/2006/relationships/notesSlide" Target="/ppt/notesSlides/notesSlide8.xml" Id="R4b2f4950694d4f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9e17b9ba843cd" /><Relationship Type="http://schemas.openxmlformats.org/officeDocument/2006/relationships/notesSlide" Target="/ppt/notesSlides/notesSlide9.xml" Id="Rc79b11c3880945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02c3211334329" /><Relationship Type="http://schemas.openxmlformats.org/officeDocument/2006/relationships/notesSlide" Target="/ppt/notesSlides/notesSlide10.xml" Id="R4e4f685bf22f47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124e2aef740b5" /><Relationship Type="http://schemas.openxmlformats.org/officeDocument/2006/relationships/notesSlide" Target="/ppt/notesSlides/notesSlide11.xml" Id="R4a2f98baa6bf41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4e40707bf45f7" /><Relationship Type="http://schemas.openxmlformats.org/officeDocument/2006/relationships/notesSlide" Target="/ppt/notesSlides/notesSlide12.xml" Id="R5e01fcdfbe4748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d457a4e3b4ee2" /><Relationship Type="http://schemas.openxmlformats.org/officeDocument/2006/relationships/notesSlide" Target="/ppt/notesSlides/notesSlide13.xml" Id="R6d5dd60e1d294a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0c411676d4c4a" /><Relationship Type="http://schemas.openxmlformats.org/officeDocument/2006/relationships/notesSlide" Target="/ppt/notesSlides/notesSlide14.xml" Id="R5444941ed77d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2C06C-8FE3-4267-AB06-46F0215B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E3DEA-5501-478F-90FD-73836D7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7375"/>
            <a:ext cx="1219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75B"/>
          </a:solidFill>
          <a:ln xmlns:a="http://schemas.openxmlformats.org/drawingml/2006/main" w="0">
            <a:solidFill>
              <a:srgbClr val="0927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11BFB-5F63-4946-8BDA-9C661276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19150"/>
            <a:ext cx="2286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E77C2-85DA-4B6C-9560-768E1839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28700"/>
            <a:ext cx="20574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3019E-3DB8-45E2-BBFA-DDF59C8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38250"/>
            <a:ext cx="1828800" cy="1828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A1660-5F91-477A-BBB6-AA80853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47800"/>
            <a:ext cx="1600200" cy="160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08E8A-A7B4-44AF-93C1-62484DEE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657350"/>
            <a:ext cx="13716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CAD81-0296-454F-9F4C-C19018A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Bhawana LMS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4E038-EB2A-4A1A-A022-5E67449F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CEO-ready platform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89061-9EDA-42F1-AE20-C548FFCE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Architecture, deployment, operating model, security, roadmap, and future challenges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BF618-BD6C-4C00-A709-C321685A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E94CB-87FB-458E-BA90-EA52B6D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55F2F-7719-44EE-90A3-DC90D43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E6628-F090-4D60-8EA3-081511B9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820FA-A7F8-44F4-82AC-1150D2C3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4B2A3-9D7C-4B58-A555-694BDAC1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2778-143C-4019-91CE-0758F75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172B2-9A00-4972-B316-D059E08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Disburse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727DC-F237-4609-8967-650A7F4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5C86B-F9BA-418E-B47A-DEA5071C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EA6D2-4B0F-4BCD-9315-0A377036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631A7-A235-4857-8946-5F34C92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C7101-2126-4B19-881F-184FB7AC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84A43-8529-4A50-B7B0-F5AC54E1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DC516-F7E8-4460-ACA9-48C7EC8B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366F"/>
          </a:solidFill>
          <a:ln xmlns:a="http://schemas.openxmlformats.org/drawingml/2006/main" w="9525">
            <a:solidFill>
              <a:srgbClr val="2D64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40011-8113-41B0-BED1-637294EF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09220-FE92-440D-8AAE-6D28B14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decision frame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163F58-92C3-43C0-9B44-705B6502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Strong product foundation. Scale readiness and money-path hardening are the gates before live volume.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DFE476-C649-457B-9B50-5B860FCA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from repository architecture, security, roadmap, and graphify sources. As of 2026-06-19.</a:t>
            </a:r>
          </a:p>
        </p:txBody>
      </p:sp>
    </p:spTree>
    <p:extLst>
      <p:ext uri="{BB962C8B-B14F-4D97-AF65-F5344CB8AC3E}">
        <p14:creationId xmlns:p14="http://schemas.microsoft.com/office/powerpoint/2010/main" val="1349060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A3881-FF2D-4128-A0CC-DD0F7EBE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49209-A0D4-4E36-A7DC-5CDAFED7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What leadership needs to know before production scale-up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BE7A6-645F-42E3-B54E-AEFE151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4BF5D-7E8E-43EC-875A-B1038F2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1360F-6B93-4793-905C-5855799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4F966-D7AC-42C0-9254-1FF939F9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97176-0A6D-4CD8-ABF5-BD36F857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7511A-B03F-4FBD-A906-0B25261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3A49A-6DEB-40DB-B863-E4E9DA7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089CC-8FB4-45BF-A63C-26174CD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Platform 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373B-A7C9-4286-8DD6-2FF63A2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Multi-tenant lending platform where LSP partners originate by API and internal teams control the loan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64BF0-9B0D-48F1-99D2-F7BD9051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1889A-024C-47C8-B3CD-E181A22C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9DDD1-9681-4027-A162-74549F0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CD11C-E4AE-47D4-B6E7-A9D66B6D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BF11D-3F9D-4964-8AFD-F41851E5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B27C5-B152-46D2-A45B-435FAE12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Spring Boot modular monolith, React portal, PostgreSQL, Redis, S3 storage, webhooks, and async reporting.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93D97-BF44-4289-9CD2-FBBCBB0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F3185-1063-4460-A654-FCD6CC7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D0F51-A597-4BAB-AEA2-1A9CD88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252A9-800F-4DB2-81F1-29409A5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D5C873-525A-4A37-BD9B-0F41C1E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54C51-0311-49AA-B686-8CCFAA2E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~100K loans/day, 1M+/month, and 10+ LSP tenants. Current high-volume readiness is about 32%.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F94FF-8602-4B7D-978A-48C45A1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CC697-833A-4F77-8831-9AE8BFB3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43C85-FE49-4CD9-922F-D2F84FDD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EBFBA-611D-47C6-B8B3-9CE591E2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91514-233E-4369-99F4-1C2939A3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Go-live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56858-29AF-492D-B814-66EC1B8E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flows exist, but real-bank volume needs money-path safety, observability, and performance isolation first.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3B7585-7905-4CAA-8B9E-28F7E44A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4419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2CA46-40A1-4B60-B2BE-C1D6A1C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3FE32-A598-42E7-ADB8-D46F33E7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CEO-level 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96445-A988-4B3A-9DF6-F06CAF2B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This is not a rebuild. It is a gated hardening program: protect funds movement, prove operations, then ramp partners.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78F4C8-ACBC-439B-BED2-EB985CE1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419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175B2-93A6-400F-90EC-1EB3993D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D07064-5095-4064-9CC4-481AAF5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Recommended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2C811-BDBE-43E8-A6AE-8486A9E3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Endorse P0 as the hard gate before live volume and confirm cloud/region plus recovery targets.</a:t>
            </a:r>
          </a:p>
        </p:txBody>
      </p:sp>
    </p:spTree>
    <p:extLst>
      <p:ext uri="{BB962C8B-B14F-4D97-AF65-F5344CB8AC3E}">
        <p14:creationId xmlns:p14="http://schemas.microsoft.com/office/powerpoint/2010/main" val="482026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b2f1a57934a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97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3f51605e5481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4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38297-2188-4602-834E-48B0E72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E4987-9EA9-487B-ADC3-6F1B4AB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Mainstream, hireable technologies with cloud-agnostic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F11C8-78EB-4EB5-B1F5-249D736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184BB-E9EC-404E-9E58-668AB3EC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1CC20-33A6-4750-A9E9-DCFDF3BF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C8792-4AAE-475E-9779-5F118CE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1E732-95DC-417C-BAFE-D430931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A1DD-0D72-48B8-B14E-5575E82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Java 21, Spring Boot 3.5, Spring Security, JPA, Flyway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E8436-2071-4933-A29C-E8500C54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618F8-C0C6-4B21-B50C-1881E059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AABF2-8055-406C-9FBD-70385601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98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React 19, Vite, TypeScript, Tailwind, shadcn/Radix, Recharts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3885-CCAB-45A5-99DE-F09A8CCF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330A5-A68F-4B41-A6B3-7E30978F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72A0E-8EA3-49C2-94FE-B13BE749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527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Row-Level Security, Redis, S3-compatible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B3EF0-AEBE-4C61-9CA9-089C7843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B822C-0216-4BCC-99D0-A1B6412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6796A-4031-4C73-86BB-C781F5C8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957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REST + JWT, OpenAPI generated types, HMAC webhooks, SMTP, bank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0218B-9117-45A2-98C9-704B755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A3B09-6636-4F6A-92C8-53AF97A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Testing and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BD1A7-B4A3-4AB2-A518-67C8486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JUnit, Testcontainers, ArchUnit, Vitest, Playwright, GitHub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7BBDB-EFAD-4779-B488-63D0409A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704FB-0A12-4DF1-9576-DEC3167C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5F522-2F58-4C09-88A4-BEDECC6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DEBE3-7FF4-4DB6-AB92-C02DF6D7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43E1D-7550-4560-96A8-1E8DE3C0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F8968-B5B8-4E7E-8FB2-60A505BC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Transaction-mode DB pooler. Mandatory because database connections bind before CPU.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8F69A-8F0C-4511-B213-F6E4A3C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F5790-D8DF-465C-BE66-871380A4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1CAA05-1444-417A-B2B2-41C671C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5774A-944B-428C-ADAC-CDFBA988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B7149-CC30-4CFD-8126-4E66995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57D71-BDB2-48F1-8C96-D1835E6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Prometheus, Grafana, structured logs, and alert fan-out for production operations.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D42DE8-BB3D-4E67-8FB9-38847FC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DFD3B7-9B69-4E3B-B8EF-14E4A4C0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1A113-3786-43E9-9A5D-4F91991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A6B43D-B548-4942-9BAB-98A8ED2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8949C2-AEC6-42B5-823A-FD1867E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9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8DEF9B-6903-489D-AADF-E382836D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Partitioning and retention for audit, idempotency, webhook, and payment growth.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63225A-9383-425A-9E6A-705A9CAF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C8DE77-CBD6-4A35-A2F1-8B85B33F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30E02-5DCE-4732-99E1-1273DF19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5B55B6-42E7-40E8-94C3-B39AAFDC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SEC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91AA62-64B7-4F71-9739-85AEABB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9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602D51-2FF6-40AA-8F8E-FA5CE57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 scanning, upload AV, and dependency/SAST checks in the pipeline.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E76569-87BC-4D27-96DD-7785599F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Design principle: the app depends on portable protocols: Kubernetes, PostgreSQL, Redis, S3 API, SMTP, Prometheus, and 12-factor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3144504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CF901-54ED-410F-B6D0-A27458BA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Deployment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88945-E937-4E6F-9EAB-FEC30AD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Controlled promotion from local development to production ramp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244CA-AF5F-4CAE-8363-2E636161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9C186-546B-4191-B907-A0EF4754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ACB11-63D8-4A77-B48F-667A6162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764BF-DD93-4EAE-9343-3D8A9EC4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DFBCE-7694-4A7E-908E-2B54C44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3DE3-5407-44D5-9543-D58B2738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6950B-8722-403C-94CC-F72AE751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F9D5C-3386-41AD-8C90-253B5022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2F224-E8F8-4D81-9AEB-46CC6434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Local full stack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engineer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710E0-CB93-4C76-BBDF-558E542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1D4CD-B1C7-48C0-9E10-3F343D94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B8FF6-7341-403F-962C-ED30FEED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3BCD9-D6AA-4022-BA29-7AE41A4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47151-39D7-411B-A777-F130309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2A561-7F5D-45D4-8A48-0E7940A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 /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E0A59-99CA-4C1C-B6A1-25501A82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and partner validation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acceptance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CC4E7-4CE3-46C3-8BB9-25BA697B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4FC65-1247-4638-A468-4B778C1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11B0A-4944-47F4-8503-9E4B3F71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AEE0C-5E6E-4C84-B16D-36ED1C53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24CF6-C29C-4262-9E9C-922E71A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7ADAB-4905-4349-86B3-40F269D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37C58-6712-4FB1-A715-1E51EF27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Prod-shaped topology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Load and noisy-neighbor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2668C-C6EB-4072-A153-3C1EA06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0E087-D015-4FD8-9C18-4D62F2E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D3E5F-79E0-4F34-98AF-438D8413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BC081-1C1A-4A8B-9706-21F81A35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C80B6-D6CE-4F2D-8F35-5FEED0A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75F9F-E485-4D3D-9F6F-90D84F3B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AD446-C4E0-4792-A690-46B8534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Multi-AZ, autoscaled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Controlled volume ramp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4E0BCA-0067-4B17-BD45-63538CFC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D48DA2-CC17-4D87-9840-5120067A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7E7C7-3EC7-417D-9033-4CAA1917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C60078-D031-4406-985A-54405F55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Green CI: tests, lint, typecheck, build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78DE82-DE26-4775-AEA1-327E033B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2FD2F-15C0-4B10-90DC-65FC59A9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EE7B7E-C138-437F-B29A-BE87F51D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42784-78AD-4F14-8E64-AB86B7C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UAT sign-off with at least one LSP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5E1277-CA2E-408C-A684-E2D100B6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35D12C-4EEA-484B-82FF-DEB5127F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667F9C-5E2E-4304-AAF1-306EB09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25032E-6DB2-42BC-BF65-C6CEC0E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Performance matrix and staging validation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0CFD98-1E29-43D5-9B40-58D47A02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4B9652-2F1E-4F48-9ACC-9441B28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F4E3E0-2B82-4D77-A6CF-59AD27F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8C6985-DE0F-4CAC-8AD2-2D6E1FF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 hardening cleared before live volume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BB51C5-1863-4AE3-A066-0259869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Database migrations run as a pre-deploy Flyway job using expand -&gt; migrate -&gt; contract so rolling deploys remain compatible.</a:t>
            </a:r>
          </a:p>
        </p:txBody>
      </p:sp>
    </p:spTree>
    <p:extLst>
      <p:ext uri="{BB962C8B-B14F-4D97-AF65-F5344CB8AC3E}">
        <p14:creationId xmlns:p14="http://schemas.microsoft.com/office/powerpoint/2010/main" val="662232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9D705D-0C55-4524-B56F-BA5958E6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Pipeline and Release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46E0C-4CB3-46E7-8C4E-2B71BD04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Every production change should be tested, traceable, reversible, and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EE5E6-CFD9-499F-A455-A17DA954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B6004-F18F-4C67-B5BB-0B9AEF66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E7DEA-9428-4031-AE54-C70BB8F6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77023-698D-4A75-859D-AFDA8D6B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372A8-F657-48CE-A55D-3C9739FB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6722A-AFFA-446E-9F89-CD8A095A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FF05A-3E4E-4E15-85FE-90DC3CEF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C5B82-D9FC-49A9-8DDE-4876224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29726-73D7-4B36-A89B-5A420142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E285C-D915-4ECA-9029-BE3A9FBC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1FECA-938E-4BBE-8FB5-31B8B8C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A29AF-BE8C-4BFE-8BAF-4907202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75559-ECBB-43AB-8BF2-82AF496A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904EB-2C93-4733-87DC-308497B0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08977-8188-4DFC-8781-84FFC73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875EF-2317-422D-8F91-34FFA61B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contract, scans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6F339-C677-4763-A900-122AF48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4901E-4869-4506-A4FE-58473642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D6F95-FD70-44AE-9420-5115836B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9BBEE-3448-4080-B1D5-2E50D53C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79494-C150-4817-BC92-94AB64BA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E07B3-D6B9-4DC8-9832-F622AE03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412BE-7AAA-4363-96B1-B5D1E1C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Container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7E782-1C15-4B9A-B110-07C7531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6D85D-BFE8-472F-9614-F648E08F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E7A872-6DE8-4DE0-88E1-BB0ADD22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E42D9-F74C-4BF8-8F86-457C1879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9F2B6-3BDB-4CB8-9DF7-C2D5D17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CF9D7-03C5-4555-A509-0554D777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77C75-E511-4635-8099-EDF6DA6F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and validate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489DD-1833-4643-A7E1-B1291DB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37AD07-6BEE-421D-A226-D8F60CBA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FFFB1C-9560-4632-BDAC-3BC9D2A0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E473C5-37B8-4A52-857B-F0C1419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AF9704-00E5-459E-ACF5-698557D8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E1F833-A644-4A20-904B-13221CAE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8610E2-0E4E-47D5-B600-6B1DE972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DevOps + risk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3866BB-132B-49CD-9EDE-2C60FE93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27745C-C872-4546-97DD-2DC01386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49131F-6866-4C90-8176-1F111C2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5719D5-0A0D-4A30-B0A3-0BBD576C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77BD49-253A-4387-A431-9D69F13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7C7B3F-C7FF-4694-A778-CFDFD0DC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1B0882-B335-42B3-929F-FC2855E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Rolling deploy or flag flip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6F8B0-D626-4153-83F4-E2E79E5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FFBE58-F792-42EA-8B47-79240282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D98F33-27A2-484A-A3E8-6FFD38F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69054F-0959-491A-BD45-BD9601B3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B2792D-2E55-4148-9054-0CA680FA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30DAF8-8020-4BA9-B02D-FB3A159E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Architecture or API contract change -&gt; ADR and sign-off. Behavior changes ship behind feature flags by default.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35FD9B-1364-4C02-B51A-9C5A1BF2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AD5A53-6594-4200-B89B-079B582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9E151F-5BA5-431A-86DB-0D94CCF7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C2D557-FB5E-49FF-98A2-CFB42AEF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RB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D2DA88-7BAC-4E56-A65E-0B6996DC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E2509C-A4E7-4D79-8980-39AE7BC2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Flag flip for behavior. Previous image for bad builds. Expand/contract schema keeps prior app compatible.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015D70-4924-40A9-87E6-A1C593A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F0C2C4-993A-481D-9EA4-DBA417CE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7B49F7-72EA-4B3B-971C-3E6C7A6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3D86DD-DC8D-498C-A5EC-AB3E558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6A366D-2997-42B1-AE8B-964EF0D0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43D562-C78D-4133-A2E7-95B3A319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Target state includes dependency scans, SAST, container scanning, signed images, and upload AV.</a:t>
            </a:r>
          </a:p>
        </p:txBody>
      </p:sp>
    </p:spTree>
    <p:extLst>
      <p:ext uri="{BB962C8B-B14F-4D97-AF65-F5344CB8AC3E}">
        <p14:creationId xmlns:p14="http://schemas.microsoft.com/office/powerpoint/2010/main" val="901009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835E1-1359-425A-810E-DBA59AE5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Operating Model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B1432-F610-4747-A7D6-B289A510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Clear accountability across build, test, support, infrastructure, governance,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3C97A-34A6-48C0-A635-62D25696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36E28-25D7-4B39-ABE4-2D6D44B9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FBA4B-AFD6-4DDF-AA9C-02DF1B75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BF063-5161-41AB-BBA0-6447C2B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BC02C-8CFD-4108-8ADC-F0E2552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83132-CEAA-4CB5-ADE6-E109046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BD9C3-9E0D-44DF-BC79-82DC830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74DF2-4824-4E8F-8DEA-3724A59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A1088-2CE4-45F6-BFD4-9E262662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/ Platform Engineering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Backend, frontend, domain rules, OpenAPI contracts, migrations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C5611-7AA9-47A8-A198-2205DDD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6BD18-D82E-47B9-A701-C3DDABD7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EBCE3-C673-4184-939A-0DC0DBA0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4C05B-A3C6-4EB4-8679-EF6AF81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47B45-5017-4210-8DAB-B4EE10AE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A5DF7-4759-4958-B926-914189B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 + Ops UAT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Unit, integration, e2e, partner validation, release acceptance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E168F-6F6D-4A50-A352-591825B9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40B0E-2CA1-48D5-911A-2C8FEE30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59331-5A75-4212-823D-644F3142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2EB9B-A492-4D61-8DD0-562872B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4B43C-1129-45B8-BEB9-A2112E49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ABB7D-0397-488B-9470-CF5CA1A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/ Support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Loan lifecycle tickets, LSP onboarding, alert triage, partner queries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8BE3F-39B2-409E-B698-432F6C6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6F878-0FFF-4D7A-A009-760AC47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4B574-8462-448D-AD19-BF0B93DD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A9CAC-8563-4470-AE9E-BDFC49B7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75EFA-62CB-435D-950F-F986F31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7E3E4B-5077-4AEB-9F0D-50D5AAC1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DevOps / SRE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Kubernetes, Helm, DB pooler, backups, scaling, DR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76BF0-489E-46EF-A0C4-B1523551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55A4A-6DD4-493A-B4F0-EA54D65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6591C-6AEC-46F3-B3A3-8A3D246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3E042-037E-40EA-99F7-2BFDB847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B695A-F552-473C-B63B-1FAAAE1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66C798-D341-4282-B086-BD78DE7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Architecture + DevOps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ADRs, change control, release approvals, roadmap gates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5C91C4-00E1-4383-84DD-6094A697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55623D-2FB7-4EDF-82D1-D751CF61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2E02F4-D35E-4B45-93A2-0B6E36CC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571E12-2164-4760-9626-DD97943D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B2BEDA-3E82-45FF-9DA5-DE8C4FC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5F0C8E-CD98-40DD-B62A-CABC37E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/ Compliance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Secrets, RBAC policy, audit, data residency, incident response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15C58E-CD80-4AFE-A81B-559CD56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D1659D-652D-4B5B-9612-D97E48F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D7226C-C735-468E-B145-EFD115E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Access principle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01D6A0-2F0F-44A7-A74F-43C4A99B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Least privilege by default; elevated production access is time-boxed and audited.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8263A1-AD42-42CB-BF47-838BF5EE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073515-E272-4D87-95C2-78BD2C2C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064FFE-1058-40B1-992E-6EFB0FC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91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Open operating item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9C0970-310A-4D43-AFE3-B868E11D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RACI and worker-tier on-call ownership need closure before ramp.</a:t>
            </a:r>
          </a:p>
        </p:txBody>
      </p:sp>
    </p:spTree>
    <p:extLst>
      <p:ext uri="{BB962C8B-B14F-4D97-AF65-F5344CB8AC3E}">
        <p14:creationId xmlns:p14="http://schemas.microsoft.com/office/powerpoint/2010/main" val="9443472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B3EC0-C17E-4AEB-9C51-C32FCB60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Model: Permissions and Tenant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ABDD3-FB69-4E22-8EC3-A6D0B375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Fail closed, prove tenant scope, then allow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98836-5D76-446B-AA08-5754D16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C3D9A-6756-4959-B541-A7815EEA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32633-8A18-4808-A386-F90CE47A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F2DEB-574B-474F-9C8A-93F3F6B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1C46B-DFC2-4ED5-95C2-7B06060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4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C1831-4E29-4724-B9B0-4E1CA3A8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04881-0D9E-4543-B9E1-65B9E07F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33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Authenticated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9C991-7A0E-414D-8C51-845148E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JWT for users and API clients; token versions enable instant revocation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4F60D-308E-4AC0-BAD5-3ACA826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2BBBA-DE5C-4A39-A5F7-1FB9C57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F1A74-AFB1-4C35-A192-1A4C977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C85C2-8A0A-4FCF-86D1-DB08CE05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52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Role and permission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2B3C8-2BA6-4086-94D4-C2DFE77F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SYSTEM_ADMIN, OPS_USER, PRODUCT_ADMIN, LSP_UI_READ/WRITE, LSP_API_CLIENT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34E8D-35AA-44A8-8811-B3BE377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C5CBD-9222-4B52-8EA4-7F161A4C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CD14D-A5B3-4BC2-8AD3-0EA66BE6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C889A-CF27-467F-B6A7-3E04BFEA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71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Tenant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EC39D-12B6-4FA5-8DC7-BA4A7B3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users and machines see only their tenant; internal roles can see all LSPs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490EC-B9F6-413B-A404-F9F8D3F2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2357C-4C27-4ECD-B265-61E6C949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C200D-A58B-457A-A36A-918F60D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E8AB7-80FE-4E6A-9F1E-1BF9487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909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Database enforcement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D68A2-EAE3-40B9-9FB2-954E31D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 RLS, tenant DB role, and fail-closed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848AE-0824-4AB1-AC55-90BA85F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34661-AE6E-427E-98A4-0F7991A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851EB-146B-4309-9EA3-81C4C78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E0467-07CE-426F-9D6D-2ED438D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0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Operational guardrails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24618-9DBA-4360-8718-2AC0279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IP allowlists, rate limits, audit events, and correlation IDs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7B9EB-D1F6-4F5E-B13E-F31AD309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1847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88C1E-62FB-4646-A0F0-BABD24D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CD3C12-266F-42BF-8E28-261A9D5A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8D8622-3C57-496A-B204-0FA0CAE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F3F66-7154-4276-A465-1EEB1170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Strong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D4BA70-5FAD-463D-BB24-5D47E105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Tenant data isolation is designed around RLS and fail-closed scoping.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FCC67-EEE1-42D7-91C4-4F38BB0D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18478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287B91-0070-4366-A771-87AD30C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F4A626-C0BA-40EA-8020-156B3BA7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C6F4C5-1969-4CC6-B4E9-1A1BA57D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3A283-F772-4639-A7E0-2E1113DE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Open gaps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39460B-572B-4920-8114-FFF75008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PII masking, API-client lockout, CORS config, and upload AV.</a:t>
            </a:r>
          </a:p>
        </p:txBody>
      </p:sp>
    </p:spTree>
    <p:extLst>
      <p:ext uri="{BB962C8B-B14F-4D97-AF65-F5344CB8AC3E}">
        <p14:creationId xmlns:p14="http://schemas.microsoft.com/office/powerpoint/2010/main" val="1050465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225F9-37B3-48BA-94EF-7D00EB0A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Model: Environments, Secrets, and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98534-9A5C-4DE2-8298-30AFB1FA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Production is separated by network, credentials, approvals, and 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E24C2-2BB6-44DC-992E-08B6FC9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C1DBD-6FBE-4FAD-97E4-C553B2B1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7D30B-E131-4CDA-B137-6BDAB3C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3BA66-A6F5-4DFF-9FBD-E96C9E3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D8BBF-EE2E-4F8C-8DE8-109E16C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300C8-C1C3-42A8-A98D-3A2CD376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8402E-EE1A-4B58-ACFC-F2FE1D5D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0DA54-DB85-4988-8300-A2685A54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DC4DF-0FF9-4A6B-B85B-5673468F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Local data, local services, no production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85192-7DB4-4BAB-A4B6-34E31B7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72359-5BB8-465B-98F9-7F946D3A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E1700-2278-45D9-B097-9A2E6A0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E1FDC-0749-45D0-9EF9-93F6294C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ED1BD-2CEC-46CA-9293-33F99EA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C8B9E-57B5-42FB-BB08-8DEBE54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 /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58808-BEDD-429F-962F-B95FD7E0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Synthetic or approved test data, partner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0ADC2-AFDA-4497-B3A7-84F2C732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F42BF-330C-4A9F-B244-DBB18BFC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2515C-C8E3-4BE7-A582-E6FF5E9A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3671C-D092-479C-8A5A-210919C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E14BE-F276-4C84-A301-C815768B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8AFA8-1622-44E6-8E6F-C2ED2DF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F2576-76EA-4A3D-A642-5F609AF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Prod-shaped, small scale, load tests, no live borrowers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4AB66-A598-4491-8F80-E97B88B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61E72-1338-4C3D-B55C-9ABE2FC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174A0-0C67-4F67-91C2-7498C1DE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25678-671B-4EFA-8443-0AF1010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8906B-6038-4EBA-B8FE-B2A78617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16A100-50CF-49AC-9B9E-A5DEF508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611E3-83B1-4B27-8C6F-57F06F54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Private networks, managed secrets, audited access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9B448-3800-4994-B3D5-A8F6637E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A03A72-120D-4ACA-B093-10E83433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EAA21-B4FC-4ABB-B025-112932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AF608C-1EB9-4FA1-AF0A-A83C8D97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1B6C1F-87C1-4A0C-8B7F-60E88A8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Secrets and config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BCFA0E-B022-4B03-BCA4-A222682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12-factor env injection from provider secret store. No secrets in images. Startup blocks placeholder secrets outside local/test.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46C57-02E2-448D-B346-2614621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8504D6-6280-4252-85E9-48FD802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6D7296-7B76-4494-B5F1-5012A495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A96847-ACA7-477B-B338-28C0FFA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NET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228CC6-F88F-4E85-9E17-EB77E097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Network controls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BFE8C-109E-4104-97D9-3253D080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TLS at the edge. Database, Redis, and storage remain private. WAF and coarse edge rate limits add defense in depth.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1EA5AE-9D79-4EBB-8E42-3A061775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C24817-7863-4F1C-AF3E-2B4596E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8CBADA-E844-4BE6-9C8F-493E25E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450A2F-A725-4474-904F-0B32BAE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8933EC-2D89-4449-A523-48CAD3B6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Pipeline security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68188B-9388-4F6D-9726-B8A4D3F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Target state: scan dependencies, source, containers, and partner uploads. Sign images and use private registries.</a:t>
            </a:r>
          </a:p>
        </p:txBody>
      </p:sp>
    </p:spTree>
    <p:extLst>
      <p:ext uri="{BB962C8B-B14F-4D97-AF65-F5344CB8AC3E}">
        <p14:creationId xmlns:p14="http://schemas.microsoft.com/office/powerpoint/2010/main" val="548144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EA1FB1-9611-4C5B-818A-3E6DE4B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Roadmap Timeline: Gated Path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8E369-0B82-4875-BC3A-8AA86327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Relative timing is shown because source docs do not commit calendar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3E85A-78C2-48AC-8CE3-8364A332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5BBE6-DE1A-4EE0-BA76-40F50883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697DF-D4D8-4ED2-85B7-AF5A527A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9D589-9EBE-4CBD-B4F6-703B7CC6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002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0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F131D-78D0-43BF-BDD4-89DF0429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C36B-EA5A-4804-A755-F78915B1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F6D71-CF5D-4EAA-AC5B-C8AF19D2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FF895-532D-4FDD-B94C-E6027DD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422CD-935E-4653-81A5-B863494F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15EA6-F13C-405C-BDF3-2BCF6BF0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Functionally 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Auth, tenancy, products, lifecycle, servicing, webhooks, MIS,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DDAD0-2193-4623-97E3-20360251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BC9ED-60B5-459A-A599-5C30B28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B982E-6F3D-4CF8-8195-6B2336B2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DB9DB-DC59-4A34-9ED5-6128B57D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9EA24-F416-4A2B-AA1D-8B400BE7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0-2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B8D49-D0EA-4A80-98CB-8A8DE8F4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 production blockers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DB pooler, money-path safety, payment correctness, worker split, 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403EF-468C-4D47-A9DA-46E57D48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7A393-0F80-4CD2-BAF2-07FDB4B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66F0A-C431-4CBD-9590-7FD8E02F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F3FD6-608A-4DFD-8A51-249138B5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4823A-51B2-4F25-990F-C98D302D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2-4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2C4EE-D891-47D0-AF7D-DB0FC66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P1 scale readiness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Reporting stream, audit retention, partitioning, webhooks, security gaps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2A797-5768-4F72-9451-3E3EA38B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48168-4B35-497C-81DB-E488CE7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87E625-7DAF-432E-9A5A-27E45585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EB382B-721B-42BF-A3CF-55B0847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865DF-7947-473D-9B77-AE1D172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4-6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7F217-29CE-43B8-92B9-463A764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P2 operating maturity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dashboards, staging test bed, automation, cleanup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544BD-6938-4CC9-8AD7-62ABF149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097D06-6CD2-4E4C-A92F-7FB4C73E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114A4-5DAD-409E-AFEB-947F643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DBE0A6-F42B-4EF6-B5E5-27D6BD54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56F1EF-2758-45CA-9974-B0E5170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EA712-30F4-4831-87F9-3F5B987A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+ production ramp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ICICI integration, perf matrix, target readiness &gt;=85%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F42CBA-8077-4E43-A167-57D51254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2F665F-E0BB-4729-9357-BB0DA6E0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E8315E-B273-4007-9832-852CC08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go-live condition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287909-5FFD-4A31-9431-DB21E66B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Real ICICI starts only after P0 money-path controls and contract tests.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FF0920-99BC-483D-8EC7-4F26AEF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167E9-476E-41FA-9EC6-928C994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54DE50-F47F-4432-A98D-EB339F7E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 ramp condition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DEE1BD-25DF-4BF3-B2B3-4AD435F9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Ramp after staging performance passes and readiness reaches target &gt;=85%.</a:t>
            </a:r>
          </a:p>
        </p:txBody>
      </p:sp>
    </p:spTree>
    <p:extLst>
      <p:ext uri="{BB962C8B-B14F-4D97-AF65-F5344CB8AC3E}">
        <p14:creationId xmlns:p14="http://schemas.microsoft.com/office/powerpoint/2010/main" val="692437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89920-A896-41CB-B778-3E49FACF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Future Challenges and Mitigations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402B3-832F-4627-92B4-7A9000E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main risks are known, bounded, and roadmap-backed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E756-0D22-4358-8A20-69AD6E45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99799-7BB5-477F-90D4-36498AA1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93602-EF9D-445F-9BC0-7C7E3F50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EA58E-07B5-4E7D-9620-F96D1DE1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E40F1-EF14-46A1-BAED-50D87CAA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580D5-09D4-4717-B338-813FA198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568A7-37A1-4F54-900C-BCFDBE19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7EEC1-CFE8-4C0E-8B10-670FA3A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92BBB-3DEB-45CA-98D3-AD45E72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Database connections bind first. Monolith maintainability and real-bank integration require disciplined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FC53A-6C27-490C-BD6C-C8BC153A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2681-AF52-40C6-81D8-92EC82C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26709-565C-437A-8B7A-1A59A9E8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93570-4BE9-4FEB-A119-854ACA1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7966E-B759-4D14-A3C2-EFCE8223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555F2-019E-4594-82C9-7973B341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Worker on-call, alert delivery, runbooks, DR drills, and incident response need formal ownership.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4624B-FF7F-42A4-9825-67ADC47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5ED25-B87B-4875-A547-E1BE82B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7E41A-5DDF-4F45-8B82-E122BDE5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BC4E3-F7C1-4E68-B70F-8EB390E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FD20D-A1C7-4159-ABC0-81C06A2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755D9-35C2-4BD1-9957-FD4FDCC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idempotency, webhook, payment, and reporting tables will grow fast at 100K loans/day.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1744D-B092-4477-8566-8BDD9909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F699B-E54C-42A5-810D-00C372D2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D09AE-4C9A-4832-8381-BBD2A17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75C44-97DE-4F65-BC1F-39A9B20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BIZ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92251-49E2-4CD0-B8E5-94CB4AB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FCC88-98A4-4361-A4BC-A0305F97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API-only origination shifts partner errors into support. Compliance and data residency must stay ahead of growth.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5492C-374A-4C96-82FC-49B5FCF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Mitigation themes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3EE4C-DA9B-4B76-A643-5EFA1244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AAB0DB-BDF2-4599-9252-0CBE49BA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Pooler + worker split  |  P0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B917C7-2CCA-44EF-B030-246DD01D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1293C5-82C0-444D-9520-B0317951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Metrics + alert fan-out  |  P0/P1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03020-8C19-4D08-9B0D-D020B5C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7A4A7-0B5E-4405-B5D6-EF6402E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Partitioning + retention  |  P1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FCC312-F6F8-4AE3-916A-41337BA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9B9A86-65FD-402F-8269-BFCA2766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Partner sandbox + clear contracts  |  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814D8D-5DCB-4035-A132-3B519071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8D6A00-7695-464E-A716-B6EF00E3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PII masking + audit controls  |  P0/P1</a:t>
            </a:r>
          </a:p>
        </p:txBody>
      </p:sp>
    </p:spTree>
    <p:extLst>
      <p:ext uri="{BB962C8B-B14F-4D97-AF65-F5344CB8AC3E}">
        <p14:creationId xmlns:p14="http://schemas.microsoft.com/office/powerpoint/2010/main" val="1395096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F497B-BB73-43C1-96B8-6BC13F5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Recommendation and Executive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B2E1B-CE71-4A31-A3EB-8251371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small set of decisions unlocks a controlled production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38C7E-D7DF-4AAB-B9DA-1C82BEB0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C255A-E4D3-4D85-A8E7-EDC432AC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1B32A-FE65-4F62-9568-EB2148E1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496D4-E7CA-4F71-B517-A04AE0DF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55238-8E4C-47E1-8563-1B8107E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796AE-A717-4BC9-B43F-8A1AFF0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0CDF3-57F0-46F3-95A7-87008ED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53F1C-5691-4183-91E6-0E203A48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1. Endorse the P0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CB350-7AB6-4FC9-912B-D66F4CC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 not onboard live volume until money-path safety, pool sizing, worker split, dashboard snapshots, and observability are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50CDB-6C42-4FE0-9B6B-4F78D21C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79059-BE48-4200-9AE9-A764CBF6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09597-223E-4C84-986A-3F9104ED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2CF14-6700-4B0F-B188-BDA30F4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E3E28-A045-4C63-A70F-60A96E1F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2. Confirm production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83C14-8A4A-49AA-807D-17B0B9B6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Choose target cloud/region with India data residency. Confirm RPO/RTO so infrastructure and DR drills are testable.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A944C-1911-4656-8649-E8F4A2A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869E8-DD0D-4170-9F4C-CF6EE01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5DCE1-2A57-4AEE-9FBA-178FB5BA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F6AAA-748E-4A00-A31F-117BE290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8C88D-A23E-45ED-B917-75F83A88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3. Authorize bank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DEF0D-5B99-43B6-95E4-A3E0A0F0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Start real ICICI integration only behind P0 safety controls and contract/reconciliation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C41AB-CFBA-4EE4-9DF4-DBA8E32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876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75D68-AE04-4BD0-8314-F0D7CE5B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D1526-1767-4B26-8C9B-327345E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243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Next 90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FD5A8-B061-4013-8ACF-7D67AD8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834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Close production blockers, stand up staging validation, define RACI/on-call, complete security quick wins, then run the performance matrix for go/no-go.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907BC-7B31-4AB6-A049-EDC1E071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Outcome: a portable, auditable, multi-tenant lending platform ready to ramp partners with controlled risk.</a:t>
            </a:r>
          </a:p>
        </p:txBody>
      </p:sp>
    </p:spTree>
    <p:extLst>
      <p:ext uri="{BB962C8B-B14F-4D97-AF65-F5344CB8AC3E}">
        <p14:creationId xmlns:p14="http://schemas.microsoft.com/office/powerpoint/2010/main" val="18663306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4404B-AB70-47BF-91C2-AA073EF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Appendix: Source-Backed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EBD83-266B-46FC-BB31-D5595388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Reference facts behind the executive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528D1-375B-4E18-98DD-CF210846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5E35E-F937-42E6-85DA-8375770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6792E-F448-447F-9FD2-6BF5152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F0C88-1256-4EEC-922B-3AF2A5F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A1218-96B3-4E4A-9B60-CC854E37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F1248-C1EC-4770-A394-E74299E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383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Target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D4BB9-E0D8-474B-847E-F3AC8831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~100K loans/day, ~1M+/month, 10+ LSP tenants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039CF-3E0D-4143-82E6-8BFDF477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C89FD-58CC-4447-88BD-ED921CA0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8A316-6701-4083-9907-FC6F9034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C7BE4-EA33-496E-A396-0EC269C6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Spring Boot modular monolith + React SPA; PostgreSQL with RLS; Redis; S3-compatible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8B9F8-F6E1-44F1-A8A8-95AC8E3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C0266-32D1-4224-A464-0C0B726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43274-CE67-4F3D-B185-490E6EC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DCC73-9A8A-45F3-8EBE-89A779E6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Outbound HMAC webhooks, SMTP, bank adapter; ICICI is the target real-bank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93976-F09A-495F-A8B6-C63C0DBD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907A8-4363-43C5-8416-FB491515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CC3A9-95D6-43C0-AF6B-B2F9726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38C5F-6A31-406F-A61B-E537670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62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Portfolio MIS is async: request, queue, generate CSV, store, notify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4C805-53AD-4A49-9A2B-6B07E60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B1F37-71E5-44EB-8AB9-1E0DC781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BC896-EEFB-40E5-9D58-5B1EDE7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8C0A6-2AA5-46B7-AAD6-B48BA2A7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About 32% high-volume readiness; validation target &gt;=85% before ramp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DADCD-7786-4D16-A523-6E4B85C8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7A658-5CD3-451C-A62F-1D62762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0BE74D-6A72-4B7A-9A03-F8523EB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D55C1-C9BE-4EA6-9C6B-C00501E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Strong tenant-isolation foundation; open gaps include PII masking, API-client lockout, upload AV, CORS externalization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6FF886-2B09-45C5-B738-92300615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Primary sources: graphify-out/GRAPH_REPORT.md; architecture package; deployment strategy; LMS blueprint; implementation roadmap; security audit; backend/frontend build files; CI and infra configs.</a:t>
            </a:r>
          </a:p>
        </p:txBody>
      </p:sp>
    </p:spTree>
    <p:extLst>
      <p:ext uri="{BB962C8B-B14F-4D97-AF65-F5344CB8AC3E}">
        <p14:creationId xmlns:p14="http://schemas.microsoft.com/office/powerpoint/2010/main" val="808313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2026-06-19T11:27:49.7680000Z</dcterms:created>
  <dcterms:modified xsi:type="dcterms:W3CDTF">2026-06-19T11:27:49.7680000Z</dcterms:modified>
</coreProperties>
</file>