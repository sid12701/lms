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3" r:id="rId8"/>
    <p:sldId id="264" r:id="rId9"/>
    <p:sldId id="266" r:id="rId10"/>
    <p:sldId id="270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Not immediate. Before first LSP go-live: vendor selection &amp; fit-gap, security sign-off, signed contract (note 36-month lock-in on one bid), integration build (LSP channels, email, PG/DWH), then UAT / pilot.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Where We 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status of the two options we are evaluating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1417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0352" y="1508760"/>
            <a:ext cx="118872" cy="1938527"/>
          </a:xfrm>
          <a:prstGeom prst="rect">
            <a:avLst/>
          </a:prstGeom>
          <a:solidFill>
            <a:srgbClr val="B57309"/>
          </a:solidFill>
          <a:ln w="9525">
            <a:solidFill>
              <a:srgbClr val="B5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1545336"/>
            <a:ext cx="283464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1755648"/>
            <a:ext cx="2926080" cy="36576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In-house build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" y="2167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FBE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" y="2167128"/>
            <a:ext cx="2788920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000" b="1" u="none">
                <a:solidFill>
                  <a:srgbClr val="B57309"/>
                </a:solidFill>
                <a:latin typeface="Aptos"/>
              </a:rPr>
              <a:t>Prototype built · production infra 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2642616"/>
            <a:ext cx="2834640" cy="18288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2807208"/>
            <a:ext cx="2834640" cy="256032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500" b="1" u="none">
                <a:solidFill>
                  <a:srgbClr val="B57309"/>
                </a:solidFill>
                <a:latin typeface="Aptos Display"/>
              </a:rPr>
              <a:t>≈ 5–8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3090672"/>
            <a:ext cx="2880360" cy="38404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build: infra, Entra/SDLC, audit, CI/CD, pilot → scale.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1563624"/>
            <a:ext cx="3611880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What we have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1874519"/>
            <a:ext cx="3611880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Prototype built covering all current Bhawana business requirements — validation, approval, data capture, workflow.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Demonstrated end-to-end for the current process.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1563624"/>
            <a:ext cx="3584448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D92D20"/>
                </a:solidFill>
                <a:latin typeface="Aptos"/>
              </a:rPr>
              <a:t>What's missing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1874519"/>
            <a:ext cx="3584448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production infrastructure — no Azure India subscription, no deployment.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proven HA/DR, monitoring, support model, or security certification.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3703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0352" y="3794759"/>
            <a:ext cx="118872" cy="1938527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7" y="3831335"/>
            <a:ext cx="283464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4041648"/>
            <a:ext cx="2926080" cy="36576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Vendor (Buy)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" y="4453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4453128"/>
            <a:ext cx="2788920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000" b="1" u="none">
                <a:solidFill>
                  <a:srgbClr val="104EA8"/>
                </a:solidFill>
                <a:latin typeface="Aptos"/>
              </a:rPr>
              <a:t>Vendor RFP &amp; analysis in progress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" y="4928616"/>
            <a:ext cx="2834640" cy="18288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5093208"/>
            <a:ext cx="2834640" cy="256032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500" b="1" u="none">
                <a:solidFill>
                  <a:srgbClr val="1769E0"/>
                </a:solidFill>
                <a:latin typeface="Aptos Display"/>
              </a:rPr>
              <a:t>≈ 4–6 months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5376672"/>
            <a:ext cx="2880360" cy="38404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buy: procurement/legal, security sign-off, integration, UAT.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3849624"/>
            <a:ext cx="3611880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Where it stands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160520"/>
            <a:ext cx="3611880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Vendor RFPs ongoing; live proposals already received.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Solutions with genuine potential and functional fit identified.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3849624"/>
            <a:ext cx="3584448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B57309"/>
                </a:solidFill>
                <a:latin typeface="Aptos"/>
              </a:rPr>
              <a:t>Still in progress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160520"/>
            <a:ext cx="3584448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Security, integration, data-governance and commercial assessment underway.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vendor selected or contract signed yet.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864" y="5961888"/>
            <a:ext cx="9793224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50" b="1" u="none">
                <a:solidFill>
                  <a:srgbClr val="0B1F45"/>
                </a:solidFill>
                <a:latin typeface="Aptos"/>
              </a:rPr>
              <a:t>Where we are: in-house proves the requirements but needs infra (≈ 5–8 mo); the vendor route is faster to features but gated by legal and integration (≈ 4–6 mo).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SECTION · OPTION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l"/>
            <a:r>
              <a:rPr sz="4000" b="1" u="none">
                <a:solidFill>
                  <a:srgbClr val="FFFFFF"/>
                </a:solidFill>
                <a:latin typeface="Aptos Display"/>
              </a:rPr>
              <a:t>Option A — In-house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600" b="0" u="none">
                <a:solidFill>
                  <a:srgbClr val="D7E8FF"/>
                </a:solidFill>
                <a:latin typeface="Aptos"/>
              </a:rPr>
              <a:t>Build path: the current prototype, and what it takes to make it a production-ready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50" b="0" u="none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43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u="none">
                <a:solidFill>
                  <a:srgbClr val="0B1F45"/>
                </a:solidFill>
                <a:latin typeface="Aptos Display"/>
              </a:rPr>
              <a:t>Governance and Operational Model for </a:t>
            </a:r>
            <a:r>
              <a:rPr sz="2625" b="1" u="sng">
                <a:solidFill>
                  <a:srgbClr val="0B1F45"/>
                </a:solidFill>
                <a:latin typeface="Aptos Display"/>
              </a:rPr>
              <a:t>in-house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 + Platform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 + 24/7 On call support of MITL Platform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Analysis, Development, Testing, Support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5943600"/>
            <a:ext cx="103632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Re-use strong governance principles of the group and build ownership for the solution in India – </a:t>
            </a:r>
            <a:r>
              <a:rPr sz="127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scale up to team of 4 IT People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ABFA692D-16A1-A6A8-B4A7-F04824767969}"/>
              </a:ext>
            </a:extLst>
          </p:cNvPr>
          <p:cNvSpPr txBox="1"/>
          <p:nvPr/>
        </p:nvSpPr>
        <p:spPr>
          <a:xfrm>
            <a:off x="533400" y="342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75" b="1">
                <a:solidFill>
                  <a:srgbClr val="0B1F45"/>
                </a:solidFill>
                <a:latin typeface="Aptos Display" panose="020B0004020202020204" pitchFamily="34" charset="0"/>
              </a:rPr>
              <a:t>Build Option: Gated Roadmap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60154B-5A1D-017B-02E6-ABB1AA192C96}"/>
              </a:ext>
            </a:extLst>
          </p:cNvPr>
          <p:cNvSpPr txBox="1"/>
          <p:nvPr/>
        </p:nvSpPr>
        <p:spPr>
          <a:xfrm>
            <a:off x="552450" y="81915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B6B7E"/>
                </a:solidFill>
                <a:latin typeface="Aptos" panose="020B0004020202020204" pitchFamily="34" charset="0"/>
              </a:rPr>
              <a:t>The current prototype is the starting evidence, not the production end state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F19F72-25A4-673C-C859-4FD3E329F032}"/>
              </a:ext>
            </a:extLst>
          </p:cNvPr>
          <p:cNvSpPr/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58320-02D3-EF72-5CA5-46A7AB088B0B}"/>
              </a:ext>
            </a:extLst>
          </p:cNvPr>
          <p:cNvSpPr txBox="1"/>
          <p:nvPr/>
        </p:nvSpPr>
        <p:spPr>
          <a:xfrm>
            <a:off x="533400" y="6496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5B6B7E"/>
                </a:solidFill>
                <a:latin typeface="Aptos" panose="020B0004020202020204" pitchFamily="34" charset="0"/>
              </a:rPr>
              <a:t>Bhawana Capital | LMS platform decision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6E7356-5489-54BB-CB53-168CF8E0FB10}"/>
              </a:ext>
            </a:extLst>
          </p:cNvPr>
          <p:cNvSpPr txBox="1"/>
          <p:nvPr/>
        </p:nvSpPr>
        <p:spPr>
          <a:xfrm>
            <a:off x="113157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1769E0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40F079A-60ED-C4D6-5AD8-467EE90CBA7E}"/>
              </a:ext>
            </a:extLst>
          </p:cNvPr>
          <p:cNvSpPr/>
          <p:nvPr/>
        </p:nvSpPr>
        <p:spPr>
          <a:xfrm>
            <a:off x="875996" y="1409700"/>
            <a:ext cx="4972507" cy="1320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349049-1F8E-14C2-A3C9-E2365A32C890}"/>
              </a:ext>
            </a:extLst>
          </p:cNvPr>
          <p:cNvSpPr/>
          <p:nvPr/>
        </p:nvSpPr>
        <p:spPr>
          <a:xfrm>
            <a:off x="875996" y="1409700"/>
            <a:ext cx="57150" cy="13208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846DC4-45C1-8661-9BBD-1CC91473E77E}"/>
              </a:ext>
            </a:extLst>
          </p:cNvPr>
          <p:cNvSpPr txBox="1"/>
          <p:nvPr/>
        </p:nvSpPr>
        <p:spPr>
          <a:xfrm>
            <a:off x="1155396" y="16383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0B1F45"/>
                </a:solidFill>
                <a:latin typeface="Aptos" panose="020B0004020202020204" pitchFamily="34" charset="0"/>
              </a:rPr>
              <a:t>Hard gate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2EF4B6-9B5C-EFB1-F8BC-7439594CAB1A}"/>
              </a:ext>
            </a:extLst>
          </p:cNvPr>
          <p:cNvSpPr txBox="1"/>
          <p:nvPr/>
        </p:nvSpPr>
        <p:spPr>
          <a:xfrm>
            <a:off x="1155396" y="20955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17324D"/>
                </a:solidFill>
                <a:latin typeface="Aptos" panose="020B0004020202020204" pitchFamily="34" charset="0"/>
              </a:rPr>
              <a:t>No production LSP migration until ownership, security, audit, infrastructure, and manual exception operations are proven.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F75BC29-B2BB-3782-3F65-F0C392DC5E4B}"/>
              </a:ext>
            </a:extLst>
          </p:cNvPr>
          <p:cNvSpPr/>
          <p:nvPr/>
        </p:nvSpPr>
        <p:spPr>
          <a:xfrm>
            <a:off x="6366968" y="1409700"/>
            <a:ext cx="4972507" cy="1320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57AC49-ABCA-CCA7-E5EB-1AF2BFB7E67A}"/>
              </a:ext>
            </a:extLst>
          </p:cNvPr>
          <p:cNvSpPr/>
          <p:nvPr/>
        </p:nvSpPr>
        <p:spPr>
          <a:xfrm>
            <a:off x="6366968" y="1409700"/>
            <a:ext cx="57150" cy="13208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B34E34-9524-75DE-AE3B-049F3A72CA27}"/>
              </a:ext>
            </a:extLst>
          </p:cNvPr>
          <p:cNvSpPr txBox="1"/>
          <p:nvPr/>
        </p:nvSpPr>
        <p:spPr>
          <a:xfrm>
            <a:off x="6646368" y="16383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0B1F45"/>
                </a:solidFill>
                <a:latin typeface="Aptos" panose="020B0004020202020204" pitchFamily="34" charset="0"/>
              </a:rPr>
              <a:t>LSP value proof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2F40E0-6C0F-4773-8653-9E50112BF857}"/>
              </a:ext>
            </a:extLst>
          </p:cNvPr>
          <p:cNvSpPr txBox="1"/>
          <p:nvPr/>
        </p:nvSpPr>
        <p:spPr>
          <a:xfrm>
            <a:off x="6646368" y="20955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17324D"/>
                </a:solidFill>
                <a:latin typeface="Aptos" panose="020B0004020202020204" pitchFamily="34" charset="0"/>
              </a:rPr>
              <a:t>Pilot must prove the platform is easier for LSPs than email and manual follow-up.</a:t>
            </a:r>
          </a:p>
        </p:txBody>
      </p:sp>
      <p:sp>
        <p:nvSpPr>
          <p:cNvPr id="400" name="S9_400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875995" y="3337560"/>
            <a:ext cx="227228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1" name="S9_401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1028700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2" name="S9_402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1028700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3" name="S9_403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401750" y="3536569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0–1 month</a:t>
            </a:r>
          </a:p>
        </p:txBody>
      </p:sp>
      <p:sp>
        <p:nvSpPr>
          <p:cNvPr id="404" name="S9_404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1047902" y="3922776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B1F45"/>
                </a:solidFill>
                <a:latin typeface="Aptos"/>
              </a:rPr>
              <a:t>Decision and scope</a:t>
            </a:r>
          </a:p>
          <a:p>
            <a:r>
              <a:rPr sz="1050" b="0" dirty="0">
                <a:solidFill>
                  <a:srgbClr val="17324D"/>
                </a:solidFill>
                <a:latin typeface="Aptos"/>
              </a:rPr>
              <a:t>Confirm owner, target process, and LSP value case.</a:t>
            </a:r>
          </a:p>
        </p:txBody>
      </p:sp>
      <p:sp>
        <p:nvSpPr>
          <p:cNvPr id="405" name="S9_405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3605479" y="3337560"/>
            <a:ext cx="227228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6" name="S9_406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758184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7" name="S9_407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758184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08" name="S9_408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4123943" y="3551739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1–3 months</a:t>
            </a:r>
          </a:p>
        </p:txBody>
      </p:sp>
      <p:sp>
        <p:nvSpPr>
          <p:cNvPr id="409" name="S9_409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777386" y="3922776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B1F45"/>
                </a:solidFill>
                <a:latin typeface="Aptos"/>
              </a:rPr>
              <a:t>MVP hardening</a:t>
            </a:r>
          </a:p>
          <a:p>
            <a:r>
              <a:rPr sz="1050" b="0" dirty="0">
                <a:solidFill>
                  <a:srgbClr val="17324D"/>
                </a:solidFill>
                <a:latin typeface="Aptos"/>
              </a:rPr>
              <a:t>Azure, </a:t>
            </a:r>
            <a:r>
              <a:rPr sz="1050" b="0" dirty="0" err="1">
                <a:solidFill>
                  <a:srgbClr val="17324D"/>
                </a:solidFill>
                <a:latin typeface="Aptos"/>
              </a:rPr>
              <a:t>Entra</a:t>
            </a:r>
            <a:r>
              <a:rPr sz="1050" b="0" dirty="0">
                <a:solidFill>
                  <a:srgbClr val="17324D"/>
                </a:solidFill>
                <a:latin typeface="Aptos"/>
              </a:rPr>
              <a:t> ID, audit, GitHub CI/CD, SDLC.</a:t>
            </a:r>
          </a:p>
        </p:txBody>
      </p:sp>
      <p:sp>
        <p:nvSpPr>
          <p:cNvPr id="410" name="S9_410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6334963" y="3337560"/>
            <a:ext cx="227228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1" name="S9_411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6487668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2" name="S9_412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6487668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3" name="S9_413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6873413" y="3545262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3–5 months</a:t>
            </a:r>
          </a:p>
        </p:txBody>
      </p:sp>
      <p:sp>
        <p:nvSpPr>
          <p:cNvPr id="414" name="S9_414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6506870" y="3922776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B1F45"/>
                </a:solidFill>
                <a:latin typeface="Aptos"/>
              </a:rPr>
              <a:t>Pilot</a:t>
            </a:r>
          </a:p>
          <a:p>
            <a:r>
              <a:rPr sz="1050" b="0" dirty="0">
                <a:solidFill>
                  <a:srgbClr val="17324D"/>
                </a:solidFill>
                <a:latin typeface="Aptos"/>
              </a:rPr>
              <a:t>One or two LSPs, manual exception flow, reporting.</a:t>
            </a:r>
          </a:p>
        </p:txBody>
      </p:sp>
      <p:sp>
        <p:nvSpPr>
          <p:cNvPr id="415" name="S9_415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9064447" y="3337560"/>
            <a:ext cx="246453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6" name="S9_416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9217152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7" name="S9_417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9217152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8" name="S9_418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9618421" y="3531857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5–8 months</a:t>
            </a:r>
          </a:p>
        </p:txBody>
      </p:sp>
      <p:sp>
        <p:nvSpPr>
          <p:cNvPr id="419" name="S9_419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9236354" y="3922776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B1F45"/>
                </a:solidFill>
                <a:latin typeface="Aptos"/>
              </a:rPr>
              <a:t>Scale readiness</a:t>
            </a:r>
          </a:p>
          <a:p>
            <a:r>
              <a:rPr sz="1050" b="0" dirty="0">
                <a:solidFill>
                  <a:srgbClr val="17324D"/>
                </a:solidFill>
                <a:latin typeface="Aptos"/>
              </a:rPr>
              <a:t>Monitoring, DR, performance, Databricks DWH.</a:t>
            </a:r>
          </a:p>
        </p:txBody>
      </p:sp>
      <p:sp>
        <p:nvSpPr>
          <p:cNvPr id="420" name="S9arr_42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3215030" y="3963924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1" name="S9arr_421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5944514" y="3963924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2" name="S9arr_4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8673998" y="3963924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3" name="S9_takeaway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779864" y="5511910"/>
            <a:ext cx="99141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 scale is earned gate by gate — proven ownership, security, audit, and clear LSP value, not a demo.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SECTION · OPTION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Option B — Vendor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600" b="0">
                <a:solidFill>
                  <a:srgbClr val="D7E8FF"/>
                </a:solidFill>
                <a:latin typeface="Aptos"/>
              </a:rPr>
              <a:t>Buy path: vendor RFP, due-diligence assessment, and indicative vendor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50" b="0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E7528E-2429-AEE8-9620-987BC0E09429}"/>
              </a:ext>
            </a:extLst>
          </p:cNvPr>
          <p:cNvSpPr txBox="1"/>
          <p:nvPr/>
        </p:nvSpPr>
        <p:spPr>
          <a:xfrm>
            <a:off x="533400" y="342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75" b="1">
                <a:solidFill>
                  <a:srgbClr val="0B1F45"/>
                </a:solidFill>
                <a:latin typeface="Aptos Display" panose="020B0004020202020204" pitchFamily="34" charset="0"/>
              </a:rPr>
              <a:t>Buy Option: Indicative Vendor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6785C-2071-206D-826A-C51F7052E1D4}"/>
              </a:ext>
            </a:extLst>
          </p:cNvPr>
          <p:cNvSpPr txBox="1"/>
          <p:nvPr/>
        </p:nvSpPr>
        <p:spPr>
          <a:xfrm>
            <a:off x="552450" y="81915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B6B7E"/>
                </a:solidFill>
                <a:latin typeface="Aptos" panose="020B0004020202020204" pitchFamily="34" charset="0"/>
              </a:rPr>
              <a:t>Two live proposals, shown at ~€100M annual scale, first three LSPs, before tax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6FE42D-EE84-20AB-B033-F224C7561C80}"/>
              </a:ext>
            </a:extLst>
          </p:cNvPr>
          <p:cNvSpPr/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1D279-FFDB-02A1-5049-94C15D549C42}"/>
              </a:ext>
            </a:extLst>
          </p:cNvPr>
          <p:cNvSpPr txBox="1"/>
          <p:nvPr/>
        </p:nvSpPr>
        <p:spPr>
          <a:xfrm>
            <a:off x="533400" y="6496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5B6B7E"/>
                </a:solidFill>
                <a:latin typeface="Aptos" panose="020B0004020202020204" pitchFamily="34" charset="0"/>
              </a:rPr>
              <a:t>Bhawana Capital | LMS platform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1874B-CA4E-6994-EF35-05F68AADA702}"/>
              </a:ext>
            </a:extLst>
          </p:cNvPr>
          <p:cNvSpPr txBox="1"/>
          <p:nvPr/>
        </p:nvSpPr>
        <p:spPr>
          <a:xfrm>
            <a:off x="113157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1769E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351407-C3A1-90CE-5312-497E745E002B}"/>
              </a:ext>
            </a:extLst>
          </p:cNvPr>
          <p:cNvSpPr/>
          <p:nvPr/>
        </p:nvSpPr>
        <p:spPr>
          <a:xfrm>
            <a:off x="635000" y="1417320"/>
            <a:ext cx="25019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7971E5-CB32-D7F0-B9B6-F2EFCA884F5E}"/>
              </a:ext>
            </a:extLst>
          </p:cNvPr>
          <p:cNvSpPr txBox="1"/>
          <p:nvPr/>
        </p:nvSpPr>
        <p:spPr>
          <a:xfrm>
            <a:off x="736600" y="1557172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Cost element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4F008-5BB3-38D5-7592-0FDEB353C6AA}"/>
              </a:ext>
            </a:extLst>
          </p:cNvPr>
          <p:cNvSpPr/>
          <p:nvPr/>
        </p:nvSpPr>
        <p:spPr>
          <a:xfrm>
            <a:off x="3136900" y="1417320"/>
            <a:ext cx="26670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5FB70D-5146-DEF3-036F-F3014C305F87}"/>
              </a:ext>
            </a:extLst>
          </p:cNvPr>
          <p:cNvSpPr txBox="1"/>
          <p:nvPr/>
        </p:nvSpPr>
        <p:spPr>
          <a:xfrm>
            <a:off x="3238500" y="155717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Yubi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886CEA-F2E5-43ED-3B7E-814D3D4C2358}"/>
              </a:ext>
            </a:extLst>
          </p:cNvPr>
          <p:cNvSpPr/>
          <p:nvPr/>
        </p:nvSpPr>
        <p:spPr>
          <a:xfrm>
            <a:off x="5803900" y="1417320"/>
            <a:ext cx="26670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9B1E0-08AC-9C2C-25CF-E29F038614C6}"/>
              </a:ext>
            </a:extLst>
          </p:cNvPr>
          <p:cNvSpPr txBox="1"/>
          <p:nvPr/>
        </p:nvSpPr>
        <p:spPr>
          <a:xfrm>
            <a:off x="5905500" y="155717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M2P Fintech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0B322A-9E87-532A-86C2-EE566E9F95D3}"/>
              </a:ext>
            </a:extLst>
          </p:cNvPr>
          <p:cNvSpPr/>
          <p:nvPr/>
        </p:nvSpPr>
        <p:spPr>
          <a:xfrm>
            <a:off x="8470900" y="1417320"/>
            <a:ext cx="26543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2ED53-A266-62E2-F19E-D250BAC79A6F}"/>
              </a:ext>
            </a:extLst>
          </p:cNvPr>
          <p:cNvSpPr txBox="1"/>
          <p:nvPr/>
        </p:nvSpPr>
        <p:spPr>
          <a:xfrm>
            <a:off x="8572500" y="1557172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Build (in-house)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BCFC1A-2C0F-37AE-609D-184F0A72D453}"/>
              </a:ext>
            </a:extLst>
          </p:cNvPr>
          <p:cNvSpPr/>
          <p:nvPr/>
        </p:nvSpPr>
        <p:spPr>
          <a:xfrm>
            <a:off x="635000" y="1920240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DAFE81-9D66-3E12-82AB-5BBD9AE56598}"/>
              </a:ext>
            </a:extLst>
          </p:cNvPr>
          <p:cNvSpPr txBox="1"/>
          <p:nvPr/>
        </p:nvSpPr>
        <p:spPr>
          <a:xfrm>
            <a:off x="736600" y="2060244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One-time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25B11A-C4B3-FB0A-6CC7-F6DADB195551}"/>
              </a:ext>
            </a:extLst>
          </p:cNvPr>
          <p:cNvSpPr/>
          <p:nvPr/>
        </p:nvSpPr>
        <p:spPr>
          <a:xfrm>
            <a:off x="3136900" y="1920240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82D4AA-34F3-F54B-001E-950D4F0F0252}"/>
              </a:ext>
            </a:extLst>
          </p:cNvPr>
          <p:cNvSpPr txBox="1"/>
          <p:nvPr/>
        </p:nvSpPr>
        <p:spPr>
          <a:xfrm>
            <a:off x="3238500" y="2060244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₹7,500,000 / €68,182</a:t>
            </a:r>
          </a:p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setup + reporting + alerts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064E79-1140-9686-C30A-289B7432463D}"/>
              </a:ext>
            </a:extLst>
          </p:cNvPr>
          <p:cNvSpPr/>
          <p:nvPr/>
        </p:nvSpPr>
        <p:spPr>
          <a:xfrm>
            <a:off x="5803900" y="1920240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3777B7-AF90-56D7-7B4D-3C662233250C}"/>
              </a:ext>
            </a:extLst>
          </p:cNvPr>
          <p:cNvSpPr txBox="1"/>
          <p:nvPr/>
        </p:nvSpPr>
        <p:spPr>
          <a:xfrm>
            <a:off x="5905500" y="2060244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₹5,500,000 / €50,000</a:t>
            </a:r>
          </a:p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paid by Meesho today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089226-1CEB-B7F1-8F47-4782076F442B}"/>
              </a:ext>
            </a:extLst>
          </p:cNvPr>
          <p:cNvSpPr/>
          <p:nvPr/>
        </p:nvSpPr>
        <p:spPr>
          <a:xfrm>
            <a:off x="8470900" y="1920240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A89D03-455B-D998-1D00-F4B9723D97F5}"/>
              </a:ext>
            </a:extLst>
          </p:cNvPr>
          <p:cNvSpPr txBox="1"/>
          <p:nvPr/>
        </p:nvSpPr>
        <p:spPr>
          <a:xfrm>
            <a:off x="8572500" y="2060244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Build effort TBD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1021EC-4D5F-747D-C0ED-07243B61DCC8}"/>
              </a:ext>
            </a:extLst>
          </p:cNvPr>
          <p:cNvSpPr/>
          <p:nvPr/>
        </p:nvSpPr>
        <p:spPr>
          <a:xfrm>
            <a:off x="635000" y="2487168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0E4196-9BFF-6511-F086-6DCF7130F2AA}"/>
              </a:ext>
            </a:extLst>
          </p:cNvPr>
          <p:cNvSpPr txBox="1"/>
          <p:nvPr/>
        </p:nvSpPr>
        <p:spPr>
          <a:xfrm>
            <a:off x="736600" y="2626868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Fixed yearly cost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F0F710-A0F4-98CA-5FF0-0A1BF33198DE}"/>
              </a:ext>
            </a:extLst>
          </p:cNvPr>
          <p:cNvSpPr/>
          <p:nvPr/>
        </p:nvSpPr>
        <p:spPr>
          <a:xfrm>
            <a:off x="3136900" y="2487168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A0B71E-A0D0-633E-DBA8-326E9059A2FA}"/>
              </a:ext>
            </a:extLst>
          </p:cNvPr>
          <p:cNvSpPr txBox="1"/>
          <p:nvPr/>
        </p:nvSpPr>
        <p:spPr>
          <a:xfrm>
            <a:off x="3238500" y="2626868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₹1,000,000 / €9,091 per year (AMF)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29E037-557B-1354-BB9F-12A503DB5F38}"/>
              </a:ext>
            </a:extLst>
          </p:cNvPr>
          <p:cNvSpPr/>
          <p:nvPr/>
        </p:nvSpPr>
        <p:spPr>
          <a:xfrm>
            <a:off x="5803900" y="2487168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EC8F16-3978-C23F-A440-B1CFDB32E967}"/>
              </a:ext>
            </a:extLst>
          </p:cNvPr>
          <p:cNvSpPr txBox="1"/>
          <p:nvPr/>
        </p:nvSpPr>
        <p:spPr>
          <a:xfrm>
            <a:off x="5905500" y="2626868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Floor ₹4,800,000 / €43,636 per year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824027-4D0E-ECC8-85C1-8855D6052971}"/>
              </a:ext>
            </a:extLst>
          </p:cNvPr>
          <p:cNvSpPr/>
          <p:nvPr/>
        </p:nvSpPr>
        <p:spPr>
          <a:xfrm>
            <a:off x="8470900" y="2487168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E84720-8753-ED8C-92A5-C8402858F147}"/>
              </a:ext>
            </a:extLst>
          </p:cNvPr>
          <p:cNvSpPr txBox="1"/>
          <p:nvPr/>
        </p:nvSpPr>
        <p:spPr>
          <a:xfrm>
            <a:off x="8572500" y="2626868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Infra ₹3,960,000 / €36,000 per year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97A1FE-B6AD-2938-0A54-2A4DEEC65FD7}"/>
              </a:ext>
            </a:extLst>
          </p:cNvPr>
          <p:cNvSpPr/>
          <p:nvPr/>
        </p:nvSpPr>
        <p:spPr>
          <a:xfrm>
            <a:off x="635000" y="3054096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EA47D7-02E8-0F03-D92B-A816DE8D7BB1}"/>
              </a:ext>
            </a:extLst>
          </p:cNvPr>
          <p:cNvSpPr txBox="1"/>
          <p:nvPr/>
        </p:nvSpPr>
        <p:spPr>
          <a:xfrm>
            <a:off x="736600" y="3193999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Usage fee - based 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95754A-CC69-2A87-7584-10365B95F404}"/>
              </a:ext>
            </a:extLst>
          </p:cNvPr>
          <p:cNvSpPr/>
          <p:nvPr/>
        </p:nvSpPr>
        <p:spPr>
          <a:xfrm>
            <a:off x="3136900" y="3054096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AE3A4-9E75-5CB1-1D46-6EAAD2C06753}"/>
              </a:ext>
            </a:extLst>
          </p:cNvPr>
          <p:cNvSpPr txBox="1"/>
          <p:nvPr/>
        </p:nvSpPr>
        <p:spPr>
          <a:xfrm>
            <a:off x="3238500" y="3193999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0.20% of annual disbursement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7D4C9C-9E60-2F52-BD99-3E63FF9B5B7E}"/>
              </a:ext>
            </a:extLst>
          </p:cNvPr>
          <p:cNvSpPr/>
          <p:nvPr/>
        </p:nvSpPr>
        <p:spPr>
          <a:xfrm>
            <a:off x="5803900" y="3054096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B8F40D-7499-C392-3D4C-8EC2A6DE629D}"/>
              </a:ext>
            </a:extLst>
          </p:cNvPr>
          <p:cNvSpPr txBox="1"/>
          <p:nvPr/>
        </p:nvSpPr>
        <p:spPr>
          <a:xfrm>
            <a:off x="5905500" y="3193999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Tiered % of AUM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F48A58-9667-52FC-4200-8182C2B0E6BF}"/>
              </a:ext>
            </a:extLst>
          </p:cNvPr>
          <p:cNvSpPr/>
          <p:nvPr/>
        </p:nvSpPr>
        <p:spPr>
          <a:xfrm>
            <a:off x="8470900" y="3054096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16FC9-C89D-07BB-FBB3-E97C49F17CA2}"/>
              </a:ext>
            </a:extLst>
          </p:cNvPr>
          <p:cNvSpPr txBox="1"/>
          <p:nvPr/>
        </p:nvSpPr>
        <p:spPr>
          <a:xfrm>
            <a:off x="8572500" y="3193999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FE68B9-BFCF-B6CB-8C46-0A02A6BDD134}"/>
              </a:ext>
            </a:extLst>
          </p:cNvPr>
          <p:cNvSpPr/>
          <p:nvPr/>
        </p:nvSpPr>
        <p:spPr>
          <a:xfrm>
            <a:off x="635000" y="3621024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5BFD79-87E2-FAC7-B780-6695F2DF6FD1}"/>
              </a:ext>
            </a:extLst>
          </p:cNvPr>
          <p:cNvSpPr txBox="1"/>
          <p:nvPr/>
        </p:nvSpPr>
        <p:spPr>
          <a:xfrm>
            <a:off x="736600" y="3760825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Usage fee at ~€100M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EE2F9C-AD19-C129-6E97-5B1AF63AED54}"/>
              </a:ext>
            </a:extLst>
          </p:cNvPr>
          <p:cNvSpPr/>
          <p:nvPr/>
        </p:nvSpPr>
        <p:spPr>
          <a:xfrm>
            <a:off x="3136900" y="3621024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19CC19-7CF4-2384-7117-0F0549877AA3}"/>
              </a:ext>
            </a:extLst>
          </p:cNvPr>
          <p:cNvSpPr txBox="1"/>
          <p:nvPr/>
        </p:nvSpPr>
        <p:spPr>
          <a:xfrm>
            <a:off x="3238500" y="3760825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₹22,000,000 / €200,000 per year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ED77AC-9DA4-EEBB-E24D-182001195488}"/>
              </a:ext>
            </a:extLst>
          </p:cNvPr>
          <p:cNvSpPr/>
          <p:nvPr/>
        </p:nvSpPr>
        <p:spPr>
          <a:xfrm>
            <a:off x="5803900" y="3621024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96C5F7-37A9-AA18-E718-F3E8D7E59AB8}"/>
              </a:ext>
            </a:extLst>
          </p:cNvPr>
          <p:cNvSpPr txBox="1"/>
          <p:nvPr/>
        </p:nvSpPr>
        <p:spPr>
          <a:xfrm>
            <a:off x="5905500" y="3760825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₹28,400,000 / €258,182 per year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B48D44-C1F9-6039-9C1D-F2F64FAAB3F8}"/>
              </a:ext>
            </a:extLst>
          </p:cNvPr>
          <p:cNvSpPr/>
          <p:nvPr/>
        </p:nvSpPr>
        <p:spPr>
          <a:xfrm>
            <a:off x="8470900" y="3621024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7311F9-99E0-9C86-06DA-C103ECE32DEA}"/>
              </a:ext>
            </a:extLst>
          </p:cNvPr>
          <p:cNvSpPr txBox="1"/>
          <p:nvPr/>
        </p:nvSpPr>
        <p:spPr>
          <a:xfrm>
            <a:off x="8572500" y="3760825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n/a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ABEE59-1C77-F85D-1546-54199A64659F}"/>
              </a:ext>
            </a:extLst>
          </p:cNvPr>
          <p:cNvSpPr/>
          <p:nvPr/>
        </p:nvSpPr>
        <p:spPr>
          <a:xfrm>
            <a:off x="635000" y="4187952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052B80-56CC-263A-E304-B1C25AAA8657}"/>
              </a:ext>
            </a:extLst>
          </p:cNvPr>
          <p:cNvSpPr txBox="1"/>
          <p:nvPr/>
        </p:nvSpPr>
        <p:spPr>
          <a:xfrm>
            <a:off x="736600" y="4327652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Year-1 known cost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9100DD-32E6-1E28-1E6F-01501705040F}"/>
              </a:ext>
            </a:extLst>
          </p:cNvPr>
          <p:cNvSpPr/>
          <p:nvPr/>
        </p:nvSpPr>
        <p:spPr>
          <a:xfrm>
            <a:off x="3136900" y="4187952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EEC206-FD5D-2197-CDFD-879CFDF05506}"/>
              </a:ext>
            </a:extLst>
          </p:cNvPr>
          <p:cNvSpPr txBox="1"/>
          <p:nvPr/>
        </p:nvSpPr>
        <p:spPr>
          <a:xfrm>
            <a:off x="3238500" y="432765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₹30,500,000 / €277,273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12BB0D1-F333-7974-E665-D2FB0001AFFC}"/>
              </a:ext>
            </a:extLst>
          </p:cNvPr>
          <p:cNvSpPr/>
          <p:nvPr/>
        </p:nvSpPr>
        <p:spPr>
          <a:xfrm>
            <a:off x="5803900" y="4187952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F98F9D-FF8F-8C20-6548-79539607223D}"/>
              </a:ext>
            </a:extLst>
          </p:cNvPr>
          <p:cNvSpPr txBox="1"/>
          <p:nvPr/>
        </p:nvSpPr>
        <p:spPr>
          <a:xfrm>
            <a:off x="5905500" y="432765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₹28,400,000 / €258,182 recurring estimate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51AACA-67C6-69F5-F9A9-5AA7C32DA567}"/>
              </a:ext>
            </a:extLst>
          </p:cNvPr>
          <p:cNvSpPr/>
          <p:nvPr/>
        </p:nvSpPr>
        <p:spPr>
          <a:xfrm>
            <a:off x="8470900" y="4187952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2101DF-6D9A-DAEA-B7D9-5821342D174A}"/>
              </a:ext>
            </a:extLst>
          </p:cNvPr>
          <p:cNvSpPr txBox="1"/>
          <p:nvPr/>
        </p:nvSpPr>
        <p:spPr>
          <a:xfrm>
            <a:off x="8572500" y="4327652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₹3,960,000 / €36,000 + team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A220F8-EA9D-06CF-034D-A9DF9D7A86DF}"/>
              </a:ext>
            </a:extLst>
          </p:cNvPr>
          <p:cNvSpPr/>
          <p:nvPr/>
        </p:nvSpPr>
        <p:spPr>
          <a:xfrm>
            <a:off x="635000" y="4754880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996A86-8411-001C-9E2B-D9F7792DA9BC}"/>
              </a:ext>
            </a:extLst>
          </p:cNvPr>
          <p:cNvSpPr txBox="1"/>
          <p:nvPr/>
        </p:nvSpPr>
        <p:spPr>
          <a:xfrm>
            <a:off x="736600" y="4894986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Lock-in / exit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1C43487-A88B-6655-9AD4-C083FAD7424A}"/>
              </a:ext>
            </a:extLst>
          </p:cNvPr>
          <p:cNvSpPr/>
          <p:nvPr/>
        </p:nvSpPr>
        <p:spPr>
          <a:xfrm>
            <a:off x="3136900" y="4754880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5C6623-0A1B-47A2-7B67-E3F151C2BD0A}"/>
              </a:ext>
            </a:extLst>
          </p:cNvPr>
          <p:cNvSpPr txBox="1"/>
          <p:nvPr/>
        </p:nvSpPr>
        <p:spPr>
          <a:xfrm>
            <a:off x="3238500" y="4894986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None stated; first 3 LSPs waived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6AE6913-86C1-0FFA-ED9E-46CC10737AB4}"/>
              </a:ext>
            </a:extLst>
          </p:cNvPr>
          <p:cNvSpPr/>
          <p:nvPr/>
        </p:nvSpPr>
        <p:spPr>
          <a:xfrm>
            <a:off x="5803900" y="4754880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2F6BAF-2751-176E-7665-A658AB7D50FD}"/>
              </a:ext>
            </a:extLst>
          </p:cNvPr>
          <p:cNvSpPr txBox="1"/>
          <p:nvPr/>
        </p:nvSpPr>
        <p:spPr>
          <a:xfrm>
            <a:off x="5905500" y="4894986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36 months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F2BB495-11C7-4D66-F100-29E1875D3FEA}"/>
              </a:ext>
            </a:extLst>
          </p:cNvPr>
          <p:cNvSpPr/>
          <p:nvPr/>
        </p:nvSpPr>
        <p:spPr>
          <a:xfrm>
            <a:off x="8470900" y="4754880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D450E7-A525-B34F-21D9-0141D75D2933}"/>
              </a:ext>
            </a:extLst>
          </p:cNvPr>
          <p:cNvSpPr txBox="1"/>
          <p:nvPr/>
        </p:nvSpPr>
        <p:spPr>
          <a:xfrm>
            <a:off x="8572500" y="4894986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Full control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3A9666-E2BC-851A-7C65-5BE8537EA0CB}"/>
              </a:ext>
            </a:extLst>
          </p:cNvPr>
          <p:cNvSpPr txBox="1"/>
          <p:nvPr/>
        </p:nvSpPr>
        <p:spPr>
          <a:xfrm>
            <a:off x="1219200" y="5989320"/>
            <a:ext cx="975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20" b="1">
                <a:solidFill>
                  <a:srgbClr val="0B1F45"/>
                </a:solidFill>
                <a:latin typeface="Aptos" panose="020B0004020202020204" pitchFamily="34" charset="0"/>
              </a:rPr>
              <a:t>Indicative, pre-tax at ₹110/€ and €100M annual portfolio. M2P assumes the AUM fee exceeds the annual floor; actuals require final vendor audit.</a:t>
            </a:r>
          </a:p>
        </p:txBody>
      </p:sp>
      <p:sp>
        <p:nvSpPr>
          <p:cNvPr id="300" name="R7rect0">
            <a:extLst>
              <a:ext uri="{FF2B5EF4-FFF2-40B4-BE49-F238E27FC236}">
                <a16:creationId xmlns:a16="http://schemas.microsoft.com/office/drawing/2014/main" id="{B1ABEE59-1C77-F85D-1546-54199A64659F}"/>
              </a:ext>
            </a:extLst>
          </p:cNvPr>
          <p:cNvSpPr/>
          <p:nvPr/>
        </p:nvSpPr>
        <p:spPr>
          <a:xfrm>
            <a:off x="635000" y="5321808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7txt0">
            <a:extLst>
              <a:ext uri="{FF2B5EF4-FFF2-40B4-BE49-F238E27FC236}">
                <a16:creationId xmlns:a16="http://schemas.microsoft.com/office/drawing/2014/main" id="{05052B80-56CC-263A-E304-B1C25AAA8657}"/>
              </a:ext>
            </a:extLst>
          </p:cNvPr>
          <p:cNvSpPr txBox="1"/>
          <p:nvPr/>
        </p:nvSpPr>
        <p:spPr>
          <a:xfrm>
            <a:off x="736600" y="546354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Variable fees</a:t>
            </a:r>
          </a:p>
        </p:txBody>
      </p:sp>
      <p:sp>
        <p:nvSpPr>
          <p:cNvPr id="302" name="R7rect1">
            <a:extLst>
              <a:ext uri="{FF2B5EF4-FFF2-40B4-BE49-F238E27FC236}">
                <a16:creationId xmlns:a16="http://schemas.microsoft.com/office/drawing/2014/main" id="{379100DD-32E6-1E28-1E6F-01501705040F}"/>
              </a:ext>
            </a:extLst>
          </p:cNvPr>
          <p:cNvSpPr/>
          <p:nvPr/>
        </p:nvSpPr>
        <p:spPr>
          <a:xfrm>
            <a:off x="3136900" y="5321808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7txt1">
            <a:extLst>
              <a:ext uri="{FF2B5EF4-FFF2-40B4-BE49-F238E27FC236}">
                <a16:creationId xmlns:a16="http://schemas.microsoft.com/office/drawing/2014/main" id="{23EEC206-FD5D-2197-CDFD-879CFDF05506}"/>
              </a:ext>
            </a:extLst>
          </p:cNvPr>
          <p:cNvSpPr txBox="1"/>
          <p:nvPr/>
        </p:nvSpPr>
        <p:spPr>
          <a:xfrm>
            <a:off x="3238500" y="546354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Partnership ₹5L/LSP (after first 3 free); change request ₹20k/man-day</a:t>
            </a:r>
          </a:p>
        </p:txBody>
      </p:sp>
      <p:sp>
        <p:nvSpPr>
          <p:cNvPr id="304" name="R7rect2">
            <a:extLst>
              <a:ext uri="{FF2B5EF4-FFF2-40B4-BE49-F238E27FC236}">
                <a16:creationId xmlns:a16="http://schemas.microsoft.com/office/drawing/2014/main" id="{D12BB0D1-F333-7974-E665-D2FB0001AFFC}"/>
              </a:ext>
            </a:extLst>
          </p:cNvPr>
          <p:cNvSpPr/>
          <p:nvPr/>
        </p:nvSpPr>
        <p:spPr>
          <a:xfrm>
            <a:off x="5803900" y="5321808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7txt2">
            <a:extLst>
              <a:ext uri="{FF2B5EF4-FFF2-40B4-BE49-F238E27FC236}">
                <a16:creationId xmlns:a16="http://schemas.microsoft.com/office/drawing/2014/main" id="{BCF98F9D-FF8F-8C20-6548-79539607223D}"/>
              </a:ext>
            </a:extLst>
          </p:cNvPr>
          <p:cNvSpPr txBox="1"/>
          <p:nvPr/>
        </p:nvSpPr>
        <p:spPr>
          <a:xfrm>
            <a:off x="5905500" y="546354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Customization ₹17k/man-day</a:t>
            </a:r>
          </a:p>
        </p:txBody>
      </p:sp>
      <p:sp>
        <p:nvSpPr>
          <p:cNvPr id="306" name="R7rect3">
            <a:extLst>
              <a:ext uri="{FF2B5EF4-FFF2-40B4-BE49-F238E27FC236}">
                <a16:creationId xmlns:a16="http://schemas.microsoft.com/office/drawing/2014/main" id="{5B51AACA-67C6-69F5-F9A9-5AA7C32DA567}"/>
              </a:ext>
            </a:extLst>
          </p:cNvPr>
          <p:cNvSpPr/>
          <p:nvPr/>
        </p:nvSpPr>
        <p:spPr>
          <a:xfrm>
            <a:off x="8470900" y="5321808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7txt3">
            <a:extLst>
              <a:ext uri="{FF2B5EF4-FFF2-40B4-BE49-F238E27FC236}">
                <a16:creationId xmlns:a16="http://schemas.microsoft.com/office/drawing/2014/main" id="{B22101DF-6D9A-DAEA-B7D9-5821342D174A}"/>
              </a:ext>
            </a:extLst>
          </p:cNvPr>
          <p:cNvSpPr txBox="1"/>
          <p:nvPr/>
        </p:nvSpPr>
        <p:spPr>
          <a:xfrm>
            <a:off x="8572500" y="5463540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Internal effort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1795</Words>
  <Application>Microsoft Office PowerPoint</Application>
  <DocSecurity>0</DocSecurity>
  <PresentationFormat>Widescreen</PresentationFormat>
  <Paragraphs>284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4</cp:revision>
  <dcterms:created xsi:type="dcterms:W3CDTF">2026-06-25T05:59:16Z</dcterms:created>
  <dcterms:modified xsi:type="dcterms:W3CDTF">2026-06-27T10:39:25Z</dcterms:modified>
</cp:coreProperties>
</file>