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9" r:id="rId6"/>
    <p:sldId id="260" r:id="rId7"/>
    <p:sldId id="263" r:id="rId8"/>
    <p:sldId id="264" r:id="rId9"/>
    <p:sldId id="266" r:id="rId10"/>
    <p:sldId id="270" r:id="rId11"/>
    <p:sldId id="265" r:id="rId12"/>
    <p:sldId id="268" r:id="rId13"/>
    <p:sldId id="267" r:id="rId1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71A99B8-03D2-41AA-B050-CB5A1289F116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1219200"/>
          </a:xfrm>
          <a:prstGeom prst="rect">
            <a:avLst/>
          </a:prstGeom>
          <a:solidFill>
            <a:srgbClr val="09275B"/>
          </a:solidFill>
          <a:ln w="9525">
            <a:solidFill>
              <a:srgbClr val="0927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BF8946-5B23-4C7C-A609-1234AB9D2493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723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LMS Platform Decision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AF6B68-18FA-476D-A6C0-A14B39929136}"/>
              </a:ext>
            </a:extLst>
          </p:cNvPr>
          <p:cNvSpPr>
            <a:spLocks noGrp="1"/>
          </p:cNvSpPr>
          <p:nvPr/>
        </p:nvSpPr>
        <p:spPr>
          <a:xfrm>
            <a:off x="723900" y="1676400"/>
            <a:ext cx="7715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D7E8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7E8FF"/>
                </a:solidFill>
                <a:latin typeface="Aptos"/>
                <a:ea typeface="Aptos"/>
                <a:cs typeface="Aptos"/>
              </a:rPr>
              <a:t>Build vs buy, governance, operating model, infrastructure, and next-step decision points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A2FF9E9-4174-46E4-8305-B3C4B95BB55F}"/>
              </a:ext>
            </a:extLst>
          </p:cNvPr>
          <p:cNvSpPr>
            <a:spLocks noGrp="1"/>
          </p:cNvSpPr>
          <p:nvPr/>
        </p:nvSpPr>
        <p:spPr>
          <a:xfrm>
            <a:off x="8323083" y="3114675"/>
            <a:ext cx="3429000" cy="1238250"/>
          </a:xfrm>
          <a:prstGeom prst="roundRect">
            <a:avLst>
              <a:gd name="adj" fmla="val 7692"/>
            </a:avLst>
          </a:prstGeom>
          <a:solidFill>
            <a:srgbClr val="10366F"/>
          </a:solidFill>
          <a:ln w="9525">
            <a:solidFill>
              <a:srgbClr val="2D64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31C53D-5223-46D6-B9BF-6FAD840887EC}"/>
              </a:ext>
            </a:extLst>
          </p:cNvPr>
          <p:cNvSpPr>
            <a:spLocks noGrp="1"/>
          </p:cNvSpPr>
          <p:nvPr/>
        </p:nvSpPr>
        <p:spPr>
          <a:xfrm>
            <a:off x="8265933" y="3099651"/>
            <a:ext cx="57150" cy="1238250"/>
          </a:xfrm>
          <a:prstGeom prst="rect">
            <a:avLst/>
          </a:prstGeom>
          <a:solidFill>
            <a:srgbClr val="6FB6FF"/>
          </a:solidFill>
          <a:ln w="9525">
            <a:solidFill>
              <a:srgbClr val="6FB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DD8C7A-D946-4C58-8E7A-A6E891010715}"/>
              </a:ext>
            </a:extLst>
          </p:cNvPr>
          <p:cNvSpPr>
            <a:spLocks noGrp="1"/>
          </p:cNvSpPr>
          <p:nvPr/>
        </p:nvSpPr>
        <p:spPr>
          <a:xfrm>
            <a:off x="8382000" y="3263049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focus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D7DF73-43DD-4262-8770-6B7D9A513AD4}"/>
              </a:ext>
            </a:extLst>
          </p:cNvPr>
          <p:cNvSpPr>
            <a:spLocks noGrp="1"/>
          </p:cNvSpPr>
          <p:nvPr/>
        </p:nvSpPr>
        <p:spPr>
          <a:xfrm>
            <a:off x="8382000" y="3609975"/>
            <a:ext cx="304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D7E8FF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D7E8FF"/>
                </a:solidFill>
                <a:latin typeface="Aptos"/>
                <a:ea typeface="Aptos"/>
                <a:cs typeface="Aptos"/>
              </a:rPr>
              <a:t>Move from a working prototype discussion to an executive path: prove, buy, or build with clear ownership.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924979F-15BB-41A4-825A-B23EC7E28952}"/>
              </a:ext>
            </a:extLst>
          </p:cNvPr>
          <p:cNvSpPr>
            <a:spLocks noGrp="1"/>
          </p:cNvSpPr>
          <p:nvPr/>
        </p:nvSpPr>
        <p:spPr>
          <a:xfrm>
            <a:off x="762000" y="375285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183B7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4142F7-B10C-4D55-8254-7D8DAD8CBCBC}"/>
              </a:ext>
            </a:extLst>
          </p:cNvPr>
          <p:cNvSpPr>
            <a:spLocks noGrp="1"/>
          </p:cNvSpPr>
          <p:nvPr/>
        </p:nvSpPr>
        <p:spPr>
          <a:xfrm>
            <a:off x="857250" y="382905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Current process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D8B08CE-3518-4EBF-8796-CD8CCCD98CBD}"/>
              </a:ext>
            </a:extLst>
          </p:cNvPr>
          <p:cNvSpPr>
            <a:spLocks noGrp="1"/>
          </p:cNvSpPr>
          <p:nvPr/>
        </p:nvSpPr>
        <p:spPr>
          <a:xfrm>
            <a:off x="2667000" y="3752850"/>
            <a:ext cx="1428750" cy="323850"/>
          </a:xfrm>
          <a:prstGeom prst="roundRect">
            <a:avLst>
              <a:gd name="adj" fmla="val 50000"/>
            </a:avLst>
          </a:prstGeom>
          <a:solidFill>
            <a:srgbClr val="183B7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04DAEB-AA44-4354-94F1-6C9A11E0237A}"/>
              </a:ext>
            </a:extLst>
          </p:cNvPr>
          <p:cNvSpPr>
            <a:spLocks noGrp="1"/>
          </p:cNvSpPr>
          <p:nvPr/>
        </p:nvSpPr>
        <p:spPr>
          <a:xfrm>
            <a:off x="2762250" y="3829050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 option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46CA97B-DC96-4A91-876D-B49D2B4CE508}"/>
              </a:ext>
            </a:extLst>
          </p:cNvPr>
          <p:cNvSpPr>
            <a:spLocks noGrp="1"/>
          </p:cNvSpPr>
          <p:nvPr/>
        </p:nvSpPr>
        <p:spPr>
          <a:xfrm>
            <a:off x="4381500" y="3752850"/>
            <a:ext cx="1333500" cy="323850"/>
          </a:xfrm>
          <a:prstGeom prst="roundRect">
            <a:avLst>
              <a:gd name="adj" fmla="val 50000"/>
            </a:avLst>
          </a:prstGeom>
          <a:solidFill>
            <a:srgbClr val="183B7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698CC1-534A-4049-B129-0EE3FE84BBCB}"/>
              </a:ext>
            </a:extLst>
          </p:cNvPr>
          <p:cNvSpPr>
            <a:spLocks noGrp="1"/>
          </p:cNvSpPr>
          <p:nvPr/>
        </p:nvSpPr>
        <p:spPr>
          <a:xfrm>
            <a:off x="4476750" y="3829050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Buy option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52D1697-4DCA-4F6F-A08F-2891434BA670}"/>
              </a:ext>
            </a:extLst>
          </p:cNvPr>
          <p:cNvSpPr>
            <a:spLocks noGrp="1"/>
          </p:cNvSpPr>
          <p:nvPr/>
        </p:nvSpPr>
        <p:spPr>
          <a:xfrm>
            <a:off x="6000750" y="3752850"/>
            <a:ext cx="1428750" cy="323850"/>
          </a:xfrm>
          <a:prstGeom prst="roundRect">
            <a:avLst>
              <a:gd name="adj" fmla="val 50000"/>
            </a:avLst>
          </a:prstGeom>
          <a:solidFill>
            <a:srgbClr val="183B7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596825-9BD5-47FF-9FF1-B2F9F30F034D}"/>
              </a:ext>
            </a:extLst>
          </p:cNvPr>
          <p:cNvSpPr>
            <a:spLocks noGrp="1"/>
          </p:cNvSpPr>
          <p:nvPr/>
        </p:nvSpPr>
        <p:spPr>
          <a:xfrm>
            <a:off x="6096000" y="3829050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0A80FA-2C49-4836-A69B-F8BE354289C1}"/>
              </a:ext>
            </a:extLst>
          </p:cNvPr>
          <p:cNvSpPr>
            <a:spLocks noGrp="1"/>
          </p:cNvSpPr>
          <p:nvPr/>
        </p:nvSpPr>
        <p:spPr>
          <a:xfrm>
            <a:off x="723900" y="62293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AFCBE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FCBEE"/>
                </a:solidFill>
                <a:latin typeface="Aptos"/>
                <a:ea typeface="Aptos"/>
                <a:cs typeface="Aptos"/>
              </a:rPr>
              <a:t>Prepared for leadership discussion | June 2026</a:t>
            </a:r>
          </a:p>
        </p:txBody>
      </p:sp>
    </p:spTree>
    <p:extLst>
      <p:ext uri="{BB962C8B-B14F-4D97-AF65-F5344CB8AC3E}">
        <p14:creationId xmlns:p14="http://schemas.microsoft.com/office/powerpoint/2010/main" val="556184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BC0765C8-2B03-4D56-87A6-50D2761D9E28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Current Process: Email Validation and LSP Disbursement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867CC9-7B05-48AF-ABFC-7019AE5A7E98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Useful as a control layer, but not the target scalable LMS platform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881379-DBAA-43FE-BAC1-C3A80A8267E3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102B5A-0A35-4BAA-9851-C56930A738EB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5E1B6F-8E18-481A-86B1-D8D3212E274F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A25A0E2-3B08-4EF9-9670-0086CE68FF82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1809750" cy="1295400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A95580C-3751-410A-B40F-5151F33E4E90}"/>
              </a:ext>
            </a:extLst>
          </p:cNvPr>
          <p:cNvSpPr>
            <a:spLocks noGrp="1"/>
          </p:cNvSpPr>
          <p:nvPr/>
        </p:nvSpPr>
        <p:spPr>
          <a:xfrm>
            <a:off x="819150" y="1676400"/>
            <a:ext cx="323850" cy="323850"/>
          </a:xfrm>
          <a:prstGeom prst="ellipse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9FCBBA-16A3-4184-AD96-4EA22B238358}"/>
              </a:ext>
            </a:extLst>
          </p:cNvPr>
          <p:cNvSpPr>
            <a:spLocks noGrp="1"/>
          </p:cNvSpPr>
          <p:nvPr/>
        </p:nvSpPr>
        <p:spPr>
          <a:xfrm>
            <a:off x="819150" y="17335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CAF123-CFF1-4B97-AD51-6219B4766F97}"/>
              </a:ext>
            </a:extLst>
          </p:cNvPr>
          <p:cNvSpPr>
            <a:spLocks noGrp="1"/>
          </p:cNvSpPr>
          <p:nvPr/>
        </p:nvSpPr>
        <p:spPr>
          <a:xfrm>
            <a:off x="1216152" y="1664208"/>
            <a:ext cx="1170432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LSP sends email / 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69A05C-4BB7-49E1-9BC0-B8B07A245E3B}"/>
              </a:ext>
            </a:extLst>
          </p:cNvPr>
          <p:cNvSpPr>
            <a:spLocks noGrp="1"/>
          </p:cNvSpPr>
          <p:nvPr/>
        </p:nvSpPr>
        <p:spPr>
          <a:xfrm>
            <a:off x="838200" y="2249424"/>
            <a:ext cx="146685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Input arrives through current LSP channel.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AD04E8C3-F453-4CD2-8696-8C128404925E}"/>
              </a:ext>
            </a:extLst>
          </p:cNvPr>
          <p:cNvSpPr>
            <a:spLocks noGrp="1"/>
          </p:cNvSpPr>
          <p:nvPr/>
        </p:nvSpPr>
        <p:spPr>
          <a:xfrm>
            <a:off x="2552700" y="2057400"/>
            <a:ext cx="32385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608177E-0023-41DB-9241-93A38321285E}"/>
              </a:ext>
            </a:extLst>
          </p:cNvPr>
          <p:cNvSpPr>
            <a:spLocks noGrp="1"/>
          </p:cNvSpPr>
          <p:nvPr/>
        </p:nvSpPr>
        <p:spPr>
          <a:xfrm>
            <a:off x="2857500" y="1524000"/>
            <a:ext cx="1809750" cy="1295400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3DF20E9-8ADD-44A6-A451-B587C0C53C37}"/>
              </a:ext>
            </a:extLst>
          </p:cNvPr>
          <p:cNvSpPr>
            <a:spLocks noGrp="1"/>
          </p:cNvSpPr>
          <p:nvPr/>
        </p:nvSpPr>
        <p:spPr>
          <a:xfrm>
            <a:off x="3009900" y="1676400"/>
            <a:ext cx="323850" cy="323850"/>
          </a:xfrm>
          <a:prstGeom prst="ellipse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055FEA-ADA8-4253-ACCF-8E00AA8F53B8}"/>
              </a:ext>
            </a:extLst>
          </p:cNvPr>
          <p:cNvSpPr>
            <a:spLocks noGrp="1"/>
          </p:cNvSpPr>
          <p:nvPr/>
        </p:nvSpPr>
        <p:spPr>
          <a:xfrm>
            <a:off x="3009900" y="17335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87BE79-14A0-4D35-8715-1737D796CC50}"/>
              </a:ext>
            </a:extLst>
          </p:cNvPr>
          <p:cNvSpPr>
            <a:spLocks noGrp="1"/>
          </p:cNvSpPr>
          <p:nvPr/>
        </p:nvSpPr>
        <p:spPr>
          <a:xfrm>
            <a:off x="3410712" y="1664208"/>
            <a:ext cx="1161288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GCP script validates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0390E2-013D-4B78-8500-E3855B1947F9}"/>
              </a:ext>
            </a:extLst>
          </p:cNvPr>
          <p:cNvSpPr>
            <a:spLocks noGrp="1"/>
          </p:cNvSpPr>
          <p:nvPr/>
        </p:nvSpPr>
        <p:spPr>
          <a:xfrm>
            <a:off x="3028950" y="2249424"/>
            <a:ext cx="146685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Automated script checks submitted email data.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6D26D279-6FAC-4E28-834E-3A6F8D1C5649}"/>
              </a:ext>
            </a:extLst>
          </p:cNvPr>
          <p:cNvSpPr>
            <a:spLocks noGrp="1"/>
          </p:cNvSpPr>
          <p:nvPr/>
        </p:nvSpPr>
        <p:spPr>
          <a:xfrm>
            <a:off x="4743450" y="2057400"/>
            <a:ext cx="32385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CACBDF1-8DA4-43D1-8F5B-C4EF6F7D9012}"/>
              </a:ext>
            </a:extLst>
          </p:cNvPr>
          <p:cNvSpPr>
            <a:spLocks noGrp="1"/>
          </p:cNvSpPr>
          <p:nvPr/>
        </p:nvSpPr>
        <p:spPr>
          <a:xfrm>
            <a:off x="5048250" y="1524000"/>
            <a:ext cx="1809750" cy="1295400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B0D52DE-79C5-4F6A-A294-488D692E874D}"/>
              </a:ext>
            </a:extLst>
          </p:cNvPr>
          <p:cNvSpPr>
            <a:spLocks noGrp="1"/>
          </p:cNvSpPr>
          <p:nvPr/>
        </p:nvSpPr>
        <p:spPr>
          <a:xfrm>
            <a:off x="5200650" y="1676400"/>
            <a:ext cx="323850" cy="323850"/>
          </a:xfrm>
          <a:prstGeom prst="ellipse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77E434-01E7-48A4-B11F-BAEC15A3DCCC}"/>
              </a:ext>
            </a:extLst>
          </p:cNvPr>
          <p:cNvSpPr>
            <a:spLocks noGrp="1"/>
          </p:cNvSpPr>
          <p:nvPr/>
        </p:nvSpPr>
        <p:spPr>
          <a:xfrm>
            <a:off x="5200650" y="17335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5A0387E-2857-4F24-99D0-66D3CAB56A98}"/>
              </a:ext>
            </a:extLst>
          </p:cNvPr>
          <p:cNvSpPr>
            <a:spLocks noGrp="1"/>
          </p:cNvSpPr>
          <p:nvPr/>
        </p:nvSpPr>
        <p:spPr>
          <a:xfrm>
            <a:off x="5596128" y="1664208"/>
            <a:ext cx="1170432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Approval email returns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1BB3CB-DEB7-417E-B3A0-A51536B66302}"/>
              </a:ext>
            </a:extLst>
          </p:cNvPr>
          <p:cNvSpPr>
            <a:spLocks noGrp="1"/>
          </p:cNvSpPr>
          <p:nvPr/>
        </p:nvSpPr>
        <p:spPr>
          <a:xfrm>
            <a:off x="5219700" y="2249424"/>
            <a:ext cx="146685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Approval response is sent back to the LSP.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BDCB473C-85F9-4C34-B389-7FDCFE3BD683}"/>
              </a:ext>
            </a:extLst>
          </p:cNvPr>
          <p:cNvSpPr>
            <a:spLocks noGrp="1"/>
          </p:cNvSpPr>
          <p:nvPr/>
        </p:nvSpPr>
        <p:spPr>
          <a:xfrm>
            <a:off x="6934200" y="2057400"/>
            <a:ext cx="32385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5427757-C608-4EDE-87DF-572039BD3F21}"/>
              </a:ext>
            </a:extLst>
          </p:cNvPr>
          <p:cNvSpPr>
            <a:spLocks noGrp="1"/>
          </p:cNvSpPr>
          <p:nvPr/>
        </p:nvSpPr>
        <p:spPr>
          <a:xfrm>
            <a:off x="7239000" y="1524000"/>
            <a:ext cx="1809750" cy="1295400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2855D96-CDEC-4559-A422-07A89EEB746F}"/>
              </a:ext>
            </a:extLst>
          </p:cNvPr>
          <p:cNvSpPr>
            <a:spLocks noGrp="1"/>
          </p:cNvSpPr>
          <p:nvPr/>
        </p:nvSpPr>
        <p:spPr>
          <a:xfrm>
            <a:off x="7391400" y="1676400"/>
            <a:ext cx="323850" cy="323850"/>
          </a:xfrm>
          <a:prstGeom prst="ellipse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C372C6B-2299-420A-B8D0-779AFCA61E8C}"/>
              </a:ext>
            </a:extLst>
          </p:cNvPr>
          <p:cNvSpPr>
            <a:spLocks noGrp="1"/>
          </p:cNvSpPr>
          <p:nvPr/>
        </p:nvSpPr>
        <p:spPr>
          <a:xfrm>
            <a:off x="7391400" y="17335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F10DB2-7389-4CF0-99F2-C89C9E8165F5}"/>
              </a:ext>
            </a:extLst>
          </p:cNvPr>
          <p:cNvSpPr>
            <a:spLocks noGrp="1"/>
          </p:cNvSpPr>
          <p:nvPr/>
        </p:nvSpPr>
        <p:spPr>
          <a:xfrm>
            <a:off x="7790688" y="1664208"/>
            <a:ext cx="1170432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LSP disburses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016C6E2-DE02-4FC4-B234-BD259BCDF7B0}"/>
              </a:ext>
            </a:extLst>
          </p:cNvPr>
          <p:cNvSpPr>
            <a:spLocks noGrp="1"/>
          </p:cNvSpPr>
          <p:nvPr/>
        </p:nvSpPr>
        <p:spPr>
          <a:xfrm>
            <a:off x="7410450" y="2249424"/>
            <a:ext cx="146685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Disbursement remains outside the platform.</a:t>
            </a: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DC2E57FE-52BA-451E-BA16-5A4769841670}"/>
              </a:ext>
            </a:extLst>
          </p:cNvPr>
          <p:cNvSpPr>
            <a:spLocks noGrp="1"/>
          </p:cNvSpPr>
          <p:nvPr/>
        </p:nvSpPr>
        <p:spPr>
          <a:xfrm>
            <a:off x="9124950" y="2057400"/>
            <a:ext cx="32385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9F61623-77A1-4854-9491-20B6273A2493}"/>
              </a:ext>
            </a:extLst>
          </p:cNvPr>
          <p:cNvSpPr>
            <a:spLocks noGrp="1"/>
          </p:cNvSpPr>
          <p:nvPr/>
        </p:nvSpPr>
        <p:spPr>
          <a:xfrm>
            <a:off x="9429750" y="1524000"/>
            <a:ext cx="1809750" cy="1295400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B486CDA-A6A3-418B-AFCE-DEFEB520586F}"/>
              </a:ext>
            </a:extLst>
          </p:cNvPr>
          <p:cNvSpPr>
            <a:spLocks noGrp="1"/>
          </p:cNvSpPr>
          <p:nvPr/>
        </p:nvSpPr>
        <p:spPr>
          <a:xfrm>
            <a:off x="9582150" y="1676400"/>
            <a:ext cx="323850" cy="323850"/>
          </a:xfrm>
          <a:prstGeom prst="ellipse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0AC4924-6C28-4008-94B2-A5FE623B9D30}"/>
              </a:ext>
            </a:extLst>
          </p:cNvPr>
          <p:cNvSpPr>
            <a:spLocks noGrp="1"/>
          </p:cNvSpPr>
          <p:nvPr/>
        </p:nvSpPr>
        <p:spPr>
          <a:xfrm>
            <a:off x="9582150" y="17335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6F7DA8E-46BE-4B8E-9CD3-628E1F2B5384}"/>
              </a:ext>
            </a:extLst>
          </p:cNvPr>
          <p:cNvSpPr>
            <a:spLocks noGrp="1"/>
          </p:cNvSpPr>
          <p:nvPr/>
        </p:nvSpPr>
        <p:spPr>
          <a:xfrm>
            <a:off x="9985248" y="1664208"/>
            <a:ext cx="1161288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PostgreSQL stores approval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6D6A66-6E47-48B6-B58F-797785D17340}"/>
              </a:ext>
            </a:extLst>
          </p:cNvPr>
          <p:cNvSpPr>
            <a:spLocks noGrp="1"/>
          </p:cNvSpPr>
          <p:nvPr/>
        </p:nvSpPr>
        <p:spPr>
          <a:xfrm>
            <a:off x="9601200" y="2249424"/>
            <a:ext cx="146685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Approval record is kept for reference/control.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3189F1D-407B-4273-878A-DC249DD2E87E}"/>
              </a:ext>
            </a:extLst>
          </p:cNvPr>
          <p:cNvSpPr>
            <a:spLocks noGrp="1"/>
          </p:cNvSpPr>
          <p:nvPr/>
        </p:nvSpPr>
        <p:spPr>
          <a:xfrm>
            <a:off x="857250" y="3619500"/>
            <a:ext cx="3143250" cy="1657350"/>
          </a:xfrm>
          <a:prstGeom prst="roundRect">
            <a:avLst>
              <a:gd name="adj" fmla="val 5747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DC8EB10-CD59-469C-8227-82CD369147EE}"/>
              </a:ext>
            </a:extLst>
          </p:cNvPr>
          <p:cNvSpPr>
            <a:spLocks noGrp="1"/>
          </p:cNvSpPr>
          <p:nvPr/>
        </p:nvSpPr>
        <p:spPr>
          <a:xfrm>
            <a:off x="857250" y="3619500"/>
            <a:ext cx="57150" cy="16573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2C33AAF-DD18-4668-BB6A-B3DC8099582C}"/>
              </a:ext>
            </a:extLst>
          </p:cNvPr>
          <p:cNvSpPr>
            <a:spLocks noGrp="1"/>
          </p:cNvSpPr>
          <p:nvPr/>
        </p:nvSpPr>
        <p:spPr>
          <a:xfrm>
            <a:off x="1047750" y="37909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Current facts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DC16ECD-CAEB-45CE-B029-9601C97986DE}"/>
              </a:ext>
            </a:extLst>
          </p:cNvPr>
          <p:cNvSpPr>
            <a:spLocks noGrp="1"/>
          </p:cNvSpPr>
          <p:nvPr/>
        </p:nvSpPr>
        <p:spPr>
          <a:xfrm>
            <a:off x="1047750" y="4133087"/>
            <a:ext cx="2762250" cy="10972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Validation is a GCP script, not a managed platform.</a:t>
            </a:r>
          </a:p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Approvals are returned to the LSP by email.</a:t>
            </a:r>
          </a:p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Only approval evidence is a PostgreSQL record.</a:t>
            </a:r>
          </a:p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Money moves on the LSP's own channel.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ABC0335-4DC9-4646-8113-56D47C748BFE}"/>
              </a:ext>
            </a:extLst>
          </p:cNvPr>
          <p:cNvSpPr>
            <a:spLocks noGrp="1"/>
          </p:cNvSpPr>
          <p:nvPr/>
        </p:nvSpPr>
        <p:spPr>
          <a:xfrm>
            <a:off x="4495800" y="3619500"/>
            <a:ext cx="3143250" cy="1657350"/>
          </a:xfrm>
          <a:prstGeom prst="roundRect">
            <a:avLst>
              <a:gd name="adj" fmla="val 5747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EA93BC1-7D7D-4D3E-A4A6-705AA3D15478}"/>
              </a:ext>
            </a:extLst>
          </p:cNvPr>
          <p:cNvSpPr>
            <a:spLocks noGrp="1"/>
          </p:cNvSpPr>
          <p:nvPr/>
        </p:nvSpPr>
        <p:spPr>
          <a:xfrm>
            <a:off x="4495800" y="3619500"/>
            <a:ext cx="57150" cy="16573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165438E-439A-4144-B30B-5C6C01C8F09A}"/>
              </a:ext>
            </a:extLst>
          </p:cNvPr>
          <p:cNvSpPr>
            <a:spLocks noGrp="1"/>
          </p:cNvSpPr>
          <p:nvPr/>
        </p:nvSpPr>
        <p:spPr>
          <a:xfrm>
            <a:off x="4686300" y="37909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What works today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73B4FF7-9220-4D48-8C0D-BB94C972F8E3}"/>
              </a:ext>
            </a:extLst>
          </p:cNvPr>
          <p:cNvSpPr>
            <a:spLocks noGrp="1"/>
          </p:cNvSpPr>
          <p:nvPr/>
        </p:nvSpPr>
        <p:spPr>
          <a:xfrm>
            <a:off x="4686300" y="4133087"/>
            <a:ext cx="2762250" cy="10972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Low-cost way to prove the control concept.</a:t>
            </a:r>
          </a:p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Quick to change while the process is still evolving.</a:t>
            </a:r>
          </a:p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Keeps the current LSP disbursement flow running.</a:t>
            </a:r>
          </a:p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Produces basic approval evidence.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4EFB73E8-BF82-4137-97D3-82246565C4D7}"/>
              </a:ext>
            </a:extLst>
          </p:cNvPr>
          <p:cNvSpPr>
            <a:spLocks noGrp="1"/>
          </p:cNvSpPr>
          <p:nvPr/>
        </p:nvSpPr>
        <p:spPr>
          <a:xfrm>
            <a:off x="8134350" y="3619500"/>
            <a:ext cx="3143250" cy="1657350"/>
          </a:xfrm>
          <a:prstGeom prst="roundRect">
            <a:avLst>
              <a:gd name="adj" fmla="val 5747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C9E80E4-414D-4CC7-8232-B11E7068C0DF}"/>
              </a:ext>
            </a:extLst>
          </p:cNvPr>
          <p:cNvSpPr>
            <a:spLocks noGrp="1"/>
          </p:cNvSpPr>
          <p:nvPr/>
        </p:nvSpPr>
        <p:spPr>
          <a:xfrm>
            <a:off x="8134350" y="3619500"/>
            <a:ext cx="57150" cy="16573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355298B-75C7-4C42-AB5B-354592BB0577}"/>
              </a:ext>
            </a:extLst>
          </p:cNvPr>
          <p:cNvSpPr>
            <a:spLocks noGrp="1"/>
          </p:cNvSpPr>
          <p:nvPr/>
        </p:nvSpPr>
        <p:spPr>
          <a:xfrm>
            <a:off x="8324850" y="37909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Key risks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A2C3855-E3BF-4E58-9953-029384C68ADE}"/>
              </a:ext>
            </a:extLst>
          </p:cNvPr>
          <p:cNvSpPr>
            <a:spLocks noGrp="1"/>
          </p:cNvSpPr>
          <p:nvPr/>
        </p:nvSpPr>
        <p:spPr>
          <a:xfrm>
            <a:off x="8324850" y="4133087"/>
            <a:ext cx="2762250" cy="10972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Weak control over money flow — disbursement sits outside the platform.</a:t>
            </a:r>
          </a:p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Audit exposure: limited logging, access, and segregation of duties.</a:t>
            </a:r>
          </a:p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Email is not a defensible system of record.</a:t>
            </a:r>
          </a:p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Risk and manual effort grow with every new LSP.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C1319A2-82B0-4D1E-8561-807185C13618}"/>
              </a:ext>
            </a:extLst>
          </p:cNvPr>
          <p:cNvSpPr>
            <a:spLocks noGrp="1"/>
          </p:cNvSpPr>
          <p:nvPr/>
        </p:nvSpPr>
        <p:spPr>
          <a:xfrm>
            <a:off x="1524000" y="5638800"/>
            <a:ext cx="914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Executive takeaway: keep this as prototype learning, not as the long-term scalable platform.</a:t>
            </a:r>
          </a:p>
        </p:txBody>
      </p:sp>
    </p:spTree>
    <p:extLst>
      <p:ext uri="{BB962C8B-B14F-4D97-AF65-F5344CB8AC3E}">
        <p14:creationId xmlns:p14="http://schemas.microsoft.com/office/powerpoint/2010/main" val="450784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920EF834-EC5D-47D7-B0CD-D1323A3CECC5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Decision to Make: Build vs Buy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AEDCB3-636E-4B07-A7D6-A3B292B38236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The executive decision is not just technology; it is ownership, control, adoption, and auditability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47EBC5-7A5D-4858-9D3C-6E4226E8B98E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6FFF09-CE6C-4220-996C-07E08A374AE2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86A925-7D9A-4D53-933B-2BBF952BDF79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581E0DA-3A6B-4511-BED0-07F4084E788D}"/>
              </a:ext>
            </a:extLst>
          </p:cNvPr>
          <p:cNvSpPr>
            <a:spLocks noGrp="1"/>
          </p:cNvSpPr>
          <p:nvPr/>
        </p:nvSpPr>
        <p:spPr>
          <a:xfrm>
            <a:off x="723900" y="1466850"/>
            <a:ext cx="5048250" cy="409575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D8CD3E-5941-4BE5-B4FB-5BCD33A90DC6}"/>
              </a:ext>
            </a:extLst>
          </p:cNvPr>
          <p:cNvSpPr>
            <a:spLocks noGrp="1"/>
          </p:cNvSpPr>
          <p:nvPr/>
        </p:nvSpPr>
        <p:spPr>
          <a:xfrm>
            <a:off x="723900" y="1466850"/>
            <a:ext cx="5048250" cy="514350"/>
          </a:xfrm>
          <a:prstGeom prst="rect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DE427E-31AC-4C29-A609-2704598580B7}"/>
              </a:ext>
            </a:extLst>
          </p:cNvPr>
          <p:cNvSpPr>
            <a:spLocks noGrp="1"/>
          </p:cNvSpPr>
          <p:nvPr/>
        </p:nvSpPr>
        <p:spPr>
          <a:xfrm>
            <a:off x="952500" y="160020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Option A: Build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B13CC55-273B-4C8B-9E5B-9E8890A15508}"/>
              </a:ext>
            </a:extLst>
          </p:cNvPr>
          <p:cNvSpPr>
            <a:spLocks noGrp="1"/>
          </p:cNvSpPr>
          <p:nvPr/>
        </p:nvSpPr>
        <p:spPr>
          <a:xfrm>
            <a:off x="952500" y="21526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36BE29-669C-47D8-8EA7-92A3F43CA952}"/>
              </a:ext>
            </a:extLst>
          </p:cNvPr>
          <p:cNvSpPr>
            <a:spLocks noGrp="1"/>
          </p:cNvSpPr>
          <p:nvPr/>
        </p:nvSpPr>
        <p:spPr>
          <a:xfrm>
            <a:off x="1123950" y="22669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Cost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747D70-689C-44AC-9F54-FCB3BF155306}"/>
              </a:ext>
            </a:extLst>
          </p:cNvPr>
          <p:cNvSpPr>
            <a:spLocks noGrp="1"/>
          </p:cNvSpPr>
          <p:nvPr/>
        </p:nvSpPr>
        <p:spPr>
          <a:xfrm>
            <a:off x="2247900" y="22479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Higher upfront build effort; no recurring licence fees.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4DE8325-22A8-4DFD-92D6-C05B7961D3C6}"/>
              </a:ext>
            </a:extLst>
          </p:cNvPr>
          <p:cNvSpPr>
            <a:spLocks noGrp="1"/>
          </p:cNvSpPr>
          <p:nvPr/>
        </p:nvSpPr>
        <p:spPr>
          <a:xfrm>
            <a:off x="952500" y="29527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EE8CF0-AC98-48AD-9B13-B86ECDC67B93}"/>
              </a:ext>
            </a:extLst>
          </p:cNvPr>
          <p:cNvSpPr>
            <a:spLocks noGrp="1"/>
          </p:cNvSpPr>
          <p:nvPr/>
        </p:nvSpPr>
        <p:spPr>
          <a:xfrm>
            <a:off x="1123950" y="30670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Team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83B678-2882-43BA-BDEC-F9AB9CD13A07}"/>
              </a:ext>
            </a:extLst>
          </p:cNvPr>
          <p:cNvSpPr>
            <a:spLocks noGrp="1"/>
          </p:cNvSpPr>
          <p:nvPr/>
        </p:nvSpPr>
        <p:spPr>
          <a:xfrm>
            <a:off x="2247900" y="30480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Needs dedicated engineering, SDLC, and support capacity.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A0024D1-C367-4605-85B6-C5480F57B450}"/>
              </a:ext>
            </a:extLst>
          </p:cNvPr>
          <p:cNvSpPr>
            <a:spLocks noGrp="1"/>
          </p:cNvSpPr>
          <p:nvPr/>
        </p:nvSpPr>
        <p:spPr>
          <a:xfrm>
            <a:off x="952500" y="37528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AB78DE-34C1-46A2-926A-465B6222D31F}"/>
              </a:ext>
            </a:extLst>
          </p:cNvPr>
          <p:cNvSpPr>
            <a:spLocks noGrp="1"/>
          </p:cNvSpPr>
          <p:nvPr/>
        </p:nvSpPr>
        <p:spPr>
          <a:xfrm>
            <a:off x="1123950" y="38671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CC3287-C63A-451F-B701-A56848A6B635}"/>
              </a:ext>
            </a:extLst>
          </p:cNvPr>
          <p:cNvSpPr>
            <a:spLocks noGrp="1"/>
          </p:cNvSpPr>
          <p:nvPr/>
        </p:nvSpPr>
        <p:spPr>
          <a:xfrm>
            <a:off x="2247900" y="38481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Full control of audit model, security, and data path.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DDE717D-E8B6-46A8-8370-BDA67FAE274B}"/>
              </a:ext>
            </a:extLst>
          </p:cNvPr>
          <p:cNvSpPr>
            <a:spLocks noGrp="1"/>
          </p:cNvSpPr>
          <p:nvPr/>
        </p:nvSpPr>
        <p:spPr>
          <a:xfrm>
            <a:off x="952500" y="4552950"/>
            <a:ext cx="4591050" cy="91440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07C96CD-EA27-4D1B-81F6-E30A425D6212}"/>
              </a:ext>
            </a:extLst>
          </p:cNvPr>
          <p:cNvSpPr>
            <a:spLocks noGrp="1"/>
          </p:cNvSpPr>
          <p:nvPr/>
        </p:nvSpPr>
        <p:spPr>
          <a:xfrm>
            <a:off x="1123950" y="46672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Time to Market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DF01D8A-44F4-45A5-8FBE-703AA58EE108}"/>
              </a:ext>
            </a:extLst>
          </p:cNvPr>
          <p:cNvSpPr>
            <a:spLocks noGrp="1"/>
          </p:cNvSpPr>
          <p:nvPr/>
        </p:nvSpPr>
        <p:spPr>
          <a:xfrm>
            <a:off x="2247900" y="4648200"/>
            <a:ext cx="3048000" cy="8412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Slower: infrastructure, build, and hardening take months.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69CDF16-FAD6-4943-916C-9CCC0EE0CC16}"/>
              </a:ext>
            </a:extLst>
          </p:cNvPr>
          <p:cNvSpPr>
            <a:spLocks noGrp="1"/>
          </p:cNvSpPr>
          <p:nvPr/>
        </p:nvSpPr>
        <p:spPr>
          <a:xfrm>
            <a:off x="6419850" y="1466850"/>
            <a:ext cx="5048250" cy="409575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275FDDA-EF74-483C-8A6A-114F5F587779}"/>
              </a:ext>
            </a:extLst>
          </p:cNvPr>
          <p:cNvSpPr>
            <a:spLocks noGrp="1"/>
          </p:cNvSpPr>
          <p:nvPr/>
        </p:nvSpPr>
        <p:spPr>
          <a:xfrm>
            <a:off x="6419850" y="1466850"/>
            <a:ext cx="5048250" cy="514350"/>
          </a:xfrm>
          <a:prstGeom prst="rect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FA561B-0404-4A97-A9E4-9662825A9702}"/>
              </a:ext>
            </a:extLst>
          </p:cNvPr>
          <p:cNvSpPr>
            <a:spLocks noGrp="1"/>
          </p:cNvSpPr>
          <p:nvPr/>
        </p:nvSpPr>
        <p:spPr>
          <a:xfrm>
            <a:off x="6648450" y="160020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Option B: Buy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5F534F4-ED20-4DAA-861C-0415373C9865}"/>
              </a:ext>
            </a:extLst>
          </p:cNvPr>
          <p:cNvSpPr>
            <a:spLocks noGrp="1"/>
          </p:cNvSpPr>
          <p:nvPr/>
        </p:nvSpPr>
        <p:spPr>
          <a:xfrm>
            <a:off x="6648450" y="21526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A88D08-0800-42CF-BA4B-BD6B9A3ACE62}"/>
              </a:ext>
            </a:extLst>
          </p:cNvPr>
          <p:cNvSpPr>
            <a:spLocks noGrp="1"/>
          </p:cNvSpPr>
          <p:nvPr/>
        </p:nvSpPr>
        <p:spPr>
          <a:xfrm>
            <a:off x="6819900" y="22669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Cost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2A60757-84F6-473F-A5B0-FFFE8F4FF033}"/>
              </a:ext>
            </a:extLst>
          </p:cNvPr>
          <p:cNvSpPr>
            <a:spLocks noGrp="1"/>
          </p:cNvSpPr>
          <p:nvPr/>
        </p:nvSpPr>
        <p:spPr>
          <a:xfrm>
            <a:off x="7943850" y="22479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Lower build effort; recurring licence and change fees.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0A0AB81-7132-40A9-8EB1-1DC6CC793538}"/>
              </a:ext>
            </a:extLst>
          </p:cNvPr>
          <p:cNvSpPr>
            <a:spLocks noGrp="1"/>
          </p:cNvSpPr>
          <p:nvPr/>
        </p:nvSpPr>
        <p:spPr>
          <a:xfrm>
            <a:off x="6648450" y="29527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A1DF7A1-D725-4EF3-B60E-C21898815691}"/>
              </a:ext>
            </a:extLst>
          </p:cNvPr>
          <p:cNvSpPr>
            <a:spLocks noGrp="1"/>
          </p:cNvSpPr>
          <p:nvPr/>
        </p:nvSpPr>
        <p:spPr>
          <a:xfrm>
            <a:off x="6819900" y="30670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Team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5F2AA78-C0CE-408E-9735-D20B1F60E547}"/>
              </a:ext>
            </a:extLst>
          </p:cNvPr>
          <p:cNvSpPr>
            <a:spLocks noGrp="1"/>
          </p:cNvSpPr>
          <p:nvPr/>
        </p:nvSpPr>
        <p:spPr>
          <a:xfrm>
            <a:off x="7943850" y="30480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Vendor-led; less in-house build, but vendor management.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81AB43D-0D10-4DC2-999A-708A83846F7C}"/>
              </a:ext>
            </a:extLst>
          </p:cNvPr>
          <p:cNvSpPr>
            <a:spLocks noGrp="1"/>
          </p:cNvSpPr>
          <p:nvPr/>
        </p:nvSpPr>
        <p:spPr>
          <a:xfrm>
            <a:off x="6648450" y="37528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DA46263-06AE-474D-8AD6-A69E7E019B4B}"/>
              </a:ext>
            </a:extLst>
          </p:cNvPr>
          <p:cNvSpPr>
            <a:spLocks noGrp="1"/>
          </p:cNvSpPr>
          <p:nvPr/>
        </p:nvSpPr>
        <p:spPr>
          <a:xfrm>
            <a:off x="6819900" y="38671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2CB6997-2849-4D20-87D4-8D940857A30A}"/>
              </a:ext>
            </a:extLst>
          </p:cNvPr>
          <p:cNvSpPr>
            <a:spLocks noGrp="1"/>
          </p:cNvSpPr>
          <p:nvPr/>
        </p:nvSpPr>
        <p:spPr>
          <a:xfrm>
            <a:off x="7943850" y="38481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Shared or limited control; relies on vendor audit/exports.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9FD44B8-31EC-43BC-A65E-C5CDC4CAC31F}"/>
              </a:ext>
            </a:extLst>
          </p:cNvPr>
          <p:cNvSpPr>
            <a:spLocks noGrp="1"/>
          </p:cNvSpPr>
          <p:nvPr/>
        </p:nvSpPr>
        <p:spPr>
          <a:xfrm>
            <a:off x="6648450" y="4552950"/>
            <a:ext cx="4591050" cy="91440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C46FFE9-CF46-47C5-B96A-F25342AE57AA}"/>
              </a:ext>
            </a:extLst>
          </p:cNvPr>
          <p:cNvSpPr>
            <a:spLocks noGrp="1"/>
          </p:cNvSpPr>
          <p:nvPr/>
        </p:nvSpPr>
        <p:spPr>
          <a:xfrm>
            <a:off x="6819900" y="46672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Time to Market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225A0DC-0E89-4355-B831-AF1E7B4B4D1E}"/>
              </a:ext>
            </a:extLst>
          </p:cNvPr>
          <p:cNvSpPr>
            <a:spLocks noGrp="1"/>
          </p:cNvSpPr>
          <p:nvPr/>
        </p:nvSpPr>
        <p:spPr>
          <a:xfrm>
            <a:off x="7943850" y="4648200"/>
            <a:ext cx="3048000" cy="8412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Not immediate. Before first LSP go-live: vendor selection &amp; fit-gap, security sign-off, signed contract (note 36-month lock-in on one bid), integration build (LSP channels, email, PG/DWH), then UAT / pilot.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F6A2260-4910-4550-B63C-8E0AF4D2BA70}"/>
              </a:ext>
            </a:extLst>
          </p:cNvPr>
          <p:cNvSpPr>
            <a:spLocks noGrp="1"/>
          </p:cNvSpPr>
          <p:nvPr/>
        </p:nvSpPr>
        <p:spPr>
          <a:xfrm>
            <a:off x="1200150" y="588645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Decision lens: choose the path that gives LSPs a reason to move, keeps controls auditable, and has clear ownership.</a:t>
            </a:r>
          </a:p>
        </p:txBody>
      </p:sp>
    </p:spTree>
    <p:extLst>
      <p:ext uri="{BB962C8B-B14F-4D97-AF65-F5344CB8AC3E}">
        <p14:creationId xmlns:p14="http://schemas.microsoft.com/office/powerpoint/2010/main" val="718779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3D89DE3-0BCC-4C80-A877-12EFC851DE84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Where We Are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11F367-4F1D-49E7-9A13-2841E24A9ED2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Current status of the two options we are evaluating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C6B3E9-BFAE-4FB2-BD64-7851960F81B3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03F0AD-F7B6-483D-88BF-35E1945D0AF3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8EAC11-35F0-493F-8F84-82F54A7A6FA9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0352" y="1417320"/>
            <a:ext cx="11128248" cy="21214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9D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30352" y="1508760"/>
            <a:ext cx="118872" cy="1938527"/>
          </a:xfrm>
          <a:prstGeom prst="rect">
            <a:avLst/>
          </a:prstGeom>
          <a:solidFill>
            <a:srgbClr val="B57309"/>
          </a:solidFill>
          <a:ln w="9525">
            <a:solidFill>
              <a:srgbClr val="B57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1247" y="1545336"/>
            <a:ext cx="2834640" cy="201168"/>
          </a:xfrm>
          <a:prstGeom prst="rect">
            <a:avLst/>
          </a:prstGeom>
          <a:noFill/>
        </p:spPr>
        <p:txBody>
          <a:bodyPr wrap="square" lIns="45720" tIns="11430" rIns="45720" bIns="11430" anchor="t">
            <a:spAutoFit/>
          </a:bodyPr>
          <a:lstStyle/>
          <a:p>
            <a:pPr algn="l"/>
            <a:r>
              <a:rPr sz="900" b="1" u="none">
                <a:solidFill>
                  <a:srgbClr val="5B6B7E"/>
                </a:solidFill>
                <a:latin typeface="Aptos"/>
              </a:rPr>
              <a:t>OPTION 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7" y="1755648"/>
            <a:ext cx="2926080" cy="365760"/>
          </a:xfrm>
          <a:prstGeom prst="rect">
            <a:avLst/>
          </a:prstGeom>
          <a:noFill/>
        </p:spPr>
        <p:txBody>
          <a:bodyPr wrap="square" lIns="45720" tIns="11430" rIns="45720" bIns="11430" anchor="t">
            <a:spAutoFit/>
          </a:bodyPr>
          <a:lstStyle/>
          <a:p>
            <a:pPr algn="l"/>
            <a:r>
              <a:rPr sz="1700" b="1" u="none">
                <a:solidFill>
                  <a:srgbClr val="0B1F45"/>
                </a:solidFill>
                <a:latin typeface="Aptos Display"/>
              </a:rPr>
              <a:t>In-house build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9536" y="2167128"/>
            <a:ext cx="2788920" cy="365760"/>
          </a:xfrm>
          <a:prstGeom prst="roundRect">
            <a:avLst>
              <a:gd name="adj" fmla="val 50000"/>
            </a:avLst>
          </a:prstGeom>
          <a:solidFill>
            <a:srgbClr val="FBE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59536" y="2167128"/>
            <a:ext cx="2788920" cy="365760"/>
          </a:xfrm>
          <a:prstGeom prst="rect">
            <a:avLst/>
          </a:prstGeom>
          <a:noFill/>
        </p:spPr>
        <p:txBody>
          <a:bodyPr wrap="square" lIns="45720" tIns="11430" rIns="45720" bIns="11430" anchor="ctr">
            <a:spAutoFit/>
          </a:bodyPr>
          <a:lstStyle/>
          <a:p>
            <a:pPr algn="ctr"/>
            <a:r>
              <a:rPr sz="1000" b="1" u="none">
                <a:solidFill>
                  <a:srgbClr val="B57309"/>
                </a:solidFill>
                <a:latin typeface="Aptos"/>
              </a:rPr>
              <a:t>Prototype built · production infra pending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7" y="2642616"/>
            <a:ext cx="2834640" cy="182880"/>
          </a:xfrm>
          <a:prstGeom prst="rect">
            <a:avLst/>
          </a:prstGeom>
          <a:noFill/>
        </p:spPr>
        <p:txBody>
          <a:bodyPr wrap="square" lIns="45720" tIns="11430" rIns="45720" bIns="11430" anchor="t">
            <a:spAutoFit/>
          </a:bodyPr>
          <a:lstStyle/>
          <a:p>
            <a:pPr algn="l"/>
            <a:r>
              <a:rPr sz="850" b="1" u="none">
                <a:solidFill>
                  <a:srgbClr val="5B6B7E"/>
                </a:solidFill>
                <a:latin typeface="Aptos"/>
              </a:rPr>
              <a:t>EST. TIME TO DELIVER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7" y="2807208"/>
            <a:ext cx="2834640" cy="256032"/>
          </a:xfrm>
          <a:prstGeom prst="rect">
            <a:avLst/>
          </a:prstGeom>
          <a:noFill/>
        </p:spPr>
        <p:txBody>
          <a:bodyPr wrap="square" lIns="45720" tIns="11430" rIns="45720" bIns="11430" anchor="t">
            <a:spAutoFit/>
          </a:bodyPr>
          <a:lstStyle/>
          <a:p>
            <a:pPr algn="l"/>
            <a:r>
              <a:rPr sz="1500" b="1" u="none">
                <a:solidFill>
                  <a:srgbClr val="B57309"/>
                </a:solidFill>
                <a:latin typeface="Aptos Display"/>
              </a:rPr>
              <a:t>≈ 5–8 months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7" y="3090672"/>
            <a:ext cx="2880360" cy="384048"/>
          </a:xfrm>
          <a:prstGeom prst="rect">
            <a:avLst/>
          </a:prstGeom>
          <a:noFill/>
        </p:spPr>
        <p:txBody>
          <a:bodyPr wrap="square" lIns="45720" tIns="11430" rIns="45720" bIns="11430" anchor="t">
            <a:spAutoFit/>
          </a:bodyPr>
          <a:lstStyle/>
          <a:p>
            <a:pPr algn="l"/>
            <a:r>
              <a:rPr sz="850" b="0" u="none">
                <a:solidFill>
                  <a:srgbClr val="5B6B7E"/>
                </a:solidFill>
                <a:latin typeface="Aptos"/>
              </a:rPr>
              <a:t>If we build: infra, Entra/SDLC, audit, CI/CD, pilot → scale.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0" y="1563624"/>
            <a:ext cx="3611880" cy="237744"/>
          </a:xfrm>
          <a:prstGeom prst="rect">
            <a:avLst/>
          </a:prstGeom>
          <a:noFill/>
        </p:spPr>
        <p:txBody>
          <a:bodyPr wrap="square" lIns="45720" tIns="11430" rIns="45720" bIns="11430" anchor="t">
            <a:spAutoFit/>
          </a:bodyPr>
          <a:lstStyle/>
          <a:p>
            <a:pPr algn="l"/>
            <a:r>
              <a:rPr sz="1100" b="1" u="none">
                <a:solidFill>
                  <a:srgbClr val="1E7D34"/>
                </a:solidFill>
                <a:latin typeface="Aptos"/>
              </a:rPr>
              <a:t>What we have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0" y="1874519"/>
            <a:ext cx="3611880" cy="1572767"/>
          </a:xfrm>
          <a:prstGeom prst="rect">
            <a:avLst/>
          </a:prstGeom>
          <a:noFill/>
        </p:spPr>
        <p:txBody>
          <a:bodyPr wrap="square" lIns="18000" tIns="9000" rIns="18000" bIns="9000">
            <a:spAutoFit/>
          </a:bodyPr>
          <a:lstStyle/>
          <a:p>
            <a:pPr>
              <a:spcAft>
                <a:spcPts val="700"/>
              </a:spcAft>
            </a:pPr>
            <a:r>
              <a:rPr sz="1100" b="1" u="none">
                <a:solidFill>
                  <a:srgbClr val="1E7D34"/>
                </a:solidFill>
                <a:latin typeface="Aptos"/>
              </a:rPr>
              <a:t>✓  </a:t>
            </a:r>
            <a:r>
              <a:rPr sz="1000" b="0" u="none">
                <a:solidFill>
                  <a:srgbClr val="17324D"/>
                </a:solidFill>
                <a:latin typeface="Aptos"/>
              </a:rPr>
              <a:t>Prototype built covering all current Bhawana business requirements — validation, approval, data capture, workflow.</a:t>
            </a:r>
          </a:p>
          <a:p>
            <a:pPr>
              <a:spcAft>
                <a:spcPts val="700"/>
              </a:spcAft>
            </a:pPr>
            <a:r>
              <a:rPr sz="1100" b="1" u="none">
                <a:solidFill>
                  <a:srgbClr val="1E7D34"/>
                </a:solidFill>
                <a:latin typeface="Aptos"/>
              </a:rPr>
              <a:t>✓  </a:t>
            </a:r>
            <a:r>
              <a:rPr sz="1000" b="0" u="none">
                <a:solidFill>
                  <a:srgbClr val="17324D"/>
                </a:solidFill>
                <a:latin typeface="Aptos"/>
              </a:rPr>
              <a:t>Demonstrated end-to-end for the current process.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43800" y="1563624"/>
            <a:ext cx="3584448" cy="237744"/>
          </a:xfrm>
          <a:prstGeom prst="rect">
            <a:avLst/>
          </a:prstGeom>
          <a:noFill/>
        </p:spPr>
        <p:txBody>
          <a:bodyPr wrap="square" lIns="45720" tIns="11430" rIns="45720" bIns="11430" anchor="t">
            <a:spAutoFit/>
          </a:bodyPr>
          <a:lstStyle/>
          <a:p>
            <a:pPr algn="l"/>
            <a:r>
              <a:rPr sz="1100" b="1" u="none">
                <a:solidFill>
                  <a:srgbClr val="D92D20"/>
                </a:solidFill>
                <a:latin typeface="Aptos"/>
              </a:rPr>
              <a:t>What's missing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43800" y="1874519"/>
            <a:ext cx="3584448" cy="1572767"/>
          </a:xfrm>
          <a:prstGeom prst="rect">
            <a:avLst/>
          </a:prstGeom>
          <a:noFill/>
        </p:spPr>
        <p:txBody>
          <a:bodyPr wrap="square" lIns="18000" tIns="9000" rIns="18000" bIns="9000">
            <a:spAutoFit/>
          </a:bodyPr>
          <a:lstStyle/>
          <a:p>
            <a:pPr>
              <a:spcAft>
                <a:spcPts val="700"/>
              </a:spcAft>
            </a:pPr>
            <a:r>
              <a:rPr sz="1100" b="1" u="none">
                <a:solidFill>
                  <a:srgbClr val="D92D20"/>
                </a:solidFill>
                <a:latin typeface="Aptos"/>
              </a:rPr>
              <a:t>✗  </a:t>
            </a:r>
            <a:r>
              <a:rPr sz="1000" b="0" u="none">
                <a:solidFill>
                  <a:srgbClr val="17324D"/>
                </a:solidFill>
                <a:latin typeface="Aptos"/>
              </a:rPr>
              <a:t>No production infrastructure — no Azure India subscription, no deployment.</a:t>
            </a:r>
          </a:p>
          <a:p>
            <a:pPr>
              <a:spcAft>
                <a:spcPts val="700"/>
              </a:spcAft>
            </a:pPr>
            <a:r>
              <a:rPr sz="1100" b="1" u="none">
                <a:solidFill>
                  <a:srgbClr val="D92D20"/>
                </a:solidFill>
                <a:latin typeface="Aptos"/>
              </a:rPr>
              <a:t>✗  </a:t>
            </a:r>
            <a:r>
              <a:rPr sz="1000" b="0" u="none">
                <a:solidFill>
                  <a:srgbClr val="17324D"/>
                </a:solidFill>
                <a:latin typeface="Aptos"/>
              </a:rPr>
              <a:t>No proven HA/DR, monitoring, support model, or security certification.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0352" y="3703320"/>
            <a:ext cx="11128248" cy="21214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9D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30352" y="3794759"/>
            <a:ext cx="118872" cy="1938527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41247" y="3831335"/>
            <a:ext cx="2834640" cy="201168"/>
          </a:xfrm>
          <a:prstGeom prst="rect">
            <a:avLst/>
          </a:prstGeom>
          <a:noFill/>
        </p:spPr>
        <p:txBody>
          <a:bodyPr wrap="square" lIns="45720" tIns="11430" rIns="45720" bIns="11430" anchor="t">
            <a:spAutoFit/>
          </a:bodyPr>
          <a:lstStyle/>
          <a:p>
            <a:pPr algn="l"/>
            <a:r>
              <a:rPr sz="900" b="1" u="none">
                <a:solidFill>
                  <a:srgbClr val="5B6B7E"/>
                </a:solidFill>
                <a:latin typeface="Aptos"/>
              </a:rPr>
              <a:t>OPTION 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7" y="4041648"/>
            <a:ext cx="2926080" cy="365760"/>
          </a:xfrm>
          <a:prstGeom prst="rect">
            <a:avLst/>
          </a:prstGeom>
          <a:noFill/>
        </p:spPr>
        <p:txBody>
          <a:bodyPr wrap="square" lIns="45720" tIns="11430" rIns="45720" bIns="11430" anchor="t">
            <a:spAutoFit/>
          </a:bodyPr>
          <a:lstStyle/>
          <a:p>
            <a:pPr algn="l"/>
            <a:r>
              <a:rPr sz="1700" b="1" u="none">
                <a:solidFill>
                  <a:srgbClr val="0B1F45"/>
                </a:solidFill>
                <a:latin typeface="Aptos Display"/>
              </a:rPr>
              <a:t>Vendor (Buy)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59536" y="4453128"/>
            <a:ext cx="2788920" cy="365760"/>
          </a:xfrm>
          <a:prstGeom prst="roundRect">
            <a:avLst>
              <a:gd name="adj" fmla="val 50000"/>
            </a:avLst>
          </a:prstGeom>
          <a:solidFill>
            <a:srgbClr val="E3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59536" y="4453128"/>
            <a:ext cx="2788920" cy="365760"/>
          </a:xfrm>
          <a:prstGeom prst="rect">
            <a:avLst/>
          </a:prstGeom>
          <a:noFill/>
        </p:spPr>
        <p:txBody>
          <a:bodyPr wrap="square" lIns="45720" tIns="11430" rIns="45720" bIns="11430" anchor="ctr">
            <a:spAutoFit/>
          </a:bodyPr>
          <a:lstStyle/>
          <a:p>
            <a:pPr algn="ctr"/>
            <a:r>
              <a:rPr sz="1000" b="1" u="none">
                <a:solidFill>
                  <a:srgbClr val="104EA8"/>
                </a:solidFill>
                <a:latin typeface="Aptos"/>
              </a:rPr>
              <a:t>Vendor RFP &amp; analysis in progress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7" y="4928616"/>
            <a:ext cx="2834640" cy="182880"/>
          </a:xfrm>
          <a:prstGeom prst="rect">
            <a:avLst/>
          </a:prstGeom>
          <a:noFill/>
        </p:spPr>
        <p:txBody>
          <a:bodyPr wrap="square" lIns="45720" tIns="11430" rIns="45720" bIns="11430" anchor="t">
            <a:spAutoFit/>
          </a:bodyPr>
          <a:lstStyle/>
          <a:p>
            <a:pPr algn="l"/>
            <a:r>
              <a:rPr sz="850" b="1" u="none">
                <a:solidFill>
                  <a:srgbClr val="5B6B7E"/>
                </a:solidFill>
                <a:latin typeface="Aptos"/>
              </a:rPr>
              <a:t>EST. TIME TO DELIVER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7" y="5093208"/>
            <a:ext cx="2834640" cy="256032"/>
          </a:xfrm>
          <a:prstGeom prst="rect">
            <a:avLst/>
          </a:prstGeom>
          <a:noFill/>
        </p:spPr>
        <p:txBody>
          <a:bodyPr wrap="square" lIns="45720" tIns="11430" rIns="45720" bIns="11430" anchor="t">
            <a:spAutoFit/>
          </a:bodyPr>
          <a:lstStyle/>
          <a:p>
            <a:pPr algn="l"/>
            <a:r>
              <a:rPr sz="1500" b="1" u="none">
                <a:solidFill>
                  <a:srgbClr val="1769E0"/>
                </a:solidFill>
                <a:latin typeface="Aptos Display"/>
              </a:rPr>
              <a:t>≈ 4–6 months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7" y="5376672"/>
            <a:ext cx="2880360" cy="384048"/>
          </a:xfrm>
          <a:prstGeom prst="rect">
            <a:avLst/>
          </a:prstGeom>
          <a:noFill/>
        </p:spPr>
        <p:txBody>
          <a:bodyPr wrap="square" lIns="45720" tIns="11430" rIns="45720" bIns="11430" anchor="t">
            <a:spAutoFit/>
          </a:bodyPr>
          <a:lstStyle/>
          <a:p>
            <a:pPr algn="l"/>
            <a:r>
              <a:rPr sz="850" b="0" u="none">
                <a:solidFill>
                  <a:srgbClr val="5B6B7E"/>
                </a:solidFill>
                <a:latin typeface="Aptos"/>
              </a:rPr>
              <a:t>If we buy: procurement/legal, security sign-off, integration, UAT.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40480" y="3849624"/>
            <a:ext cx="3611880" cy="237744"/>
          </a:xfrm>
          <a:prstGeom prst="rect">
            <a:avLst/>
          </a:prstGeom>
          <a:noFill/>
        </p:spPr>
        <p:txBody>
          <a:bodyPr wrap="square" lIns="45720" tIns="11430" rIns="45720" bIns="11430" anchor="t">
            <a:spAutoFit/>
          </a:bodyPr>
          <a:lstStyle/>
          <a:p>
            <a:pPr algn="l"/>
            <a:r>
              <a:rPr sz="1100" b="1" u="none">
                <a:solidFill>
                  <a:srgbClr val="1E7D34"/>
                </a:solidFill>
                <a:latin typeface="Aptos"/>
              </a:rPr>
              <a:t>Where it stands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40480" y="4160520"/>
            <a:ext cx="3611880" cy="1572767"/>
          </a:xfrm>
          <a:prstGeom prst="rect">
            <a:avLst/>
          </a:prstGeom>
          <a:noFill/>
        </p:spPr>
        <p:txBody>
          <a:bodyPr wrap="square" lIns="18000" tIns="9000" rIns="18000" bIns="9000">
            <a:spAutoFit/>
          </a:bodyPr>
          <a:lstStyle/>
          <a:p>
            <a:pPr>
              <a:spcAft>
                <a:spcPts val="700"/>
              </a:spcAft>
            </a:pPr>
            <a:r>
              <a:rPr sz="1100" b="1" u="none">
                <a:solidFill>
                  <a:srgbClr val="1E7D34"/>
                </a:solidFill>
                <a:latin typeface="Aptos"/>
              </a:rPr>
              <a:t>✓  </a:t>
            </a:r>
            <a:r>
              <a:rPr sz="1000" b="0" u="none">
                <a:solidFill>
                  <a:srgbClr val="17324D"/>
                </a:solidFill>
                <a:latin typeface="Aptos"/>
              </a:rPr>
              <a:t>Vendor RFPs ongoing; live proposals already received.</a:t>
            </a:r>
          </a:p>
          <a:p>
            <a:pPr>
              <a:spcAft>
                <a:spcPts val="700"/>
              </a:spcAft>
            </a:pPr>
            <a:r>
              <a:rPr sz="1100" b="1" u="none">
                <a:solidFill>
                  <a:srgbClr val="1E7D34"/>
                </a:solidFill>
                <a:latin typeface="Aptos"/>
              </a:rPr>
              <a:t>✓  </a:t>
            </a:r>
            <a:r>
              <a:rPr sz="1000" b="0" u="none">
                <a:solidFill>
                  <a:srgbClr val="17324D"/>
                </a:solidFill>
                <a:latin typeface="Aptos"/>
              </a:rPr>
              <a:t>Solutions with genuine potential and functional fit identified.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43800" y="3849624"/>
            <a:ext cx="3584448" cy="237744"/>
          </a:xfrm>
          <a:prstGeom prst="rect">
            <a:avLst/>
          </a:prstGeom>
          <a:noFill/>
        </p:spPr>
        <p:txBody>
          <a:bodyPr wrap="square" lIns="45720" tIns="11430" rIns="45720" bIns="11430" anchor="t">
            <a:spAutoFit/>
          </a:bodyPr>
          <a:lstStyle/>
          <a:p>
            <a:pPr algn="l"/>
            <a:r>
              <a:rPr sz="1100" b="1" u="none">
                <a:solidFill>
                  <a:srgbClr val="B57309"/>
                </a:solidFill>
                <a:latin typeface="Aptos"/>
              </a:rPr>
              <a:t>Still in progress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43800" y="4160520"/>
            <a:ext cx="3584448" cy="1572767"/>
          </a:xfrm>
          <a:prstGeom prst="rect">
            <a:avLst/>
          </a:prstGeom>
          <a:noFill/>
        </p:spPr>
        <p:txBody>
          <a:bodyPr wrap="square" lIns="18000" tIns="9000" rIns="18000" bIns="9000">
            <a:spAutoFit/>
          </a:bodyPr>
          <a:lstStyle/>
          <a:p>
            <a:pPr>
              <a:spcAft>
                <a:spcPts val="700"/>
              </a:spcAft>
            </a:pPr>
            <a:r>
              <a:rPr sz="1100" b="1" u="none">
                <a:solidFill>
                  <a:srgbClr val="B57309"/>
                </a:solidFill>
                <a:latin typeface="Aptos"/>
              </a:rPr>
              <a:t>○  </a:t>
            </a:r>
            <a:r>
              <a:rPr sz="1000" b="0" u="none">
                <a:solidFill>
                  <a:srgbClr val="17324D"/>
                </a:solidFill>
                <a:latin typeface="Aptos"/>
              </a:rPr>
              <a:t>Security, integration, data-governance and commercial assessment underway.</a:t>
            </a:r>
          </a:p>
          <a:p>
            <a:pPr>
              <a:spcAft>
                <a:spcPts val="700"/>
              </a:spcAft>
            </a:pPr>
            <a:r>
              <a:rPr sz="1100" b="1" u="none">
                <a:solidFill>
                  <a:srgbClr val="B57309"/>
                </a:solidFill>
                <a:latin typeface="Aptos"/>
              </a:rPr>
              <a:t>○  </a:t>
            </a:r>
            <a:r>
              <a:rPr sz="1000" b="0" u="none">
                <a:solidFill>
                  <a:srgbClr val="17324D"/>
                </a:solidFill>
                <a:latin typeface="Aptos"/>
              </a:rPr>
              <a:t>No vendor selected or contract signed yet.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97864" y="5961888"/>
            <a:ext cx="9793224" cy="365760"/>
          </a:xfrm>
          <a:prstGeom prst="rect">
            <a:avLst/>
          </a:prstGeom>
          <a:noFill/>
        </p:spPr>
        <p:txBody>
          <a:bodyPr wrap="square" lIns="45720" tIns="11430" rIns="45720" bIns="11430" anchor="ctr">
            <a:spAutoFit/>
          </a:bodyPr>
          <a:lstStyle/>
          <a:p>
            <a:pPr algn="ctr"/>
            <a:r>
              <a:rPr sz="1250" b="1" u="none">
                <a:solidFill>
                  <a:srgbClr val="0B1F45"/>
                </a:solidFill>
                <a:latin typeface="Aptos"/>
              </a:rPr>
              <a:t>Where we are: in-house proves the requirements but needs infra (≈ 5–8 mo); the vendor route is faster to features but gated by legal and integration (≈ 4–6 mo).</a:t>
            </a:r>
          </a:p>
        </p:txBody>
      </p:sp>
    </p:spTree>
    <p:extLst>
      <p:ext uri="{BB962C8B-B14F-4D97-AF65-F5344CB8AC3E}">
        <p14:creationId xmlns:p14="http://schemas.microsoft.com/office/powerpoint/2010/main" val="583165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641848"/>
            <a:ext cx="12188952" cy="1216152"/>
          </a:xfrm>
          <a:prstGeom prst="rect">
            <a:avLst/>
          </a:prstGeom>
          <a:solidFill>
            <a:srgbClr val="09275B"/>
          </a:solidFill>
          <a:ln w="9525">
            <a:solidFill>
              <a:srgbClr val="0927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58952" y="2542032"/>
            <a:ext cx="2697480" cy="420624"/>
          </a:xfrm>
          <a:prstGeom prst="roundRect">
            <a:avLst>
              <a:gd name="adj" fmla="val 50000"/>
            </a:avLst>
          </a:prstGeom>
          <a:solidFill>
            <a:srgbClr val="183B78"/>
          </a:solidFill>
          <a:ln w="9525">
            <a:solidFill>
              <a:srgbClr val="6F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2560320"/>
            <a:ext cx="2697480" cy="384048"/>
          </a:xfrm>
          <a:prstGeom prst="rect">
            <a:avLst/>
          </a:prstGeom>
          <a:noFill/>
        </p:spPr>
        <p:txBody>
          <a:bodyPr wrap="square" lIns="45720" tIns="11430" rIns="45720" bIns="11430" anchor="ctr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SECTION · OPTION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54096"/>
            <a:ext cx="10515600" cy="868680"/>
          </a:xfrm>
          <a:prstGeom prst="rect">
            <a:avLst/>
          </a:prstGeom>
          <a:noFill/>
        </p:spPr>
        <p:txBody>
          <a:bodyPr wrap="square" lIns="45720" tIns="11430" rIns="45720" bIns="11430" anchor="ctr">
            <a:spAutoFit/>
          </a:bodyPr>
          <a:lstStyle/>
          <a:p>
            <a:pPr algn="l"/>
            <a:r>
              <a:rPr sz="4000" b="1" u="none">
                <a:solidFill>
                  <a:srgbClr val="FFFFFF"/>
                </a:solidFill>
                <a:latin typeface="Aptos Display"/>
              </a:rPr>
              <a:t>Option A — In-house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3968496"/>
            <a:ext cx="1554480" cy="50292"/>
          </a:xfrm>
          <a:prstGeom prst="rect">
            <a:avLst/>
          </a:prstGeom>
          <a:solidFill>
            <a:srgbClr val="6FB6FF"/>
          </a:solidFill>
          <a:ln w="9525">
            <a:solidFill>
              <a:srgbClr val="6F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4114800"/>
            <a:ext cx="9601200" cy="457200"/>
          </a:xfrm>
          <a:prstGeom prst="rect">
            <a:avLst/>
          </a:prstGeom>
          <a:noFill/>
        </p:spPr>
        <p:txBody>
          <a:bodyPr wrap="square" lIns="45720" tIns="11430" rIns="45720" bIns="11430" anchor="t">
            <a:spAutoFit/>
          </a:bodyPr>
          <a:lstStyle/>
          <a:p>
            <a:pPr algn="l"/>
            <a:r>
              <a:rPr sz="1600" b="0" u="none">
                <a:solidFill>
                  <a:srgbClr val="D7E8FF"/>
                </a:solidFill>
                <a:latin typeface="Aptos"/>
              </a:rPr>
              <a:t>Build path: the current prototype, and what it takes to make it a production-ready platform.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6455664"/>
            <a:ext cx="5029200" cy="201168"/>
          </a:xfrm>
          <a:prstGeom prst="rect">
            <a:avLst/>
          </a:prstGeom>
          <a:noFill/>
        </p:spPr>
        <p:txBody>
          <a:bodyPr wrap="square" lIns="45720" tIns="11430" rIns="45720" bIns="11430" anchor="t">
            <a:spAutoFit/>
          </a:bodyPr>
          <a:lstStyle/>
          <a:p>
            <a:pPr algn="l"/>
            <a:r>
              <a:rPr sz="950" b="0" u="none">
                <a:solidFill>
                  <a:srgbClr val="AFCBEE"/>
                </a:solidFill>
                <a:latin typeface="Aptos"/>
              </a:rPr>
              <a:t>Bhawana Capital | LMS platform decision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8E57A83B-7E95-4250-B536-50CA50B1AB76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11430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 u="none">
                <a:solidFill>
                  <a:srgbClr val="0B1F45"/>
                </a:solidFill>
                <a:latin typeface="Aptos Display"/>
              </a:rPr>
              <a:t>Governance and Operational Model for </a:t>
            </a:r>
            <a:r>
              <a:rPr sz="2625" b="1" u="sng">
                <a:solidFill>
                  <a:srgbClr val="0B1F45"/>
                </a:solidFill>
                <a:latin typeface="Aptos Display"/>
              </a:rPr>
              <a:t>in-house Solution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521EA5-D147-4146-B54F-F059BC9706D3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The platform should make compliance easier, not add undocumented manual work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183F65-7C73-45BD-B885-43680E354BBC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44E9A2-4DFC-470C-88BA-2BD2E66E8D11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0AF891-9276-4AD4-9B04-4AB276251CCE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DD8CA5-1BFB-451B-9387-419DC8E3419D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10744200" cy="628650"/>
          </a:xfrm>
          <a:prstGeom prst="rect">
            <a:avLst/>
          </a:prstGeom>
          <a:solidFill>
            <a:srgbClr val="0B1F45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0F5C14-27B7-44D3-8CD9-49A52BACDA8B}"/>
              </a:ext>
            </a:extLst>
          </p:cNvPr>
          <p:cNvSpPr>
            <a:spLocks noGrp="1"/>
          </p:cNvSpPr>
          <p:nvPr/>
        </p:nvSpPr>
        <p:spPr>
          <a:xfrm>
            <a:off x="647700" y="154305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Area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1B5E9C-45D9-469D-B0C4-8A3A7BC35F03}"/>
              </a:ext>
            </a:extLst>
          </p:cNvPr>
          <p:cNvSpPr>
            <a:spLocks noGrp="1"/>
          </p:cNvSpPr>
          <p:nvPr/>
        </p:nvSpPr>
        <p:spPr>
          <a:xfrm>
            <a:off x="2552700" y="14668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97FD8A-C43A-4C4B-A05A-B3735FB28372}"/>
              </a:ext>
            </a:extLst>
          </p:cNvPr>
          <p:cNvSpPr>
            <a:spLocks noGrp="1"/>
          </p:cNvSpPr>
          <p:nvPr/>
        </p:nvSpPr>
        <p:spPr>
          <a:xfrm>
            <a:off x="2647950" y="154305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Platform control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3732CB-2BD6-45AD-A0A3-6F3DC692B688}"/>
              </a:ext>
            </a:extLst>
          </p:cNvPr>
          <p:cNvSpPr>
            <a:spLocks noGrp="1"/>
          </p:cNvSpPr>
          <p:nvPr/>
        </p:nvSpPr>
        <p:spPr>
          <a:xfrm>
            <a:off x="6057900" y="14668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6E24F5-84BE-4CF4-96B3-5A9449099CAE}"/>
              </a:ext>
            </a:extLst>
          </p:cNvPr>
          <p:cNvSpPr>
            <a:spLocks noGrp="1"/>
          </p:cNvSpPr>
          <p:nvPr/>
        </p:nvSpPr>
        <p:spPr>
          <a:xfrm>
            <a:off x="6153150" y="154305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5A2B85-F59C-44D8-922F-9F5BAC3E8524}"/>
              </a:ext>
            </a:extLst>
          </p:cNvPr>
          <p:cNvSpPr>
            <a:spLocks noGrp="1"/>
          </p:cNvSpPr>
          <p:nvPr/>
        </p:nvSpPr>
        <p:spPr>
          <a:xfrm>
            <a:off x="8610600" y="14668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5CAA24-5087-477E-BD5E-8282259A5F0C}"/>
              </a:ext>
            </a:extLst>
          </p:cNvPr>
          <p:cNvSpPr>
            <a:spLocks noGrp="1"/>
          </p:cNvSpPr>
          <p:nvPr/>
        </p:nvSpPr>
        <p:spPr>
          <a:xfrm>
            <a:off x="8705850" y="154305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Manual interaction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41091B-1032-4169-B1F5-38CE2B0E76B4}"/>
              </a:ext>
            </a:extLst>
          </p:cNvPr>
          <p:cNvSpPr>
            <a:spLocks noGrp="1"/>
          </p:cNvSpPr>
          <p:nvPr/>
        </p:nvSpPr>
        <p:spPr>
          <a:xfrm>
            <a:off x="552450" y="2095500"/>
            <a:ext cx="107442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A15D0E8-F2D0-49EC-8785-34AE0B21AA02}"/>
              </a:ext>
            </a:extLst>
          </p:cNvPr>
          <p:cNvSpPr>
            <a:spLocks noGrp="1"/>
          </p:cNvSpPr>
          <p:nvPr/>
        </p:nvSpPr>
        <p:spPr>
          <a:xfrm>
            <a:off x="647700" y="217170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Audit evidence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B66C25-C2AC-4F82-AFB5-40C0223BFD41}"/>
              </a:ext>
            </a:extLst>
          </p:cNvPr>
          <p:cNvSpPr>
            <a:spLocks noGrp="1"/>
          </p:cNvSpPr>
          <p:nvPr/>
        </p:nvSpPr>
        <p:spPr>
          <a:xfrm>
            <a:off x="2552700" y="20955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0AC80D-BB9E-4F30-A456-0DEA2BEF5539}"/>
              </a:ext>
            </a:extLst>
          </p:cNvPr>
          <p:cNvSpPr>
            <a:spLocks noGrp="1"/>
          </p:cNvSpPr>
          <p:nvPr/>
        </p:nvSpPr>
        <p:spPr>
          <a:xfrm>
            <a:off x="2647950" y="217170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Immutable logs for approvals, status changes, downloads, and exceptions.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598E24-903E-4806-803F-EB67B2109C71}"/>
              </a:ext>
            </a:extLst>
          </p:cNvPr>
          <p:cNvSpPr>
            <a:spLocks noGrp="1"/>
          </p:cNvSpPr>
          <p:nvPr/>
        </p:nvSpPr>
        <p:spPr>
          <a:xfrm>
            <a:off x="6057900" y="20955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AD60DC-93F5-4A86-BD25-63BBDC96EF32}"/>
              </a:ext>
            </a:extLst>
          </p:cNvPr>
          <p:cNvSpPr>
            <a:spLocks noGrp="1"/>
          </p:cNvSpPr>
          <p:nvPr/>
        </p:nvSpPr>
        <p:spPr>
          <a:xfrm>
            <a:off x="6153150" y="217170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Platform + Ops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AD41D3-860C-46E1-AE6C-CC1B2C9563C6}"/>
              </a:ext>
            </a:extLst>
          </p:cNvPr>
          <p:cNvSpPr>
            <a:spLocks noGrp="1"/>
          </p:cNvSpPr>
          <p:nvPr/>
        </p:nvSpPr>
        <p:spPr>
          <a:xfrm>
            <a:off x="8610600" y="20955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217B937-E646-4A6C-863D-C4EED14C7561}"/>
              </a:ext>
            </a:extLst>
          </p:cNvPr>
          <p:cNvSpPr>
            <a:spLocks noGrp="1"/>
          </p:cNvSpPr>
          <p:nvPr/>
        </p:nvSpPr>
        <p:spPr>
          <a:xfrm>
            <a:off x="8705850" y="217170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Ops reviews exception trail.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B3C234-6F0E-4577-A0B9-04F2CDC70049}"/>
              </a:ext>
            </a:extLst>
          </p:cNvPr>
          <p:cNvSpPr>
            <a:spLocks noGrp="1"/>
          </p:cNvSpPr>
          <p:nvPr/>
        </p:nvSpPr>
        <p:spPr>
          <a:xfrm>
            <a:off x="552450" y="2724150"/>
            <a:ext cx="10744200" cy="6286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1569290-9A91-48D7-ADB1-56814079EF17}"/>
              </a:ext>
            </a:extLst>
          </p:cNvPr>
          <p:cNvSpPr>
            <a:spLocks noGrp="1"/>
          </p:cNvSpPr>
          <p:nvPr/>
        </p:nvSpPr>
        <p:spPr>
          <a:xfrm>
            <a:off x="647700" y="280035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standards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A56E00B-A193-4AAA-BAD3-0BD3EDA1C70A}"/>
              </a:ext>
            </a:extLst>
          </p:cNvPr>
          <p:cNvSpPr>
            <a:spLocks noGrp="1"/>
          </p:cNvSpPr>
          <p:nvPr/>
        </p:nvSpPr>
        <p:spPr>
          <a:xfrm>
            <a:off x="2552700" y="27241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5A817E5-113A-454E-907B-51E4E56E10DE}"/>
              </a:ext>
            </a:extLst>
          </p:cNvPr>
          <p:cNvSpPr>
            <a:spLocks noGrp="1"/>
          </p:cNvSpPr>
          <p:nvPr/>
        </p:nvSpPr>
        <p:spPr>
          <a:xfrm>
            <a:off x="2647950" y="280035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Group SDLC, secure coding, dependency checks, and change approvals.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484490A-1BD4-4833-8B27-7E9A490FBE5D}"/>
              </a:ext>
            </a:extLst>
          </p:cNvPr>
          <p:cNvSpPr>
            <a:spLocks noGrp="1"/>
          </p:cNvSpPr>
          <p:nvPr/>
        </p:nvSpPr>
        <p:spPr>
          <a:xfrm>
            <a:off x="6057900" y="27241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7FC9DEB-F471-4042-ACB2-1469D928C800}"/>
              </a:ext>
            </a:extLst>
          </p:cNvPr>
          <p:cNvSpPr>
            <a:spLocks noGrp="1"/>
          </p:cNvSpPr>
          <p:nvPr/>
        </p:nvSpPr>
        <p:spPr>
          <a:xfrm>
            <a:off x="6153150" y="280035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IT Security + Engineering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1CFCDA9-9EDA-4116-8959-886AD3C2892D}"/>
              </a:ext>
            </a:extLst>
          </p:cNvPr>
          <p:cNvSpPr>
            <a:spLocks noGrp="1"/>
          </p:cNvSpPr>
          <p:nvPr/>
        </p:nvSpPr>
        <p:spPr>
          <a:xfrm>
            <a:off x="8610600" y="27241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1352887-843E-4BB4-A7F1-8ABC7EE6B4B1}"/>
              </a:ext>
            </a:extLst>
          </p:cNvPr>
          <p:cNvSpPr>
            <a:spLocks noGrp="1"/>
          </p:cNvSpPr>
          <p:nvPr/>
        </p:nvSpPr>
        <p:spPr>
          <a:xfrm>
            <a:off x="8705850" y="280035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signs off gates.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18C5AD3-55E3-42FF-8B9E-F4749110CB08}"/>
              </a:ext>
            </a:extLst>
          </p:cNvPr>
          <p:cNvSpPr>
            <a:spLocks noGrp="1"/>
          </p:cNvSpPr>
          <p:nvPr/>
        </p:nvSpPr>
        <p:spPr>
          <a:xfrm>
            <a:off x="552450" y="3352800"/>
            <a:ext cx="107442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911A9F8-3420-4C1B-A0FB-074395A76B96}"/>
              </a:ext>
            </a:extLst>
          </p:cNvPr>
          <p:cNvSpPr>
            <a:spLocks noGrp="1"/>
          </p:cNvSpPr>
          <p:nvPr/>
        </p:nvSpPr>
        <p:spPr>
          <a:xfrm>
            <a:off x="647700" y="342900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Change requests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C9D6A80-C47C-4279-AF80-57F81F525E79}"/>
              </a:ext>
            </a:extLst>
          </p:cNvPr>
          <p:cNvSpPr>
            <a:spLocks noGrp="1"/>
          </p:cNvSpPr>
          <p:nvPr/>
        </p:nvSpPr>
        <p:spPr>
          <a:xfrm>
            <a:off x="2552700" y="33528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CED7895-8299-4447-A7D7-C903F8445501}"/>
              </a:ext>
            </a:extLst>
          </p:cNvPr>
          <p:cNvSpPr>
            <a:spLocks noGrp="1"/>
          </p:cNvSpPr>
          <p:nvPr/>
        </p:nvSpPr>
        <p:spPr>
          <a:xfrm>
            <a:off x="2647950" y="342900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Formal intake, impact analysis, approval, test evidence, release note.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C9C7B64-FB81-478E-BD14-EA089D723580}"/>
              </a:ext>
            </a:extLst>
          </p:cNvPr>
          <p:cNvSpPr>
            <a:spLocks noGrp="1"/>
          </p:cNvSpPr>
          <p:nvPr/>
        </p:nvSpPr>
        <p:spPr>
          <a:xfrm>
            <a:off x="6057900" y="33528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58826B3-9635-4D96-A50D-178B3AC49A6F}"/>
              </a:ext>
            </a:extLst>
          </p:cNvPr>
          <p:cNvSpPr>
            <a:spLocks noGrp="1"/>
          </p:cNvSpPr>
          <p:nvPr/>
        </p:nvSpPr>
        <p:spPr>
          <a:xfrm>
            <a:off x="6153150" y="342900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Internal team in India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78A541B-0C6C-45BD-990D-F1F083AF2C70}"/>
              </a:ext>
            </a:extLst>
          </p:cNvPr>
          <p:cNvSpPr>
            <a:spLocks noGrp="1"/>
          </p:cNvSpPr>
          <p:nvPr/>
        </p:nvSpPr>
        <p:spPr>
          <a:xfrm>
            <a:off x="8610600" y="33528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CA1C5F8-B584-44F7-91D0-AF158D54F8E2}"/>
              </a:ext>
            </a:extLst>
          </p:cNvPr>
          <p:cNvSpPr>
            <a:spLocks noGrp="1"/>
          </p:cNvSpPr>
          <p:nvPr/>
        </p:nvSpPr>
        <p:spPr>
          <a:xfrm>
            <a:off x="8705850" y="342900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Ownership in the team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88C6E88-AF49-41C3-AF1D-AAFE5378239B}"/>
              </a:ext>
            </a:extLst>
          </p:cNvPr>
          <p:cNvSpPr>
            <a:spLocks noGrp="1"/>
          </p:cNvSpPr>
          <p:nvPr/>
        </p:nvSpPr>
        <p:spPr>
          <a:xfrm>
            <a:off x="552450" y="3981450"/>
            <a:ext cx="10744200" cy="6286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AAF6426-F0C4-4009-A72F-2DA74DEC4EC0}"/>
              </a:ext>
            </a:extLst>
          </p:cNvPr>
          <p:cNvSpPr>
            <a:spLocks noGrp="1"/>
          </p:cNvSpPr>
          <p:nvPr/>
        </p:nvSpPr>
        <p:spPr>
          <a:xfrm>
            <a:off x="647700" y="405765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Access management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C1013D5-7785-42A5-BD0A-AE0A8A445920}"/>
              </a:ext>
            </a:extLst>
          </p:cNvPr>
          <p:cNvSpPr>
            <a:spLocks noGrp="1"/>
          </p:cNvSpPr>
          <p:nvPr/>
        </p:nvSpPr>
        <p:spPr>
          <a:xfrm>
            <a:off x="2552700" y="39814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3C8E857-D234-4192-85DE-0C5598FF90EA}"/>
              </a:ext>
            </a:extLst>
          </p:cNvPr>
          <p:cNvSpPr>
            <a:spLocks noGrp="1"/>
          </p:cNvSpPr>
          <p:nvPr/>
        </p:nvSpPr>
        <p:spPr>
          <a:xfrm>
            <a:off x="2647950" y="405765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Entra ID, role-based access, joiner/mover/leaver process.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6F0261E-DCA6-4BE4-8A95-CEA88C6A5957}"/>
              </a:ext>
            </a:extLst>
          </p:cNvPr>
          <p:cNvSpPr>
            <a:spLocks noGrp="1"/>
          </p:cNvSpPr>
          <p:nvPr/>
        </p:nvSpPr>
        <p:spPr>
          <a:xfrm>
            <a:off x="6057900" y="39814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2E9ABBB-7757-4446-91B5-5CC5C958CA4B}"/>
              </a:ext>
            </a:extLst>
          </p:cNvPr>
          <p:cNvSpPr>
            <a:spLocks noGrp="1"/>
          </p:cNvSpPr>
          <p:nvPr/>
        </p:nvSpPr>
        <p:spPr>
          <a:xfrm>
            <a:off x="6153150" y="405765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Ops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08E0666-C1D2-4AC1-84A3-A44519F27433}"/>
              </a:ext>
            </a:extLst>
          </p:cNvPr>
          <p:cNvSpPr>
            <a:spLocks noGrp="1"/>
          </p:cNvSpPr>
          <p:nvPr/>
        </p:nvSpPr>
        <p:spPr>
          <a:xfrm>
            <a:off x="8610600" y="39814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0511904-5C30-4553-A84C-581D215710FA}"/>
              </a:ext>
            </a:extLst>
          </p:cNvPr>
          <p:cNvSpPr>
            <a:spLocks noGrp="1"/>
          </p:cNvSpPr>
          <p:nvPr/>
        </p:nvSpPr>
        <p:spPr>
          <a:xfrm>
            <a:off x="8705850" y="405765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Access owner reviews.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E2D074F-9BB1-4682-B207-26BABFE6D238}"/>
              </a:ext>
            </a:extLst>
          </p:cNvPr>
          <p:cNvSpPr>
            <a:spLocks noGrp="1"/>
          </p:cNvSpPr>
          <p:nvPr/>
        </p:nvSpPr>
        <p:spPr>
          <a:xfrm>
            <a:off x="552450" y="4610100"/>
            <a:ext cx="107442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781128D-FF32-4597-9B51-409C0FC0EB61}"/>
              </a:ext>
            </a:extLst>
          </p:cNvPr>
          <p:cNvSpPr>
            <a:spLocks noGrp="1"/>
          </p:cNvSpPr>
          <p:nvPr/>
        </p:nvSpPr>
        <p:spPr>
          <a:xfrm>
            <a:off x="647700" y="468630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027C019-3414-441F-9C65-15C4FDF3EAAA}"/>
              </a:ext>
            </a:extLst>
          </p:cNvPr>
          <p:cNvSpPr>
            <a:spLocks noGrp="1"/>
          </p:cNvSpPr>
          <p:nvPr/>
        </p:nvSpPr>
        <p:spPr>
          <a:xfrm>
            <a:off x="2552700" y="46101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B0139C0-6AAF-4489-A93D-02948D1915D9}"/>
              </a:ext>
            </a:extLst>
          </p:cNvPr>
          <p:cNvSpPr>
            <a:spLocks noGrp="1"/>
          </p:cNvSpPr>
          <p:nvPr/>
        </p:nvSpPr>
        <p:spPr>
          <a:xfrm>
            <a:off x="2647950" y="468630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Runbooks, on-call, incidents, SLAs, partner support queue.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3F152F1-7B77-4374-A06F-5CDD73608A63}"/>
              </a:ext>
            </a:extLst>
          </p:cNvPr>
          <p:cNvSpPr>
            <a:spLocks noGrp="1"/>
          </p:cNvSpPr>
          <p:nvPr/>
        </p:nvSpPr>
        <p:spPr>
          <a:xfrm>
            <a:off x="6057900" y="46101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150B0A0-5787-4761-8312-5BD3D4BD1917}"/>
              </a:ext>
            </a:extLst>
          </p:cNvPr>
          <p:cNvSpPr>
            <a:spLocks noGrp="1"/>
          </p:cNvSpPr>
          <p:nvPr/>
        </p:nvSpPr>
        <p:spPr>
          <a:xfrm>
            <a:off x="6153150" y="468630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Internal team in India + Platform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72A01EE-6C43-4DAE-8A0D-A19FE8717415}"/>
              </a:ext>
            </a:extLst>
          </p:cNvPr>
          <p:cNvSpPr>
            <a:spLocks noGrp="1"/>
          </p:cNvSpPr>
          <p:nvPr/>
        </p:nvSpPr>
        <p:spPr>
          <a:xfrm>
            <a:off x="8610600" y="46101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16A63A4-03E0-49D5-AD6A-4D42D37E88A8}"/>
              </a:ext>
            </a:extLst>
          </p:cNvPr>
          <p:cNvSpPr>
            <a:spLocks noGrp="1"/>
          </p:cNvSpPr>
          <p:nvPr/>
        </p:nvSpPr>
        <p:spPr>
          <a:xfrm>
            <a:off x="8705850" y="468630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Ownership in the team + 24/7 On call support of MITL Platform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49C024C-1332-4A01-B83F-D2D359FEEC2A}"/>
              </a:ext>
            </a:extLst>
          </p:cNvPr>
          <p:cNvSpPr>
            <a:spLocks noGrp="1"/>
          </p:cNvSpPr>
          <p:nvPr/>
        </p:nvSpPr>
        <p:spPr>
          <a:xfrm>
            <a:off x="552450" y="5238750"/>
            <a:ext cx="10744200" cy="6286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C73B36E-0DF4-4F7E-95AB-598622A99CB4}"/>
              </a:ext>
            </a:extLst>
          </p:cNvPr>
          <p:cNvSpPr>
            <a:spLocks noGrp="1"/>
          </p:cNvSpPr>
          <p:nvPr/>
        </p:nvSpPr>
        <p:spPr>
          <a:xfrm>
            <a:off x="647700" y="531495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Development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56ED3EC-4E3A-452F-99F2-81138BB9656C}"/>
              </a:ext>
            </a:extLst>
          </p:cNvPr>
          <p:cNvSpPr>
            <a:spLocks noGrp="1"/>
          </p:cNvSpPr>
          <p:nvPr/>
        </p:nvSpPr>
        <p:spPr>
          <a:xfrm>
            <a:off x="2552700" y="52387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DDE6E8C-5779-4556-B52A-F252C50E14AC}"/>
              </a:ext>
            </a:extLst>
          </p:cNvPr>
          <p:cNvSpPr>
            <a:spLocks noGrp="1"/>
          </p:cNvSpPr>
          <p:nvPr/>
        </p:nvSpPr>
        <p:spPr>
          <a:xfrm>
            <a:off x="2647950" y="531495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Analysis, Development, Testing, Support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9F638FC-14C6-4E02-8A59-7AEC355A1CD8}"/>
              </a:ext>
            </a:extLst>
          </p:cNvPr>
          <p:cNvSpPr>
            <a:spLocks noGrp="1"/>
          </p:cNvSpPr>
          <p:nvPr/>
        </p:nvSpPr>
        <p:spPr>
          <a:xfrm>
            <a:off x="6057900" y="52387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849262C-8613-4ADA-9C85-928462E52322}"/>
              </a:ext>
            </a:extLst>
          </p:cNvPr>
          <p:cNvSpPr>
            <a:spLocks noGrp="1"/>
          </p:cNvSpPr>
          <p:nvPr/>
        </p:nvSpPr>
        <p:spPr>
          <a:xfrm>
            <a:off x="6153150" y="531495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Internal team in India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D19A6D3-ED89-4F95-B8CE-BF1C7CA02396}"/>
              </a:ext>
            </a:extLst>
          </p:cNvPr>
          <p:cNvSpPr>
            <a:spLocks noGrp="1"/>
          </p:cNvSpPr>
          <p:nvPr/>
        </p:nvSpPr>
        <p:spPr>
          <a:xfrm>
            <a:off x="8610600" y="52387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C597571-8501-4EF8-99C0-600470FB8E4C}"/>
              </a:ext>
            </a:extLst>
          </p:cNvPr>
          <p:cNvSpPr>
            <a:spLocks noGrp="1"/>
          </p:cNvSpPr>
          <p:nvPr/>
        </p:nvSpPr>
        <p:spPr>
          <a:xfrm>
            <a:off x="8705850" y="531495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People ownership remains explicit.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79A6784-34B3-483C-B797-183503F9644D}"/>
              </a:ext>
            </a:extLst>
          </p:cNvPr>
          <p:cNvSpPr>
            <a:spLocks noGrp="1"/>
          </p:cNvSpPr>
          <p:nvPr/>
        </p:nvSpPr>
        <p:spPr>
          <a:xfrm>
            <a:off x="914400" y="5943600"/>
            <a:ext cx="1036320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Re-use strong governance principles of the group and build ownership for the solution in India – </a:t>
            </a:r>
            <a:r>
              <a:rPr sz="1275" b="1">
                <a:solidFill>
                  <a:srgbClr val="D92D20"/>
                </a:solidFill>
                <a:latin typeface="Aptos"/>
                <a:ea typeface="Aptos"/>
                <a:cs typeface="Aptos"/>
              </a:rPr>
              <a:t>scale up to team of 4 IT People</a:t>
            </a:r>
          </a:p>
        </p:txBody>
      </p:sp>
    </p:spTree>
    <p:extLst>
      <p:ext uri="{BB962C8B-B14F-4D97-AF65-F5344CB8AC3E}">
        <p14:creationId xmlns:p14="http://schemas.microsoft.com/office/powerpoint/2010/main" val="1335249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06749D3-CB81-4BBD-816A-BBF2D70E150C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Current Platform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1C089B-71E3-4EBB-8EBE-E7F004CE7B4E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Current platform modules, connections, data stores, integrations, and what the platform provides today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254E8E-8B84-4813-8129-E10AA3ECA5FD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AB2E48-4EA0-4B0D-8F47-1923B9600032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44F5A4-2595-48EF-B753-3DE4207FDEC0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pic>
        <p:nvPicPr>
          <p:cNvPr id="7" name="Picture 6" descr="Screenshot 2026-06-25 1349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555354"/>
            <a:ext cx="11338560" cy="448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789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6EFE4B91-D30F-4BDC-A10B-154879FAF2D2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Infrastructure Direction and Indicative Cost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4561EC-6FFC-430A-8D78-571BDD50ED0C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Start an Azure India subscription only after the decision path is clear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BB0217-D92B-4A05-97D4-D40E39EA56C7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160B65-3329-4444-8DAD-C7E085C6CDA4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7AA850-0E6D-4DF7-9AAA-FEA154E2D746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24B2758-C9F4-44A6-8F1F-3B741C24CE96}"/>
              </a:ext>
            </a:extLst>
          </p:cNvPr>
          <p:cNvSpPr>
            <a:spLocks noGrp="1"/>
          </p:cNvSpPr>
          <p:nvPr/>
        </p:nvSpPr>
        <p:spPr>
          <a:xfrm>
            <a:off x="876300" y="1524000"/>
            <a:ext cx="314325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080DB3-82BA-4EC9-A29B-5BEBB7237DCC}"/>
              </a:ext>
            </a:extLst>
          </p:cNvPr>
          <p:cNvSpPr>
            <a:spLocks noGrp="1"/>
          </p:cNvSpPr>
          <p:nvPr/>
        </p:nvSpPr>
        <p:spPr>
          <a:xfrm>
            <a:off x="876300" y="1524000"/>
            <a:ext cx="57150" cy="15240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C35F5C-A4DD-4F1C-9D80-E73F3ABECF4F}"/>
              </a:ext>
            </a:extLst>
          </p:cNvPr>
          <p:cNvSpPr>
            <a:spLocks noGrp="1"/>
          </p:cNvSpPr>
          <p:nvPr/>
        </p:nvSpPr>
        <p:spPr>
          <a:xfrm>
            <a:off x="1066800" y="16954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Initial cloud choice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7428EF-E6BD-4BA7-8C11-40196CC5560C}"/>
              </a:ext>
            </a:extLst>
          </p:cNvPr>
          <p:cNvSpPr>
            <a:spLocks noGrp="1"/>
          </p:cNvSpPr>
          <p:nvPr/>
        </p:nvSpPr>
        <p:spPr>
          <a:xfrm>
            <a:off x="1066800" y="2076450"/>
            <a:ext cx="2762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Azure India subscription for data residency and group-aligned operations.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5566ECC-4CCF-4304-91CF-D45629E5F7E7}"/>
              </a:ext>
            </a:extLst>
          </p:cNvPr>
          <p:cNvSpPr>
            <a:spLocks noGrp="1"/>
          </p:cNvSpPr>
          <p:nvPr/>
        </p:nvSpPr>
        <p:spPr>
          <a:xfrm>
            <a:off x="4533900" y="1524000"/>
            <a:ext cx="314325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CD7888-6F35-4BEB-A381-ED66061BEA96}"/>
              </a:ext>
            </a:extLst>
          </p:cNvPr>
          <p:cNvSpPr>
            <a:spLocks noGrp="1"/>
          </p:cNvSpPr>
          <p:nvPr/>
        </p:nvSpPr>
        <p:spPr>
          <a:xfrm>
            <a:off x="4533900" y="1524000"/>
            <a:ext cx="57150" cy="15240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0F72ED-6906-4FC0-8723-425485C1F088}"/>
              </a:ext>
            </a:extLst>
          </p:cNvPr>
          <p:cNvSpPr>
            <a:spLocks noGrp="1"/>
          </p:cNvSpPr>
          <p:nvPr/>
        </p:nvSpPr>
        <p:spPr>
          <a:xfrm>
            <a:off x="4724400" y="16954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Indicative run cost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A90BAE-4AEB-454B-9A0A-91879BB80292}"/>
              </a:ext>
            </a:extLst>
          </p:cNvPr>
          <p:cNvSpPr>
            <a:spLocks noGrp="1"/>
          </p:cNvSpPr>
          <p:nvPr/>
        </p:nvSpPr>
        <p:spPr>
          <a:xfrm>
            <a:off x="4724400" y="2076450"/>
            <a:ext cx="2762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Planning estimate: about EUR 3K per month for a controlled non-large-scale production footprint.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429CC54-0F5E-45FF-AF53-D8F68DDA1B4B}"/>
              </a:ext>
            </a:extLst>
          </p:cNvPr>
          <p:cNvSpPr>
            <a:spLocks noGrp="1"/>
          </p:cNvSpPr>
          <p:nvPr/>
        </p:nvSpPr>
        <p:spPr>
          <a:xfrm>
            <a:off x="8191500" y="1524000"/>
            <a:ext cx="314325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47A030-49AF-4216-9E83-27E859920C12}"/>
              </a:ext>
            </a:extLst>
          </p:cNvPr>
          <p:cNvSpPr>
            <a:spLocks noGrp="1"/>
          </p:cNvSpPr>
          <p:nvPr/>
        </p:nvSpPr>
        <p:spPr>
          <a:xfrm>
            <a:off x="8191500" y="1524000"/>
            <a:ext cx="57150" cy="15240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60A371-E021-4AAA-A9C3-C2A8CC0F1D35}"/>
              </a:ext>
            </a:extLst>
          </p:cNvPr>
          <p:cNvSpPr>
            <a:spLocks noGrp="1"/>
          </p:cNvSpPr>
          <p:nvPr/>
        </p:nvSpPr>
        <p:spPr>
          <a:xfrm>
            <a:off x="8382000" y="16954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Cost caveat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9E300EE-583E-404B-B3E3-62CA1D3F056B}"/>
              </a:ext>
            </a:extLst>
          </p:cNvPr>
          <p:cNvSpPr>
            <a:spLocks noGrp="1"/>
          </p:cNvSpPr>
          <p:nvPr/>
        </p:nvSpPr>
        <p:spPr>
          <a:xfrm>
            <a:off x="8382000" y="2076450"/>
            <a:ext cx="2762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Actual cost depends on HA, DR, logs retention, data volume, Databricks integration, and vendor contracts.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B4807F-680D-4D4A-BCD1-CC2BA7CCBC8E}"/>
              </a:ext>
            </a:extLst>
          </p:cNvPr>
          <p:cNvSpPr>
            <a:spLocks noGrp="1"/>
          </p:cNvSpPr>
          <p:nvPr/>
        </p:nvSpPr>
        <p:spPr>
          <a:xfrm>
            <a:off x="1162050" y="3790950"/>
            <a:ext cx="8572500" cy="552450"/>
          </a:xfrm>
          <a:prstGeom prst="rect">
            <a:avLst/>
          </a:prstGeom>
          <a:solidFill>
            <a:srgbClr val="0B1F45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77FB99-CC85-4D08-89FE-B46C2CB8BAF0}"/>
              </a:ext>
            </a:extLst>
          </p:cNvPr>
          <p:cNvSpPr>
            <a:spLocks noGrp="1"/>
          </p:cNvSpPr>
          <p:nvPr/>
        </p:nvSpPr>
        <p:spPr>
          <a:xfrm>
            <a:off x="1257300" y="386715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Infra area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65E6617-B8EC-45EC-BD41-8BFABD638115}"/>
              </a:ext>
            </a:extLst>
          </p:cNvPr>
          <p:cNvSpPr>
            <a:spLocks noGrp="1"/>
          </p:cNvSpPr>
          <p:nvPr/>
        </p:nvSpPr>
        <p:spPr>
          <a:xfrm>
            <a:off x="3638550" y="37909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0CECBD-CEA0-486F-96CF-0D35BFCEDD5B}"/>
              </a:ext>
            </a:extLst>
          </p:cNvPr>
          <p:cNvSpPr>
            <a:spLocks noGrp="1"/>
          </p:cNvSpPr>
          <p:nvPr/>
        </p:nvSpPr>
        <p:spPr>
          <a:xfrm>
            <a:off x="3733800" y="386715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Likely components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94DE05-E8C2-407E-A3C1-72B6B6BCB900}"/>
              </a:ext>
            </a:extLst>
          </p:cNvPr>
          <p:cNvSpPr>
            <a:spLocks noGrp="1"/>
          </p:cNvSpPr>
          <p:nvPr/>
        </p:nvSpPr>
        <p:spPr>
          <a:xfrm>
            <a:off x="6400800" y="37909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B3C22A4-C7BA-4DD2-80ED-A2B790970994}"/>
              </a:ext>
            </a:extLst>
          </p:cNvPr>
          <p:cNvSpPr>
            <a:spLocks noGrp="1"/>
          </p:cNvSpPr>
          <p:nvPr/>
        </p:nvSpPr>
        <p:spPr>
          <a:xfrm>
            <a:off x="6496050" y="386715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needed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9B45825-232D-4C32-8DD4-039C0F56D6BF}"/>
              </a:ext>
            </a:extLst>
          </p:cNvPr>
          <p:cNvSpPr>
            <a:spLocks noGrp="1"/>
          </p:cNvSpPr>
          <p:nvPr/>
        </p:nvSpPr>
        <p:spPr>
          <a:xfrm>
            <a:off x="1162050" y="4343400"/>
            <a:ext cx="8572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69A5E8E-CB89-4C77-9A4B-0BC520BA42FA}"/>
              </a:ext>
            </a:extLst>
          </p:cNvPr>
          <p:cNvSpPr>
            <a:spLocks noGrp="1"/>
          </p:cNvSpPr>
          <p:nvPr/>
        </p:nvSpPr>
        <p:spPr>
          <a:xfrm>
            <a:off x="1257300" y="441960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Application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430A100-B87B-478A-ABC9-AE1426E4A351}"/>
              </a:ext>
            </a:extLst>
          </p:cNvPr>
          <p:cNvSpPr>
            <a:spLocks noGrp="1"/>
          </p:cNvSpPr>
          <p:nvPr/>
        </p:nvSpPr>
        <p:spPr>
          <a:xfrm>
            <a:off x="3638550" y="43434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9D89C04-15F1-4EF5-9171-3952719E93AB}"/>
              </a:ext>
            </a:extLst>
          </p:cNvPr>
          <p:cNvSpPr>
            <a:spLocks noGrp="1"/>
          </p:cNvSpPr>
          <p:nvPr/>
        </p:nvSpPr>
        <p:spPr>
          <a:xfrm>
            <a:off x="3733800" y="441960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 Service / AKS, gateway, monitoring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DF9B8AF-6CAB-40A2-AD8C-B38DBA5BA9FE}"/>
              </a:ext>
            </a:extLst>
          </p:cNvPr>
          <p:cNvSpPr>
            <a:spLocks noGrp="1"/>
          </p:cNvSpPr>
          <p:nvPr/>
        </p:nvSpPr>
        <p:spPr>
          <a:xfrm>
            <a:off x="6400800" y="43434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70F38AD-FBB5-47AE-9CE8-5DEC0B180D89}"/>
              </a:ext>
            </a:extLst>
          </p:cNvPr>
          <p:cNvSpPr>
            <a:spLocks noGrp="1"/>
          </p:cNvSpPr>
          <p:nvPr/>
        </p:nvSpPr>
        <p:spPr>
          <a:xfrm>
            <a:off x="6496050" y="441960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Build vs vendor deployment model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46B1598-6F5E-4A34-B6CF-11C34A9950FA}"/>
              </a:ext>
            </a:extLst>
          </p:cNvPr>
          <p:cNvSpPr>
            <a:spLocks noGrp="1"/>
          </p:cNvSpPr>
          <p:nvPr/>
        </p:nvSpPr>
        <p:spPr>
          <a:xfrm>
            <a:off x="1162050" y="4895850"/>
            <a:ext cx="8572500" cy="5524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0607130-C53D-4D5B-B12B-80F01AC1DE50}"/>
              </a:ext>
            </a:extLst>
          </p:cNvPr>
          <p:cNvSpPr>
            <a:spLocks noGrp="1"/>
          </p:cNvSpPr>
          <p:nvPr/>
        </p:nvSpPr>
        <p:spPr>
          <a:xfrm>
            <a:off x="1257300" y="497205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26D1DC9-3280-4E01-BD44-942F5D6BE137}"/>
              </a:ext>
            </a:extLst>
          </p:cNvPr>
          <p:cNvSpPr>
            <a:spLocks noGrp="1"/>
          </p:cNvSpPr>
          <p:nvPr/>
        </p:nvSpPr>
        <p:spPr>
          <a:xfrm>
            <a:off x="3638550" y="48958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862A1EB-FB0F-4372-AE7F-0ED004AFD773}"/>
              </a:ext>
            </a:extLst>
          </p:cNvPr>
          <p:cNvSpPr>
            <a:spLocks noGrp="1"/>
          </p:cNvSpPr>
          <p:nvPr/>
        </p:nvSpPr>
        <p:spPr>
          <a:xfrm>
            <a:off x="3733800" y="497205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PostgreSQL, storage, backup, retention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2841088-AE86-42BE-9840-133A963D7A55}"/>
              </a:ext>
            </a:extLst>
          </p:cNvPr>
          <p:cNvSpPr>
            <a:spLocks noGrp="1"/>
          </p:cNvSpPr>
          <p:nvPr/>
        </p:nvSpPr>
        <p:spPr>
          <a:xfrm>
            <a:off x="6400800" y="48958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3093310-FC04-4822-9518-4378CE30A1DB}"/>
              </a:ext>
            </a:extLst>
          </p:cNvPr>
          <p:cNvSpPr>
            <a:spLocks noGrp="1"/>
          </p:cNvSpPr>
          <p:nvPr/>
        </p:nvSpPr>
        <p:spPr>
          <a:xfrm>
            <a:off x="6496050" y="497205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RPO/RTO and data residency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132FB3E-C9A8-4DF5-A89E-509B168371E4}"/>
              </a:ext>
            </a:extLst>
          </p:cNvPr>
          <p:cNvSpPr>
            <a:spLocks noGrp="1"/>
          </p:cNvSpPr>
          <p:nvPr/>
        </p:nvSpPr>
        <p:spPr>
          <a:xfrm>
            <a:off x="1162050" y="5448300"/>
            <a:ext cx="8572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B0B8166-71F8-4BBD-871A-19F9E6EA2EC1}"/>
              </a:ext>
            </a:extLst>
          </p:cNvPr>
          <p:cNvSpPr>
            <a:spLocks noGrp="1"/>
          </p:cNvSpPr>
          <p:nvPr/>
        </p:nvSpPr>
        <p:spPr>
          <a:xfrm>
            <a:off x="1257300" y="552450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Integration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F331871-FE5B-4E63-8D4D-ADCD461137E8}"/>
              </a:ext>
            </a:extLst>
          </p:cNvPr>
          <p:cNvSpPr>
            <a:spLocks noGrp="1"/>
          </p:cNvSpPr>
          <p:nvPr/>
        </p:nvSpPr>
        <p:spPr>
          <a:xfrm>
            <a:off x="3638550" y="54483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063DD1A-9941-49AB-BC9D-3906358928AE}"/>
              </a:ext>
            </a:extLst>
          </p:cNvPr>
          <p:cNvSpPr>
            <a:spLocks noGrp="1"/>
          </p:cNvSpPr>
          <p:nvPr/>
        </p:nvSpPr>
        <p:spPr>
          <a:xfrm>
            <a:off x="3733800" y="552450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Databricks DWH, email, LSP channels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8627F21-E003-430F-BCAB-2DBEF21BA20D}"/>
              </a:ext>
            </a:extLst>
          </p:cNvPr>
          <p:cNvSpPr>
            <a:spLocks noGrp="1"/>
          </p:cNvSpPr>
          <p:nvPr/>
        </p:nvSpPr>
        <p:spPr>
          <a:xfrm>
            <a:off x="6400800" y="54483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3145B35-0552-461E-8203-DF29ED5F1EE0}"/>
              </a:ext>
            </a:extLst>
          </p:cNvPr>
          <p:cNvSpPr>
            <a:spLocks noGrp="1"/>
          </p:cNvSpPr>
          <p:nvPr/>
        </p:nvSpPr>
        <p:spPr>
          <a:xfrm>
            <a:off x="6496050" y="552450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Interface ownership and support</a:t>
            </a:r>
          </a:p>
        </p:txBody>
      </p:sp>
    </p:spTree>
    <p:extLst>
      <p:ext uri="{BB962C8B-B14F-4D97-AF65-F5344CB8AC3E}">
        <p14:creationId xmlns:p14="http://schemas.microsoft.com/office/powerpoint/2010/main" val="9067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>
            <a:extLst>
              <a:ext uri="{FF2B5EF4-FFF2-40B4-BE49-F238E27FC236}">
                <a16:creationId xmlns:a16="http://schemas.microsoft.com/office/drawing/2014/main" id="{ABFA692D-16A1-A6A8-B4A7-F04824767969}"/>
              </a:ext>
            </a:extLst>
          </p:cNvPr>
          <p:cNvSpPr txBox="1"/>
          <p:nvPr/>
        </p:nvSpPr>
        <p:spPr>
          <a:xfrm>
            <a:off x="533400" y="3429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75" b="1">
                <a:solidFill>
                  <a:srgbClr val="0B1F45"/>
                </a:solidFill>
                <a:latin typeface="Aptos Display" panose="020B0004020202020204" pitchFamily="34" charset="0"/>
              </a:rPr>
              <a:t>Build Option: Gated Roadmap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260154B-5A1D-017B-02E6-ABB1AA192C96}"/>
              </a:ext>
            </a:extLst>
          </p:cNvPr>
          <p:cNvSpPr txBox="1"/>
          <p:nvPr/>
        </p:nvSpPr>
        <p:spPr>
          <a:xfrm>
            <a:off x="552450" y="81915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50">
                <a:solidFill>
                  <a:srgbClr val="5B6B7E"/>
                </a:solidFill>
                <a:latin typeface="Aptos" panose="020B0004020202020204" pitchFamily="34" charset="0"/>
              </a:rPr>
              <a:t>The current prototype is the starting evidence, not the production end state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4F19F72-25A4-673C-C859-4FD3E329F032}"/>
              </a:ext>
            </a:extLst>
          </p:cNvPr>
          <p:cNvSpPr/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D958320-02D3-EF72-5CA5-46A7AB088B0B}"/>
              </a:ext>
            </a:extLst>
          </p:cNvPr>
          <p:cNvSpPr txBox="1"/>
          <p:nvPr/>
        </p:nvSpPr>
        <p:spPr>
          <a:xfrm>
            <a:off x="533400" y="6496050"/>
            <a:ext cx="409575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50">
                <a:solidFill>
                  <a:srgbClr val="5B6B7E"/>
                </a:solidFill>
                <a:latin typeface="Aptos" panose="020B0004020202020204" pitchFamily="34" charset="0"/>
              </a:rPr>
              <a:t>Bhawana Capital | LMS platform decision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D6E7356-5489-54BB-CB53-168CF8E0FB10}"/>
              </a:ext>
            </a:extLst>
          </p:cNvPr>
          <p:cNvSpPr txBox="1"/>
          <p:nvPr/>
        </p:nvSpPr>
        <p:spPr>
          <a:xfrm>
            <a:off x="11315700" y="6477000"/>
            <a:ext cx="342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25" b="1">
                <a:solidFill>
                  <a:srgbClr val="1769E0"/>
                </a:solidFill>
                <a:latin typeface="Aptos" panose="020B0004020202020204" pitchFamily="34" charset="0"/>
              </a:rPr>
              <a:t>08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240F079A-60ED-C4D6-5AD8-467EE90CBA7E}"/>
              </a:ext>
            </a:extLst>
          </p:cNvPr>
          <p:cNvSpPr/>
          <p:nvPr/>
        </p:nvSpPr>
        <p:spPr>
          <a:xfrm>
            <a:off x="875996" y="1409700"/>
            <a:ext cx="4972507" cy="1320800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E349049-1F8E-14C2-A3C9-E2365A32C890}"/>
              </a:ext>
            </a:extLst>
          </p:cNvPr>
          <p:cNvSpPr/>
          <p:nvPr/>
        </p:nvSpPr>
        <p:spPr>
          <a:xfrm>
            <a:off x="875996" y="1409700"/>
            <a:ext cx="57150" cy="1320800"/>
          </a:xfrm>
          <a:prstGeom prst="rect">
            <a:avLst/>
          </a:prstGeom>
          <a:solidFill>
            <a:srgbClr val="1769E0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A846DC4-45C1-8661-9BBD-1CC91473E77E}"/>
              </a:ext>
            </a:extLst>
          </p:cNvPr>
          <p:cNvSpPr txBox="1"/>
          <p:nvPr/>
        </p:nvSpPr>
        <p:spPr>
          <a:xfrm>
            <a:off x="1155396" y="1638300"/>
            <a:ext cx="4414723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50" b="1">
                <a:solidFill>
                  <a:srgbClr val="0B1F45"/>
                </a:solidFill>
                <a:latin typeface="Aptos" panose="020B0004020202020204" pitchFamily="34" charset="0"/>
              </a:rPr>
              <a:t>Hard gate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22EF4B6-9B5C-EFB1-F8BC-7439594CAB1A}"/>
              </a:ext>
            </a:extLst>
          </p:cNvPr>
          <p:cNvSpPr txBox="1"/>
          <p:nvPr/>
        </p:nvSpPr>
        <p:spPr>
          <a:xfrm>
            <a:off x="1155396" y="2095500"/>
            <a:ext cx="4414723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dirty="0">
                <a:solidFill>
                  <a:srgbClr val="17324D"/>
                </a:solidFill>
                <a:latin typeface="Aptos" panose="020B0004020202020204" pitchFamily="34" charset="0"/>
              </a:rPr>
              <a:t>No production LSP migration until ownership, security, audit, infrastructure, and manual exception operations are proven.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4F75BC29-B2BB-3782-3F65-F0C392DC5E4B}"/>
              </a:ext>
            </a:extLst>
          </p:cNvPr>
          <p:cNvSpPr/>
          <p:nvPr/>
        </p:nvSpPr>
        <p:spPr>
          <a:xfrm>
            <a:off x="6366968" y="1409700"/>
            <a:ext cx="4972507" cy="1320800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357AC49-ABCA-CCA7-E5EB-1AF2BFB7E67A}"/>
              </a:ext>
            </a:extLst>
          </p:cNvPr>
          <p:cNvSpPr/>
          <p:nvPr/>
        </p:nvSpPr>
        <p:spPr>
          <a:xfrm>
            <a:off x="6366968" y="1409700"/>
            <a:ext cx="57150" cy="1320800"/>
          </a:xfrm>
          <a:prstGeom prst="rect">
            <a:avLst/>
          </a:prstGeom>
          <a:solidFill>
            <a:srgbClr val="1769E0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9B34E34-9524-75DE-AE3B-049F3A72CA27}"/>
              </a:ext>
            </a:extLst>
          </p:cNvPr>
          <p:cNvSpPr txBox="1"/>
          <p:nvPr/>
        </p:nvSpPr>
        <p:spPr>
          <a:xfrm>
            <a:off x="6646368" y="1638300"/>
            <a:ext cx="4414723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50" b="1">
                <a:solidFill>
                  <a:srgbClr val="0B1F45"/>
                </a:solidFill>
                <a:latin typeface="Aptos" panose="020B0004020202020204" pitchFamily="34" charset="0"/>
              </a:rPr>
              <a:t>LSP value proof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62F40E0-6C0F-4773-8653-9E50112BF857}"/>
              </a:ext>
            </a:extLst>
          </p:cNvPr>
          <p:cNvSpPr txBox="1"/>
          <p:nvPr/>
        </p:nvSpPr>
        <p:spPr>
          <a:xfrm>
            <a:off x="6646368" y="2095500"/>
            <a:ext cx="4414723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dirty="0">
                <a:solidFill>
                  <a:srgbClr val="17324D"/>
                </a:solidFill>
                <a:latin typeface="Aptos" panose="020B0004020202020204" pitchFamily="34" charset="0"/>
              </a:rPr>
              <a:t>Pilot must prove the platform is easier for LSPs than email and manual follow-up.</a:t>
            </a:r>
          </a:p>
        </p:txBody>
      </p:sp>
      <p:sp>
        <p:nvSpPr>
          <p:cNvPr id="400" name="S9_400">
            <a:extLst>
              <a:ext uri="{FF2B5EF4-FFF2-40B4-BE49-F238E27FC236}">
                <a16:creationId xmlns:a16="http://schemas.microsoft.com/office/drawing/2014/main" id="{4A25A0E2-3B08-4EF9-9670-0086CE68FF82}"/>
              </a:ext>
            </a:extLst>
          </p:cNvPr>
          <p:cNvSpPr>
            <a:spLocks noGrp="1"/>
          </p:cNvSpPr>
          <p:nvPr/>
        </p:nvSpPr>
        <p:spPr>
          <a:xfrm>
            <a:off x="875995" y="3337560"/>
            <a:ext cx="2272284" cy="1481328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1" name="S9_401">
            <a:extLst>
              <a:ext uri="{FF2B5EF4-FFF2-40B4-BE49-F238E27FC236}">
                <a16:creationId xmlns:a16="http://schemas.microsoft.com/office/drawing/2014/main" id="{FA95580C-3751-410A-B40F-5151F33E4E90}"/>
              </a:ext>
            </a:extLst>
          </p:cNvPr>
          <p:cNvSpPr>
            <a:spLocks noGrp="1"/>
          </p:cNvSpPr>
          <p:nvPr/>
        </p:nvSpPr>
        <p:spPr>
          <a:xfrm>
            <a:off x="1028700" y="3489350"/>
            <a:ext cx="323850" cy="323850"/>
          </a:xfrm>
          <a:prstGeom prst="ellipse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2" name="S9_402">
            <a:extLst>
              <a:ext uri="{FF2B5EF4-FFF2-40B4-BE49-F238E27FC236}">
                <a16:creationId xmlns:a16="http://schemas.microsoft.com/office/drawing/2014/main" id="{989FCBBA-16A3-4184-AD96-4EA22B238358}"/>
              </a:ext>
            </a:extLst>
          </p:cNvPr>
          <p:cNvSpPr>
            <a:spLocks noGrp="1"/>
          </p:cNvSpPr>
          <p:nvPr/>
        </p:nvSpPr>
        <p:spPr>
          <a:xfrm>
            <a:off x="1028700" y="3546957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03" name="S9_403">
            <a:extLst>
              <a:ext uri="{FF2B5EF4-FFF2-40B4-BE49-F238E27FC236}">
                <a16:creationId xmlns:a16="http://schemas.microsoft.com/office/drawing/2014/main" id="{4ACAF123-CFF1-4B97-AD51-6219B4766F97}"/>
              </a:ext>
            </a:extLst>
          </p:cNvPr>
          <p:cNvSpPr>
            <a:spLocks noGrp="1"/>
          </p:cNvSpPr>
          <p:nvPr/>
        </p:nvSpPr>
        <p:spPr>
          <a:xfrm>
            <a:off x="1406232" y="3495209"/>
            <a:ext cx="1613001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100" b="1" dirty="0">
                <a:solidFill>
                  <a:srgbClr val="0B1F45"/>
                </a:solidFill>
                <a:latin typeface="Aptos"/>
                <a:ea typeface="Aptos"/>
                <a:cs typeface="Aptos"/>
              </a:rPr>
              <a:t>0–1 month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1100" b="1" dirty="0">
                <a:solidFill>
                  <a:srgbClr val="1769E0"/>
                </a:solidFill>
                <a:latin typeface="Aptos"/>
              </a:rPr>
              <a:t>Jul 2026</a:t>
            </a:r>
          </a:p>
        </p:txBody>
      </p:sp>
      <p:sp>
        <p:nvSpPr>
          <p:cNvPr id="404" name="S9_404">
            <a:extLst>
              <a:ext uri="{FF2B5EF4-FFF2-40B4-BE49-F238E27FC236}">
                <a16:creationId xmlns:a16="http://schemas.microsoft.com/office/drawing/2014/main" id="{2C69A05C-4BB7-49E1-9BC0-B8B07A245E3B}"/>
              </a:ext>
            </a:extLst>
          </p:cNvPr>
          <p:cNvSpPr>
            <a:spLocks noGrp="1"/>
          </p:cNvSpPr>
          <p:nvPr/>
        </p:nvSpPr>
        <p:spPr>
          <a:xfrm>
            <a:off x="1047902" y="3922776"/>
            <a:ext cx="1928469" cy="8046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00" b="1" dirty="0">
                <a:solidFill>
                  <a:srgbClr val="0B1F45"/>
                </a:solidFill>
                <a:latin typeface="Aptos"/>
              </a:rPr>
              <a:t>Decision and scope</a:t>
            </a:r>
          </a:p>
          <a:p>
            <a:r>
              <a:rPr sz="1100" b="0" dirty="0">
                <a:solidFill>
                  <a:srgbClr val="17324D"/>
                </a:solidFill>
                <a:latin typeface="Aptos"/>
              </a:rPr>
              <a:t>Confirm owner, target process, and LSP value case.</a:t>
            </a:r>
          </a:p>
        </p:txBody>
      </p:sp>
      <p:sp>
        <p:nvSpPr>
          <p:cNvPr id="405" name="S9_405">
            <a:extLst>
              <a:ext uri="{FF2B5EF4-FFF2-40B4-BE49-F238E27FC236}">
                <a16:creationId xmlns:a16="http://schemas.microsoft.com/office/drawing/2014/main" id="{7608177E-0023-41DB-9241-93A38321285E}"/>
              </a:ext>
            </a:extLst>
          </p:cNvPr>
          <p:cNvSpPr>
            <a:spLocks noGrp="1"/>
          </p:cNvSpPr>
          <p:nvPr/>
        </p:nvSpPr>
        <p:spPr>
          <a:xfrm>
            <a:off x="3605479" y="3337560"/>
            <a:ext cx="2272284" cy="1481328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6" name="S9_406">
            <a:extLst>
              <a:ext uri="{FF2B5EF4-FFF2-40B4-BE49-F238E27FC236}">
                <a16:creationId xmlns:a16="http://schemas.microsoft.com/office/drawing/2014/main" id="{03DF20E9-8ADD-44A6-A451-B587C0C53C37}"/>
              </a:ext>
            </a:extLst>
          </p:cNvPr>
          <p:cNvSpPr>
            <a:spLocks noGrp="1"/>
          </p:cNvSpPr>
          <p:nvPr/>
        </p:nvSpPr>
        <p:spPr>
          <a:xfrm>
            <a:off x="3758184" y="3489350"/>
            <a:ext cx="323850" cy="323850"/>
          </a:xfrm>
          <a:prstGeom prst="ellipse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7" name="S9_407">
            <a:extLst>
              <a:ext uri="{FF2B5EF4-FFF2-40B4-BE49-F238E27FC236}">
                <a16:creationId xmlns:a16="http://schemas.microsoft.com/office/drawing/2014/main" id="{74055FEA-ADA8-4253-ACCF-8E00AA8F53B8}"/>
              </a:ext>
            </a:extLst>
          </p:cNvPr>
          <p:cNvSpPr>
            <a:spLocks noGrp="1"/>
          </p:cNvSpPr>
          <p:nvPr/>
        </p:nvSpPr>
        <p:spPr>
          <a:xfrm>
            <a:off x="3758184" y="3546957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08" name="S9_408">
            <a:extLst>
              <a:ext uri="{FF2B5EF4-FFF2-40B4-BE49-F238E27FC236}">
                <a16:creationId xmlns:a16="http://schemas.microsoft.com/office/drawing/2014/main" id="{D987BE79-14A0-4D35-8715-1737D796CC50}"/>
              </a:ext>
            </a:extLst>
          </p:cNvPr>
          <p:cNvSpPr>
            <a:spLocks noGrp="1"/>
          </p:cNvSpPr>
          <p:nvPr/>
        </p:nvSpPr>
        <p:spPr>
          <a:xfrm>
            <a:off x="4126565" y="3466831"/>
            <a:ext cx="1613001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100" b="1" dirty="0">
                <a:solidFill>
                  <a:srgbClr val="0B1F45"/>
                </a:solidFill>
                <a:latin typeface="Aptos"/>
                <a:ea typeface="Aptos"/>
                <a:cs typeface="Aptos"/>
              </a:rPr>
              <a:t>1–3 months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1100" b="1" dirty="0">
                <a:solidFill>
                  <a:srgbClr val="1769E0"/>
                </a:solidFill>
                <a:latin typeface="Aptos"/>
              </a:rPr>
              <a:t>Aug–Sep 2026</a:t>
            </a:r>
          </a:p>
        </p:txBody>
      </p:sp>
      <p:sp>
        <p:nvSpPr>
          <p:cNvPr id="409" name="S9_409">
            <a:extLst>
              <a:ext uri="{FF2B5EF4-FFF2-40B4-BE49-F238E27FC236}">
                <a16:creationId xmlns:a16="http://schemas.microsoft.com/office/drawing/2014/main" id="{EE0390E2-013D-4B78-8500-E3855B1947F9}"/>
              </a:ext>
            </a:extLst>
          </p:cNvPr>
          <p:cNvSpPr>
            <a:spLocks noGrp="1"/>
          </p:cNvSpPr>
          <p:nvPr/>
        </p:nvSpPr>
        <p:spPr>
          <a:xfrm>
            <a:off x="3777386" y="3974439"/>
            <a:ext cx="1928469" cy="8046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00" b="1" dirty="0">
                <a:solidFill>
                  <a:srgbClr val="0B1F45"/>
                </a:solidFill>
                <a:latin typeface="Aptos"/>
              </a:rPr>
              <a:t>MVP hardening</a:t>
            </a:r>
          </a:p>
          <a:p>
            <a:r>
              <a:rPr sz="1100" b="0" dirty="0">
                <a:solidFill>
                  <a:srgbClr val="17324D"/>
                </a:solidFill>
                <a:latin typeface="Aptos"/>
              </a:rPr>
              <a:t>Azure, </a:t>
            </a:r>
            <a:r>
              <a:rPr sz="1100" b="0" dirty="0" err="1">
                <a:solidFill>
                  <a:srgbClr val="17324D"/>
                </a:solidFill>
                <a:latin typeface="Aptos"/>
              </a:rPr>
              <a:t>Entra</a:t>
            </a:r>
            <a:r>
              <a:rPr sz="1100" b="0" dirty="0">
                <a:solidFill>
                  <a:srgbClr val="17324D"/>
                </a:solidFill>
                <a:latin typeface="Aptos"/>
              </a:rPr>
              <a:t> ID, audit, GitHub CI/CD, SDLC.</a:t>
            </a:r>
          </a:p>
        </p:txBody>
      </p:sp>
      <p:sp>
        <p:nvSpPr>
          <p:cNvPr id="410" name="S9_410">
            <a:extLst>
              <a:ext uri="{FF2B5EF4-FFF2-40B4-BE49-F238E27FC236}">
                <a16:creationId xmlns:a16="http://schemas.microsoft.com/office/drawing/2014/main" id="{2CACBDF1-8DA4-43D1-8F5B-C4EF6F7D9012}"/>
              </a:ext>
            </a:extLst>
          </p:cNvPr>
          <p:cNvSpPr>
            <a:spLocks noGrp="1"/>
          </p:cNvSpPr>
          <p:nvPr/>
        </p:nvSpPr>
        <p:spPr>
          <a:xfrm>
            <a:off x="6334963" y="3337560"/>
            <a:ext cx="2272284" cy="1481328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1" name="S9_411">
            <a:extLst>
              <a:ext uri="{FF2B5EF4-FFF2-40B4-BE49-F238E27FC236}">
                <a16:creationId xmlns:a16="http://schemas.microsoft.com/office/drawing/2014/main" id="{5B0D52DE-79C5-4F6A-A294-488D692E874D}"/>
              </a:ext>
            </a:extLst>
          </p:cNvPr>
          <p:cNvSpPr>
            <a:spLocks noGrp="1"/>
          </p:cNvSpPr>
          <p:nvPr/>
        </p:nvSpPr>
        <p:spPr>
          <a:xfrm>
            <a:off x="6487668" y="3489350"/>
            <a:ext cx="323850" cy="323850"/>
          </a:xfrm>
          <a:prstGeom prst="ellipse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2" name="S9_412">
            <a:extLst>
              <a:ext uri="{FF2B5EF4-FFF2-40B4-BE49-F238E27FC236}">
                <a16:creationId xmlns:a16="http://schemas.microsoft.com/office/drawing/2014/main" id="{8777E434-01E7-48A4-B11F-BAEC15A3DCCC}"/>
              </a:ext>
            </a:extLst>
          </p:cNvPr>
          <p:cNvSpPr>
            <a:spLocks noGrp="1"/>
          </p:cNvSpPr>
          <p:nvPr/>
        </p:nvSpPr>
        <p:spPr>
          <a:xfrm>
            <a:off x="6487668" y="3546957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13" name="S9_413">
            <a:extLst>
              <a:ext uri="{FF2B5EF4-FFF2-40B4-BE49-F238E27FC236}">
                <a16:creationId xmlns:a16="http://schemas.microsoft.com/office/drawing/2014/main" id="{A5A0387E-2857-4F24-99D0-66D3CAB56A98}"/>
              </a:ext>
            </a:extLst>
          </p:cNvPr>
          <p:cNvSpPr>
            <a:spLocks noGrp="1"/>
          </p:cNvSpPr>
          <p:nvPr/>
        </p:nvSpPr>
        <p:spPr>
          <a:xfrm>
            <a:off x="6869963" y="3473779"/>
            <a:ext cx="1613001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100" b="1" dirty="0">
                <a:solidFill>
                  <a:srgbClr val="0B1F45"/>
                </a:solidFill>
                <a:latin typeface="Aptos"/>
                <a:ea typeface="Aptos"/>
                <a:cs typeface="Aptos"/>
              </a:rPr>
              <a:t>3–5 months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1100" b="1" dirty="0">
                <a:solidFill>
                  <a:srgbClr val="1769E0"/>
                </a:solidFill>
                <a:latin typeface="Aptos"/>
              </a:rPr>
              <a:t>Oct–Nov 2026</a:t>
            </a:r>
          </a:p>
        </p:txBody>
      </p:sp>
      <p:sp>
        <p:nvSpPr>
          <p:cNvPr id="414" name="S9_414">
            <a:extLst>
              <a:ext uri="{FF2B5EF4-FFF2-40B4-BE49-F238E27FC236}">
                <a16:creationId xmlns:a16="http://schemas.microsoft.com/office/drawing/2014/main" id="{391BB3CB-DEB7-417E-B3A0-A51536B66302}"/>
              </a:ext>
            </a:extLst>
          </p:cNvPr>
          <p:cNvSpPr>
            <a:spLocks noGrp="1"/>
          </p:cNvSpPr>
          <p:nvPr/>
        </p:nvSpPr>
        <p:spPr>
          <a:xfrm>
            <a:off x="6506870" y="3922776"/>
            <a:ext cx="1928469" cy="8046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00" b="1" dirty="0">
                <a:solidFill>
                  <a:srgbClr val="0B1F45"/>
                </a:solidFill>
                <a:latin typeface="Aptos"/>
              </a:rPr>
              <a:t>Pilot</a:t>
            </a:r>
          </a:p>
          <a:p>
            <a:r>
              <a:rPr sz="1100" b="0" dirty="0">
                <a:solidFill>
                  <a:srgbClr val="17324D"/>
                </a:solidFill>
                <a:latin typeface="Aptos"/>
              </a:rPr>
              <a:t>One or two LSPs, manual exception flow, reporting.</a:t>
            </a:r>
          </a:p>
        </p:txBody>
      </p:sp>
      <p:sp>
        <p:nvSpPr>
          <p:cNvPr id="415" name="S9_415">
            <a:extLst>
              <a:ext uri="{FF2B5EF4-FFF2-40B4-BE49-F238E27FC236}">
                <a16:creationId xmlns:a16="http://schemas.microsoft.com/office/drawing/2014/main" id="{55427757-C608-4EDE-87DF-572039BD3F21}"/>
              </a:ext>
            </a:extLst>
          </p:cNvPr>
          <p:cNvSpPr>
            <a:spLocks noGrp="1"/>
          </p:cNvSpPr>
          <p:nvPr/>
        </p:nvSpPr>
        <p:spPr>
          <a:xfrm>
            <a:off x="9064447" y="3337560"/>
            <a:ext cx="2464534" cy="1481328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6" name="S9_416">
            <a:extLst>
              <a:ext uri="{FF2B5EF4-FFF2-40B4-BE49-F238E27FC236}">
                <a16:creationId xmlns:a16="http://schemas.microsoft.com/office/drawing/2014/main" id="{92855D96-CDEC-4559-A422-07A89EEB746F}"/>
              </a:ext>
            </a:extLst>
          </p:cNvPr>
          <p:cNvSpPr>
            <a:spLocks noGrp="1"/>
          </p:cNvSpPr>
          <p:nvPr/>
        </p:nvSpPr>
        <p:spPr>
          <a:xfrm>
            <a:off x="9217152" y="3489350"/>
            <a:ext cx="323850" cy="323850"/>
          </a:xfrm>
          <a:prstGeom prst="ellipse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7" name="S9_417">
            <a:extLst>
              <a:ext uri="{FF2B5EF4-FFF2-40B4-BE49-F238E27FC236}">
                <a16:creationId xmlns:a16="http://schemas.microsoft.com/office/drawing/2014/main" id="{DC372C6B-2299-420A-B8D0-779AFCA61E8C}"/>
              </a:ext>
            </a:extLst>
          </p:cNvPr>
          <p:cNvSpPr>
            <a:spLocks noGrp="1"/>
          </p:cNvSpPr>
          <p:nvPr/>
        </p:nvSpPr>
        <p:spPr>
          <a:xfrm>
            <a:off x="9217152" y="3546957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18" name="S9_418">
            <a:extLst>
              <a:ext uri="{FF2B5EF4-FFF2-40B4-BE49-F238E27FC236}">
                <a16:creationId xmlns:a16="http://schemas.microsoft.com/office/drawing/2014/main" id="{D2F10DB2-7389-4CF0-99F2-C89C9E8165F5}"/>
              </a:ext>
            </a:extLst>
          </p:cNvPr>
          <p:cNvSpPr>
            <a:spLocks noGrp="1"/>
          </p:cNvSpPr>
          <p:nvPr/>
        </p:nvSpPr>
        <p:spPr>
          <a:xfrm>
            <a:off x="9618421" y="3462375"/>
            <a:ext cx="1613001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100" b="1" dirty="0">
                <a:solidFill>
                  <a:srgbClr val="0B1F45"/>
                </a:solidFill>
                <a:latin typeface="Aptos"/>
                <a:ea typeface="Aptos"/>
                <a:cs typeface="Aptos"/>
              </a:rPr>
              <a:t>5–8 months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1100" b="1" dirty="0">
                <a:solidFill>
                  <a:srgbClr val="1769E0"/>
                </a:solidFill>
                <a:latin typeface="Aptos"/>
              </a:rPr>
              <a:t>Dec 2026–Feb 2027</a:t>
            </a:r>
          </a:p>
        </p:txBody>
      </p:sp>
      <p:sp>
        <p:nvSpPr>
          <p:cNvPr id="419" name="S9_419">
            <a:extLst>
              <a:ext uri="{FF2B5EF4-FFF2-40B4-BE49-F238E27FC236}">
                <a16:creationId xmlns:a16="http://schemas.microsoft.com/office/drawing/2014/main" id="{C016C6E2-DE02-4FC4-B234-BD259BCDF7B0}"/>
              </a:ext>
            </a:extLst>
          </p:cNvPr>
          <p:cNvSpPr>
            <a:spLocks noGrp="1"/>
          </p:cNvSpPr>
          <p:nvPr/>
        </p:nvSpPr>
        <p:spPr>
          <a:xfrm>
            <a:off x="9236354" y="3922776"/>
            <a:ext cx="1928469" cy="8046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00" b="1" dirty="0">
                <a:solidFill>
                  <a:srgbClr val="0B1F45"/>
                </a:solidFill>
                <a:latin typeface="Aptos"/>
              </a:rPr>
              <a:t>Scale readiness</a:t>
            </a:r>
          </a:p>
          <a:p>
            <a:r>
              <a:rPr sz="1100" b="0" dirty="0">
                <a:solidFill>
                  <a:srgbClr val="17324D"/>
                </a:solidFill>
                <a:latin typeface="Aptos"/>
              </a:rPr>
              <a:t>Monitoring, DR, performance, Databricks DWH.</a:t>
            </a:r>
          </a:p>
        </p:txBody>
      </p:sp>
      <p:sp>
        <p:nvSpPr>
          <p:cNvPr id="420" name="S9arr_420">
            <a:extLst>
              <a:ext uri="{FF2B5EF4-FFF2-40B4-BE49-F238E27FC236}">
                <a16:creationId xmlns:a16="http://schemas.microsoft.com/office/drawing/2014/main" id="{AD04E8C3-F453-4CD2-8696-8C128404925E}"/>
              </a:ext>
            </a:extLst>
          </p:cNvPr>
          <p:cNvSpPr>
            <a:spLocks noGrp="1"/>
          </p:cNvSpPr>
          <p:nvPr/>
        </p:nvSpPr>
        <p:spPr>
          <a:xfrm>
            <a:off x="3215030" y="3963924"/>
            <a:ext cx="32385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1" name="S9arr_421">
            <a:extLst>
              <a:ext uri="{FF2B5EF4-FFF2-40B4-BE49-F238E27FC236}">
                <a16:creationId xmlns:a16="http://schemas.microsoft.com/office/drawing/2014/main" id="{6D26D279-6FAC-4E28-834E-3A6F8D1C5649}"/>
              </a:ext>
            </a:extLst>
          </p:cNvPr>
          <p:cNvSpPr>
            <a:spLocks noGrp="1"/>
          </p:cNvSpPr>
          <p:nvPr/>
        </p:nvSpPr>
        <p:spPr>
          <a:xfrm>
            <a:off x="5944514" y="3963924"/>
            <a:ext cx="32385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2" name="S9arr_422">
            <a:extLst>
              <a:ext uri="{FF2B5EF4-FFF2-40B4-BE49-F238E27FC236}">
                <a16:creationId xmlns:a16="http://schemas.microsoft.com/office/drawing/2014/main" id="{BDCB473C-85F9-4C34-B389-7FDCFE3BD683}"/>
              </a:ext>
            </a:extLst>
          </p:cNvPr>
          <p:cNvSpPr>
            <a:spLocks noGrp="1"/>
          </p:cNvSpPr>
          <p:nvPr/>
        </p:nvSpPr>
        <p:spPr>
          <a:xfrm>
            <a:off x="8673998" y="3963924"/>
            <a:ext cx="32385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3" name="S9_takeaway">
            <a:extLst>
              <a:ext uri="{FF2B5EF4-FFF2-40B4-BE49-F238E27FC236}">
                <a16:creationId xmlns:a16="http://schemas.microsoft.com/office/drawing/2014/main" id="{EC1319A2-82B0-4D1E-8561-807185C13618}"/>
              </a:ext>
            </a:extLst>
          </p:cNvPr>
          <p:cNvSpPr>
            <a:spLocks noGrp="1"/>
          </p:cNvSpPr>
          <p:nvPr/>
        </p:nvSpPr>
        <p:spPr>
          <a:xfrm>
            <a:off x="779864" y="5511910"/>
            <a:ext cx="991416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 dirty="0">
                <a:solidFill>
                  <a:srgbClr val="0B1F45"/>
                </a:solidFill>
                <a:latin typeface="Aptos"/>
                <a:ea typeface="Aptos"/>
                <a:cs typeface="Aptos"/>
              </a:rPr>
              <a:t>Production scale is earned gate by gate — proven ownership, security, audit, and clear LSP value, not a demo.</a:t>
            </a:r>
          </a:p>
        </p:txBody>
      </p:sp>
    </p:spTree>
    <p:extLst>
      <p:ext uri="{BB962C8B-B14F-4D97-AF65-F5344CB8AC3E}">
        <p14:creationId xmlns:p14="http://schemas.microsoft.com/office/powerpoint/2010/main" val="1863723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641848"/>
            <a:ext cx="12188952" cy="1216152"/>
          </a:xfrm>
          <a:prstGeom prst="rect">
            <a:avLst/>
          </a:prstGeom>
          <a:solidFill>
            <a:srgbClr val="09275B"/>
          </a:solidFill>
          <a:ln w="9525">
            <a:solidFill>
              <a:srgbClr val="0927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58952" y="2542032"/>
            <a:ext cx="2697480" cy="420624"/>
          </a:xfrm>
          <a:prstGeom prst="roundRect">
            <a:avLst>
              <a:gd name="adj" fmla="val 50000"/>
            </a:avLst>
          </a:prstGeom>
          <a:solidFill>
            <a:srgbClr val="183B78"/>
          </a:solidFill>
          <a:ln w="9525">
            <a:solidFill>
              <a:srgbClr val="6F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2560320"/>
            <a:ext cx="2697480" cy="384048"/>
          </a:xfrm>
          <a:prstGeom prst="rect">
            <a:avLst/>
          </a:prstGeom>
          <a:noFill/>
        </p:spPr>
        <p:txBody>
          <a:bodyPr wrap="square" lIns="45720" tIns="11430" rIns="45720" bIns="1143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SECTION · OPTION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54096"/>
            <a:ext cx="10515600" cy="868680"/>
          </a:xfrm>
          <a:prstGeom prst="rect">
            <a:avLst/>
          </a:prstGeom>
          <a:noFill/>
        </p:spPr>
        <p:txBody>
          <a:bodyPr wrap="square" lIns="45720" tIns="11430" rIns="45720" bIns="11430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 Display"/>
              </a:rPr>
              <a:t>Option B — Vendor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3968496"/>
            <a:ext cx="1554480" cy="50292"/>
          </a:xfrm>
          <a:prstGeom prst="rect">
            <a:avLst/>
          </a:prstGeom>
          <a:solidFill>
            <a:srgbClr val="6FB6FF"/>
          </a:solidFill>
          <a:ln w="9525">
            <a:solidFill>
              <a:srgbClr val="6F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4114800"/>
            <a:ext cx="9601200" cy="457200"/>
          </a:xfrm>
          <a:prstGeom prst="rect">
            <a:avLst/>
          </a:prstGeom>
          <a:noFill/>
        </p:spPr>
        <p:txBody>
          <a:bodyPr wrap="square" lIns="45720" tIns="11430" rIns="45720" bIns="11430" anchor="t">
            <a:spAutoFit/>
          </a:bodyPr>
          <a:lstStyle/>
          <a:p>
            <a:pPr algn="l"/>
            <a:r>
              <a:rPr sz="1600" b="0">
                <a:solidFill>
                  <a:srgbClr val="D7E8FF"/>
                </a:solidFill>
                <a:latin typeface="Aptos"/>
              </a:rPr>
              <a:t>Buy path: vendor RFP, due-diligence assessment, and indicative vendor cost.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6455664"/>
            <a:ext cx="5029200" cy="201168"/>
          </a:xfrm>
          <a:prstGeom prst="rect">
            <a:avLst/>
          </a:prstGeom>
          <a:noFill/>
        </p:spPr>
        <p:txBody>
          <a:bodyPr wrap="square" lIns="45720" tIns="11430" rIns="45720" bIns="11430" anchor="t">
            <a:spAutoFit/>
          </a:bodyPr>
          <a:lstStyle/>
          <a:p>
            <a:pPr algn="l"/>
            <a:r>
              <a:rPr sz="950" b="0">
                <a:solidFill>
                  <a:srgbClr val="AFCBEE"/>
                </a:solidFill>
                <a:latin typeface="Aptos"/>
              </a:rPr>
              <a:t>Bhawana Capital | LMS platform decision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282467C3-9AE7-441E-85EA-CFE9B706E142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Buy Option: Assessment Required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487FB0-E544-49A2-AF8C-3E68576244FF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A vendor decision needs months of diligence, not a demo-only comparison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682F84-59D7-4A17-AEAD-A49942AAD77D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F2E3A9-6552-4FCD-BD2B-E317E3D9D752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6D0150-F062-4A8B-948D-B3FE15AB33BC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DC5B1C-77B6-4EEF-9FE4-79FC252B9E50}"/>
              </a:ext>
            </a:extLst>
          </p:cNvPr>
          <p:cNvSpPr>
            <a:spLocks noGrp="1"/>
          </p:cNvSpPr>
          <p:nvPr/>
        </p:nvSpPr>
        <p:spPr>
          <a:xfrm>
            <a:off x="628650" y="1466850"/>
            <a:ext cx="10477500" cy="590550"/>
          </a:xfrm>
          <a:prstGeom prst="rect">
            <a:avLst/>
          </a:prstGeom>
          <a:solidFill>
            <a:srgbClr val="0B1F45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7045E0-1113-4803-B502-4F4E2ED00936}"/>
              </a:ext>
            </a:extLst>
          </p:cNvPr>
          <p:cNvSpPr>
            <a:spLocks noGrp="1"/>
          </p:cNvSpPr>
          <p:nvPr/>
        </p:nvSpPr>
        <p:spPr>
          <a:xfrm>
            <a:off x="723900" y="154305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Assessment area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854604-5D9D-421F-8619-F46CE12F7096}"/>
              </a:ext>
            </a:extLst>
          </p:cNvPr>
          <p:cNvSpPr>
            <a:spLocks noGrp="1"/>
          </p:cNvSpPr>
          <p:nvPr/>
        </p:nvSpPr>
        <p:spPr>
          <a:xfrm>
            <a:off x="2724150" y="14668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F91E14-EBDC-421B-8927-FAE9292278D4}"/>
              </a:ext>
            </a:extLst>
          </p:cNvPr>
          <p:cNvSpPr>
            <a:spLocks noGrp="1"/>
          </p:cNvSpPr>
          <p:nvPr/>
        </p:nvSpPr>
        <p:spPr>
          <a:xfrm>
            <a:off x="2819400" y="154305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to verify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AECB02-DB85-4AEE-8C5A-00A53FC79153}"/>
              </a:ext>
            </a:extLst>
          </p:cNvPr>
          <p:cNvSpPr>
            <a:spLocks noGrp="1"/>
          </p:cNvSpPr>
          <p:nvPr/>
        </p:nvSpPr>
        <p:spPr>
          <a:xfrm>
            <a:off x="5867400" y="14668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EDA8CE-6AE4-4A34-A5EA-758C6C77F85F}"/>
              </a:ext>
            </a:extLst>
          </p:cNvPr>
          <p:cNvSpPr>
            <a:spLocks noGrp="1"/>
          </p:cNvSpPr>
          <p:nvPr/>
        </p:nvSpPr>
        <p:spPr>
          <a:xfrm>
            <a:off x="5962650" y="154305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2B0645-1D32-4536-962A-B9D690359124}"/>
              </a:ext>
            </a:extLst>
          </p:cNvPr>
          <p:cNvSpPr>
            <a:spLocks noGrp="1"/>
          </p:cNvSpPr>
          <p:nvPr/>
        </p:nvSpPr>
        <p:spPr>
          <a:xfrm>
            <a:off x="8248650" y="14668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364654-D169-4EFF-8840-F96143E1D4A9}"/>
              </a:ext>
            </a:extLst>
          </p:cNvPr>
          <p:cNvSpPr>
            <a:spLocks noGrp="1"/>
          </p:cNvSpPr>
          <p:nvPr/>
        </p:nvSpPr>
        <p:spPr>
          <a:xfrm>
            <a:off x="8343900" y="154305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A430C6-9BEA-4826-A283-978728A149E7}"/>
              </a:ext>
            </a:extLst>
          </p:cNvPr>
          <p:cNvSpPr>
            <a:spLocks noGrp="1"/>
          </p:cNvSpPr>
          <p:nvPr/>
        </p:nvSpPr>
        <p:spPr>
          <a:xfrm>
            <a:off x="628650" y="2057400"/>
            <a:ext cx="10477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319D98-1DEB-4B63-83FC-35153EFEBBCA}"/>
              </a:ext>
            </a:extLst>
          </p:cNvPr>
          <p:cNvSpPr>
            <a:spLocks noGrp="1"/>
          </p:cNvSpPr>
          <p:nvPr/>
        </p:nvSpPr>
        <p:spPr>
          <a:xfrm>
            <a:off x="723900" y="213360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Functional fit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881CA7-46B0-4FBD-A9EF-7FA051F94C7F}"/>
              </a:ext>
            </a:extLst>
          </p:cNvPr>
          <p:cNvSpPr>
            <a:spLocks noGrp="1"/>
          </p:cNvSpPr>
          <p:nvPr/>
        </p:nvSpPr>
        <p:spPr>
          <a:xfrm>
            <a:off x="2724150" y="20574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214D270-44BA-4659-90EC-CE11D4144740}"/>
              </a:ext>
            </a:extLst>
          </p:cNvPr>
          <p:cNvSpPr>
            <a:spLocks noGrp="1"/>
          </p:cNvSpPr>
          <p:nvPr/>
        </p:nvSpPr>
        <p:spPr>
          <a:xfrm>
            <a:off x="2819400" y="213360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Origination, approval, audit, reporting, exceptions.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93D9AA-B779-46FA-8DBF-EBA1E1393B80}"/>
              </a:ext>
            </a:extLst>
          </p:cNvPr>
          <p:cNvSpPr>
            <a:spLocks noGrp="1"/>
          </p:cNvSpPr>
          <p:nvPr/>
        </p:nvSpPr>
        <p:spPr>
          <a:xfrm>
            <a:off x="5867400" y="20574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01FF11C-5EF4-4EE0-8648-95C45B14E9B4}"/>
              </a:ext>
            </a:extLst>
          </p:cNvPr>
          <p:cNvSpPr>
            <a:spLocks noGrp="1"/>
          </p:cNvSpPr>
          <p:nvPr/>
        </p:nvSpPr>
        <p:spPr>
          <a:xfrm>
            <a:off x="5962650" y="213360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Product + Ops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3897273-1F10-47BA-9875-7CD4DD41A99E}"/>
              </a:ext>
            </a:extLst>
          </p:cNvPr>
          <p:cNvSpPr>
            <a:spLocks noGrp="1"/>
          </p:cNvSpPr>
          <p:nvPr/>
        </p:nvSpPr>
        <p:spPr>
          <a:xfrm>
            <a:off x="8248650" y="20574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7BB6A0-E05B-4CFC-9CD3-0D2D224E64A6}"/>
              </a:ext>
            </a:extLst>
          </p:cNvPr>
          <p:cNvSpPr>
            <a:spLocks noGrp="1"/>
          </p:cNvSpPr>
          <p:nvPr/>
        </p:nvSpPr>
        <p:spPr>
          <a:xfrm>
            <a:off x="8343900" y="213360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Fit-gap matrix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CB7F464-7A41-4EBC-932C-6F4D20875419}"/>
              </a:ext>
            </a:extLst>
          </p:cNvPr>
          <p:cNvSpPr>
            <a:spLocks noGrp="1"/>
          </p:cNvSpPr>
          <p:nvPr/>
        </p:nvSpPr>
        <p:spPr>
          <a:xfrm>
            <a:off x="628650" y="2647950"/>
            <a:ext cx="10477500" cy="5905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5EE3615-A279-4CFB-A98B-8D8CBEA75BA4}"/>
              </a:ext>
            </a:extLst>
          </p:cNvPr>
          <p:cNvSpPr>
            <a:spLocks noGrp="1"/>
          </p:cNvSpPr>
          <p:nvPr/>
        </p:nvSpPr>
        <p:spPr>
          <a:xfrm>
            <a:off x="723900" y="272415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audit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66306AE-7607-449F-A67C-6E2EA9B4DEB6}"/>
              </a:ext>
            </a:extLst>
          </p:cNvPr>
          <p:cNvSpPr>
            <a:spLocks noGrp="1"/>
          </p:cNvSpPr>
          <p:nvPr/>
        </p:nvSpPr>
        <p:spPr>
          <a:xfrm>
            <a:off x="2724150" y="26479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4BAA8D5-34A1-4EB0-B99C-A5578E7E500A}"/>
              </a:ext>
            </a:extLst>
          </p:cNvPr>
          <p:cNvSpPr>
            <a:spLocks noGrp="1"/>
          </p:cNvSpPr>
          <p:nvPr/>
        </p:nvSpPr>
        <p:spPr>
          <a:xfrm>
            <a:off x="2819400" y="272415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SSO, RBAC, logs, encryption, vulnerability posture.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FF65C3D-91C8-4794-99F8-DF1C9CDEAD27}"/>
              </a:ext>
            </a:extLst>
          </p:cNvPr>
          <p:cNvSpPr>
            <a:spLocks noGrp="1"/>
          </p:cNvSpPr>
          <p:nvPr/>
        </p:nvSpPr>
        <p:spPr>
          <a:xfrm>
            <a:off x="5867400" y="26479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3393488-F2B0-4078-9EB7-E8C1DAC5C4D0}"/>
              </a:ext>
            </a:extLst>
          </p:cNvPr>
          <p:cNvSpPr>
            <a:spLocks noGrp="1"/>
          </p:cNvSpPr>
          <p:nvPr/>
        </p:nvSpPr>
        <p:spPr>
          <a:xfrm>
            <a:off x="5962650" y="272415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IT Security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63B2F46-291A-4545-AB68-5EB17A4673FE}"/>
              </a:ext>
            </a:extLst>
          </p:cNvPr>
          <p:cNvSpPr>
            <a:spLocks noGrp="1"/>
          </p:cNvSpPr>
          <p:nvPr/>
        </p:nvSpPr>
        <p:spPr>
          <a:xfrm>
            <a:off x="8248650" y="26479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EB4E398-F3C9-43B9-AF6E-4F5EEB08FCF3}"/>
              </a:ext>
            </a:extLst>
          </p:cNvPr>
          <p:cNvSpPr>
            <a:spLocks noGrp="1"/>
          </p:cNvSpPr>
          <p:nvPr/>
        </p:nvSpPr>
        <p:spPr>
          <a:xfrm>
            <a:off x="8343900" y="272415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sign-off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24DFE5C-0888-4699-A676-84807081DBC5}"/>
              </a:ext>
            </a:extLst>
          </p:cNvPr>
          <p:cNvSpPr>
            <a:spLocks noGrp="1"/>
          </p:cNvSpPr>
          <p:nvPr/>
        </p:nvSpPr>
        <p:spPr>
          <a:xfrm>
            <a:off x="628650" y="3238500"/>
            <a:ext cx="10477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1F7D5C4-718E-4064-96E1-2A81052E82BD}"/>
              </a:ext>
            </a:extLst>
          </p:cNvPr>
          <p:cNvSpPr>
            <a:spLocks noGrp="1"/>
          </p:cNvSpPr>
          <p:nvPr/>
        </p:nvSpPr>
        <p:spPr>
          <a:xfrm>
            <a:off x="723900" y="331470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Integration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AF42C93-6845-4D87-81A6-6B34A8B866CD}"/>
              </a:ext>
            </a:extLst>
          </p:cNvPr>
          <p:cNvSpPr>
            <a:spLocks noGrp="1"/>
          </p:cNvSpPr>
          <p:nvPr/>
        </p:nvSpPr>
        <p:spPr>
          <a:xfrm>
            <a:off x="2724150" y="32385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2F466FE-51E7-4E8F-B11D-55A8DB10363B}"/>
              </a:ext>
            </a:extLst>
          </p:cNvPr>
          <p:cNvSpPr>
            <a:spLocks noGrp="1"/>
          </p:cNvSpPr>
          <p:nvPr/>
        </p:nvSpPr>
        <p:spPr>
          <a:xfrm>
            <a:off x="2819400" y="331470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LSP channels, email, PG/DWH/Databricks, APIs.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EA80191-0E99-4B6A-B7A8-B0AD5A735259}"/>
              </a:ext>
            </a:extLst>
          </p:cNvPr>
          <p:cNvSpPr>
            <a:spLocks noGrp="1"/>
          </p:cNvSpPr>
          <p:nvPr/>
        </p:nvSpPr>
        <p:spPr>
          <a:xfrm>
            <a:off x="5867400" y="32385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61D1543-822C-4E45-B875-69E632EF154B}"/>
              </a:ext>
            </a:extLst>
          </p:cNvPr>
          <p:cNvSpPr>
            <a:spLocks noGrp="1"/>
          </p:cNvSpPr>
          <p:nvPr/>
        </p:nvSpPr>
        <p:spPr>
          <a:xfrm>
            <a:off x="5962650" y="331470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Engineering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A2D1D82-9228-414A-BEED-FEB62C07BE8C}"/>
              </a:ext>
            </a:extLst>
          </p:cNvPr>
          <p:cNvSpPr>
            <a:spLocks noGrp="1"/>
          </p:cNvSpPr>
          <p:nvPr/>
        </p:nvSpPr>
        <p:spPr>
          <a:xfrm>
            <a:off x="8248650" y="32385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0341C80-D1C7-4CE7-BCF9-CD092DE54B71}"/>
              </a:ext>
            </a:extLst>
          </p:cNvPr>
          <p:cNvSpPr>
            <a:spLocks noGrp="1"/>
          </p:cNvSpPr>
          <p:nvPr/>
        </p:nvSpPr>
        <p:spPr>
          <a:xfrm>
            <a:off x="8343900" y="331470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Integration plan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CE9DFF9-038A-4AEC-8D70-1F8B9CB15440}"/>
              </a:ext>
            </a:extLst>
          </p:cNvPr>
          <p:cNvSpPr>
            <a:spLocks noGrp="1"/>
          </p:cNvSpPr>
          <p:nvPr/>
        </p:nvSpPr>
        <p:spPr>
          <a:xfrm>
            <a:off x="628650" y="3829050"/>
            <a:ext cx="10477500" cy="5905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3A50B5B-1DDA-45C4-9283-BF50DDB1DD53}"/>
              </a:ext>
            </a:extLst>
          </p:cNvPr>
          <p:cNvSpPr>
            <a:spLocks noGrp="1"/>
          </p:cNvSpPr>
          <p:nvPr/>
        </p:nvSpPr>
        <p:spPr>
          <a:xfrm>
            <a:off x="723900" y="390525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6515638-6FDA-4705-AB33-2948D5761976}"/>
              </a:ext>
            </a:extLst>
          </p:cNvPr>
          <p:cNvSpPr>
            <a:spLocks noGrp="1"/>
          </p:cNvSpPr>
          <p:nvPr/>
        </p:nvSpPr>
        <p:spPr>
          <a:xfrm>
            <a:off x="2724150" y="38290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5A2FC31-647A-441B-92DC-2776E3C67E0E}"/>
              </a:ext>
            </a:extLst>
          </p:cNvPr>
          <p:cNvSpPr>
            <a:spLocks noGrp="1"/>
          </p:cNvSpPr>
          <p:nvPr/>
        </p:nvSpPr>
        <p:spPr>
          <a:xfrm>
            <a:off x="2819400" y="390525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Support model, SLAs, incident process, release process.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777BE94-BC5F-4F26-8BDE-CE41EA122DB4}"/>
              </a:ext>
            </a:extLst>
          </p:cNvPr>
          <p:cNvSpPr>
            <a:spLocks noGrp="1"/>
          </p:cNvSpPr>
          <p:nvPr/>
        </p:nvSpPr>
        <p:spPr>
          <a:xfrm>
            <a:off x="5867400" y="38290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AD82EF7-3960-4A71-98E7-308ACF4AC4F7}"/>
              </a:ext>
            </a:extLst>
          </p:cNvPr>
          <p:cNvSpPr>
            <a:spLocks noGrp="1"/>
          </p:cNvSpPr>
          <p:nvPr/>
        </p:nvSpPr>
        <p:spPr>
          <a:xfrm>
            <a:off x="5962650" y="390525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Support + Vendor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F1CC2F5-00D7-4F79-A1C5-EC110FEC1A10}"/>
              </a:ext>
            </a:extLst>
          </p:cNvPr>
          <p:cNvSpPr>
            <a:spLocks noGrp="1"/>
          </p:cNvSpPr>
          <p:nvPr/>
        </p:nvSpPr>
        <p:spPr>
          <a:xfrm>
            <a:off x="8248650" y="38290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8B8FDB1-C056-4ED2-89C7-B5DACA019EBF}"/>
              </a:ext>
            </a:extLst>
          </p:cNvPr>
          <p:cNvSpPr>
            <a:spLocks noGrp="1"/>
          </p:cNvSpPr>
          <p:nvPr/>
        </p:nvSpPr>
        <p:spPr>
          <a:xfrm>
            <a:off x="8343900" y="390525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RACI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8110203-3118-4280-BF7D-F0BF4488A720}"/>
              </a:ext>
            </a:extLst>
          </p:cNvPr>
          <p:cNvSpPr>
            <a:spLocks noGrp="1"/>
          </p:cNvSpPr>
          <p:nvPr/>
        </p:nvSpPr>
        <p:spPr>
          <a:xfrm>
            <a:off x="628650" y="4419600"/>
            <a:ext cx="10477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FD1A511-810E-4B4A-8909-1705B7AF66A4}"/>
              </a:ext>
            </a:extLst>
          </p:cNvPr>
          <p:cNvSpPr>
            <a:spLocks noGrp="1"/>
          </p:cNvSpPr>
          <p:nvPr/>
        </p:nvSpPr>
        <p:spPr>
          <a:xfrm>
            <a:off x="723900" y="449580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Commercials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2407415-2280-4CC1-98D3-F702E5F1DB37}"/>
              </a:ext>
            </a:extLst>
          </p:cNvPr>
          <p:cNvSpPr>
            <a:spLocks noGrp="1"/>
          </p:cNvSpPr>
          <p:nvPr/>
        </p:nvSpPr>
        <p:spPr>
          <a:xfrm>
            <a:off x="2724150" y="44196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9ABFBA9-CCCC-46A6-9B75-8925404E8A92}"/>
              </a:ext>
            </a:extLst>
          </p:cNvPr>
          <p:cNvSpPr>
            <a:spLocks noGrp="1"/>
          </p:cNvSpPr>
          <p:nvPr/>
        </p:nvSpPr>
        <p:spPr>
          <a:xfrm>
            <a:off x="2819400" y="449580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License, implementation, change costs, exit rights.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C7D9A43-9BC5-4DD4-BFC0-FACC8F7DBED5}"/>
              </a:ext>
            </a:extLst>
          </p:cNvPr>
          <p:cNvSpPr>
            <a:spLocks noGrp="1"/>
          </p:cNvSpPr>
          <p:nvPr/>
        </p:nvSpPr>
        <p:spPr>
          <a:xfrm>
            <a:off x="5867400" y="44196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8F79A84-4DE1-4EBC-8B08-FF01B299DFF6}"/>
              </a:ext>
            </a:extLst>
          </p:cNvPr>
          <p:cNvSpPr>
            <a:spLocks noGrp="1"/>
          </p:cNvSpPr>
          <p:nvPr/>
        </p:nvSpPr>
        <p:spPr>
          <a:xfrm>
            <a:off x="5962650" y="449580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Finance + Legal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3394EC7-672D-46F2-9B1D-2F0E246218F6}"/>
              </a:ext>
            </a:extLst>
          </p:cNvPr>
          <p:cNvSpPr>
            <a:spLocks noGrp="1"/>
          </p:cNvSpPr>
          <p:nvPr/>
        </p:nvSpPr>
        <p:spPr>
          <a:xfrm>
            <a:off x="8248650" y="44196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D21C220-E711-4BB7-9FF1-EBC6AED24467}"/>
              </a:ext>
            </a:extLst>
          </p:cNvPr>
          <p:cNvSpPr>
            <a:spLocks noGrp="1"/>
          </p:cNvSpPr>
          <p:nvPr/>
        </p:nvSpPr>
        <p:spPr>
          <a:xfrm>
            <a:off x="8343900" y="449580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TCO and contract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DBBB16B-C130-4A09-B708-192DFD8406EA}"/>
              </a:ext>
            </a:extLst>
          </p:cNvPr>
          <p:cNvSpPr>
            <a:spLocks noGrp="1"/>
          </p:cNvSpPr>
          <p:nvPr/>
        </p:nvSpPr>
        <p:spPr>
          <a:xfrm>
            <a:off x="628650" y="5010150"/>
            <a:ext cx="10477500" cy="5905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C86F977-741E-4330-B85D-0C13A5AF251B}"/>
              </a:ext>
            </a:extLst>
          </p:cNvPr>
          <p:cNvSpPr>
            <a:spLocks noGrp="1"/>
          </p:cNvSpPr>
          <p:nvPr/>
        </p:nvSpPr>
        <p:spPr>
          <a:xfrm>
            <a:off x="723900" y="508635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Data governance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E7601B3-1166-42CB-BFCD-28BB44450E06}"/>
              </a:ext>
            </a:extLst>
          </p:cNvPr>
          <p:cNvSpPr>
            <a:spLocks noGrp="1"/>
          </p:cNvSpPr>
          <p:nvPr/>
        </p:nvSpPr>
        <p:spPr>
          <a:xfrm>
            <a:off x="2724150" y="50101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8244D34-F0FD-4CE7-9DF5-ACA238ECEC8B}"/>
              </a:ext>
            </a:extLst>
          </p:cNvPr>
          <p:cNvSpPr>
            <a:spLocks noGrp="1"/>
          </p:cNvSpPr>
          <p:nvPr/>
        </p:nvSpPr>
        <p:spPr>
          <a:xfrm>
            <a:off x="2819400" y="508635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Ownership, retention, exports, residency, audit access.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1EC21AB-B77E-45B5-BFBF-6D43CC30F7E5}"/>
              </a:ext>
            </a:extLst>
          </p:cNvPr>
          <p:cNvSpPr>
            <a:spLocks noGrp="1"/>
          </p:cNvSpPr>
          <p:nvPr/>
        </p:nvSpPr>
        <p:spPr>
          <a:xfrm>
            <a:off x="5867400" y="50101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36F6A81-4ACC-4C66-AC03-648186B2C8EB}"/>
              </a:ext>
            </a:extLst>
          </p:cNvPr>
          <p:cNvSpPr>
            <a:spLocks noGrp="1"/>
          </p:cNvSpPr>
          <p:nvPr/>
        </p:nvSpPr>
        <p:spPr>
          <a:xfrm>
            <a:off x="5962650" y="508635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6AEA024-5B64-46D9-B322-81DC52E1642C}"/>
              </a:ext>
            </a:extLst>
          </p:cNvPr>
          <p:cNvSpPr>
            <a:spLocks noGrp="1"/>
          </p:cNvSpPr>
          <p:nvPr/>
        </p:nvSpPr>
        <p:spPr>
          <a:xfrm>
            <a:off x="8248650" y="50101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4F3D6EA-B715-43D8-B8EF-E753B4AA147D}"/>
              </a:ext>
            </a:extLst>
          </p:cNvPr>
          <p:cNvSpPr>
            <a:spLocks noGrp="1"/>
          </p:cNvSpPr>
          <p:nvPr/>
        </p:nvSpPr>
        <p:spPr>
          <a:xfrm>
            <a:off x="8343900" y="508635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Control evidence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4D65F27-BD04-4EB5-94E4-B5E0EB3DC61E}"/>
              </a:ext>
            </a:extLst>
          </p:cNvPr>
          <p:cNvSpPr>
            <a:spLocks noGrp="1"/>
          </p:cNvSpPr>
          <p:nvPr/>
        </p:nvSpPr>
        <p:spPr>
          <a:xfrm>
            <a:off x="1200150" y="5981700"/>
            <a:ext cx="9791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Key question: who manages what after go-live? Vendor capability does not remove Bhawana ownership of controls, approvals, data, and LSP experience.</a:t>
            </a:r>
          </a:p>
        </p:txBody>
      </p:sp>
    </p:spTree>
    <p:extLst>
      <p:ext uri="{BB962C8B-B14F-4D97-AF65-F5344CB8AC3E}">
        <p14:creationId xmlns:p14="http://schemas.microsoft.com/office/powerpoint/2010/main" val="128343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7E7528E-2429-AEE8-9620-987BC0E09429}"/>
              </a:ext>
            </a:extLst>
          </p:cNvPr>
          <p:cNvSpPr txBox="1"/>
          <p:nvPr/>
        </p:nvSpPr>
        <p:spPr>
          <a:xfrm>
            <a:off x="533400" y="3429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75" b="1">
                <a:solidFill>
                  <a:srgbClr val="0B1F45"/>
                </a:solidFill>
                <a:latin typeface="Aptos Display" panose="020B0004020202020204" pitchFamily="34" charset="0"/>
              </a:rPr>
              <a:t>Buy Option: Indicative Vendor Cost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B6785C-2071-206D-826A-C51F7052E1D4}"/>
              </a:ext>
            </a:extLst>
          </p:cNvPr>
          <p:cNvSpPr txBox="1"/>
          <p:nvPr/>
        </p:nvSpPr>
        <p:spPr>
          <a:xfrm>
            <a:off x="552450" y="81915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50">
                <a:solidFill>
                  <a:srgbClr val="5B6B7E"/>
                </a:solidFill>
                <a:latin typeface="Aptos" panose="020B0004020202020204" pitchFamily="34" charset="0"/>
              </a:rPr>
              <a:t>Two live proposals, shown at ~€100M annual scale, first three LSPs, before tax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6FE42D-EE84-20AB-B033-F224C7561C80}"/>
              </a:ext>
            </a:extLst>
          </p:cNvPr>
          <p:cNvSpPr/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21D279-FFDB-02A1-5049-94C15D549C42}"/>
              </a:ext>
            </a:extLst>
          </p:cNvPr>
          <p:cNvSpPr txBox="1"/>
          <p:nvPr/>
        </p:nvSpPr>
        <p:spPr>
          <a:xfrm>
            <a:off x="533400" y="6496050"/>
            <a:ext cx="409575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50">
                <a:solidFill>
                  <a:srgbClr val="5B6B7E"/>
                </a:solidFill>
                <a:latin typeface="Aptos" panose="020B0004020202020204" pitchFamily="34" charset="0"/>
              </a:rPr>
              <a:t>Bhawana Capital | LMS platform decision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41874B-CA4E-6994-EF35-05F68AADA702}"/>
              </a:ext>
            </a:extLst>
          </p:cNvPr>
          <p:cNvSpPr txBox="1"/>
          <p:nvPr/>
        </p:nvSpPr>
        <p:spPr>
          <a:xfrm>
            <a:off x="11315700" y="6477000"/>
            <a:ext cx="342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25" b="1">
                <a:solidFill>
                  <a:srgbClr val="1769E0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351407-C3A1-90CE-5312-497E745E002B}"/>
              </a:ext>
            </a:extLst>
          </p:cNvPr>
          <p:cNvSpPr/>
          <p:nvPr/>
        </p:nvSpPr>
        <p:spPr>
          <a:xfrm>
            <a:off x="635000" y="1417320"/>
            <a:ext cx="2501900" cy="502920"/>
          </a:xfrm>
          <a:prstGeom prst="rect">
            <a:avLst/>
          </a:prstGeom>
          <a:solidFill>
            <a:srgbClr val="0B1F45"/>
          </a:solidFill>
          <a:ln w="9525">
            <a:solidFill>
              <a:srgbClr val="0B1F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7971E5-CB32-D7F0-B9B6-F2EFCA884F5E}"/>
              </a:ext>
            </a:extLst>
          </p:cNvPr>
          <p:cNvSpPr txBox="1"/>
          <p:nvPr/>
        </p:nvSpPr>
        <p:spPr>
          <a:xfrm>
            <a:off x="736600" y="1557172"/>
            <a:ext cx="2298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20" b="1">
                <a:solidFill>
                  <a:srgbClr val="FFFFFF"/>
                </a:solidFill>
                <a:latin typeface="Aptos" panose="020B0004020202020204" pitchFamily="34" charset="0"/>
              </a:rPr>
              <a:t>Cost element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04F008-5BB3-38D5-7592-0FDEB353C6AA}"/>
              </a:ext>
            </a:extLst>
          </p:cNvPr>
          <p:cNvSpPr/>
          <p:nvPr/>
        </p:nvSpPr>
        <p:spPr>
          <a:xfrm>
            <a:off x="3136900" y="1417320"/>
            <a:ext cx="2667000" cy="502920"/>
          </a:xfrm>
          <a:prstGeom prst="rect">
            <a:avLst/>
          </a:prstGeom>
          <a:solidFill>
            <a:srgbClr val="0B1F45"/>
          </a:solidFill>
          <a:ln w="9525">
            <a:solidFill>
              <a:srgbClr val="0B1F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5FB70D-5146-DEF3-036F-F3014C305F87}"/>
              </a:ext>
            </a:extLst>
          </p:cNvPr>
          <p:cNvSpPr txBox="1"/>
          <p:nvPr/>
        </p:nvSpPr>
        <p:spPr>
          <a:xfrm>
            <a:off x="3238500" y="1557172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20" b="1">
                <a:solidFill>
                  <a:srgbClr val="FFFFFF"/>
                </a:solidFill>
                <a:latin typeface="Aptos" panose="020B0004020202020204" pitchFamily="34" charset="0"/>
              </a:rPr>
              <a:t>Yubi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D886CEA-F2E5-43ED-3B7E-814D3D4C2358}"/>
              </a:ext>
            </a:extLst>
          </p:cNvPr>
          <p:cNvSpPr/>
          <p:nvPr/>
        </p:nvSpPr>
        <p:spPr>
          <a:xfrm>
            <a:off x="5803900" y="1417320"/>
            <a:ext cx="2667000" cy="502920"/>
          </a:xfrm>
          <a:prstGeom prst="rect">
            <a:avLst/>
          </a:prstGeom>
          <a:solidFill>
            <a:srgbClr val="0B1F45"/>
          </a:solidFill>
          <a:ln w="9525">
            <a:solidFill>
              <a:srgbClr val="0B1F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A9B1E0-08AC-9C2C-25CF-E29F038614C6}"/>
              </a:ext>
            </a:extLst>
          </p:cNvPr>
          <p:cNvSpPr txBox="1"/>
          <p:nvPr/>
        </p:nvSpPr>
        <p:spPr>
          <a:xfrm>
            <a:off x="5905500" y="1557172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20" b="1">
                <a:solidFill>
                  <a:srgbClr val="FFFFFF"/>
                </a:solidFill>
                <a:latin typeface="Aptos" panose="020B0004020202020204" pitchFamily="34" charset="0"/>
              </a:rPr>
              <a:t>M2P Fintech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80B322A-9E87-532A-86C2-EE566E9F95D3}"/>
              </a:ext>
            </a:extLst>
          </p:cNvPr>
          <p:cNvSpPr/>
          <p:nvPr/>
        </p:nvSpPr>
        <p:spPr>
          <a:xfrm>
            <a:off x="8470900" y="1417320"/>
            <a:ext cx="2654300" cy="502920"/>
          </a:xfrm>
          <a:prstGeom prst="rect">
            <a:avLst/>
          </a:prstGeom>
          <a:solidFill>
            <a:srgbClr val="0B1F45"/>
          </a:solidFill>
          <a:ln w="9525">
            <a:solidFill>
              <a:srgbClr val="0B1F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62ED53-A266-62E2-F19E-D250BAC79A6F}"/>
              </a:ext>
            </a:extLst>
          </p:cNvPr>
          <p:cNvSpPr txBox="1"/>
          <p:nvPr/>
        </p:nvSpPr>
        <p:spPr>
          <a:xfrm>
            <a:off x="8572500" y="1557172"/>
            <a:ext cx="2451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20" b="1">
                <a:solidFill>
                  <a:srgbClr val="FFFFFF"/>
                </a:solidFill>
                <a:latin typeface="Aptos" panose="020B0004020202020204" pitchFamily="34" charset="0"/>
              </a:rPr>
              <a:t>Build (in-house)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BCFC1A-2C0F-37AE-609D-184F0A72D453}"/>
              </a:ext>
            </a:extLst>
          </p:cNvPr>
          <p:cNvSpPr/>
          <p:nvPr/>
        </p:nvSpPr>
        <p:spPr>
          <a:xfrm>
            <a:off x="635000" y="1920240"/>
            <a:ext cx="25019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DAFE81-9D66-3E12-82AB-5BBD9AE56598}"/>
              </a:ext>
            </a:extLst>
          </p:cNvPr>
          <p:cNvSpPr txBox="1"/>
          <p:nvPr/>
        </p:nvSpPr>
        <p:spPr>
          <a:xfrm>
            <a:off x="736600" y="2060244"/>
            <a:ext cx="2298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 b="1">
                <a:solidFill>
                  <a:srgbClr val="0B1F45"/>
                </a:solidFill>
                <a:latin typeface="Aptos" panose="020B0004020202020204" pitchFamily="34" charset="0"/>
              </a:rPr>
              <a:t>One-time setup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25B11A-C4B3-FB0A-6CC7-F6DADB195551}"/>
              </a:ext>
            </a:extLst>
          </p:cNvPr>
          <p:cNvSpPr/>
          <p:nvPr/>
        </p:nvSpPr>
        <p:spPr>
          <a:xfrm>
            <a:off x="3136900" y="1920240"/>
            <a:ext cx="2667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82D4AA-34F3-F54B-001E-950D4F0F0252}"/>
              </a:ext>
            </a:extLst>
          </p:cNvPr>
          <p:cNvSpPr txBox="1"/>
          <p:nvPr/>
        </p:nvSpPr>
        <p:spPr>
          <a:xfrm>
            <a:off x="3238500" y="2060244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₹7,500,000 / €68,182</a:t>
            </a:r>
          </a:p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setup + reporting + alerts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8064E79-1140-9686-C30A-289B7432463D}"/>
              </a:ext>
            </a:extLst>
          </p:cNvPr>
          <p:cNvSpPr/>
          <p:nvPr/>
        </p:nvSpPr>
        <p:spPr>
          <a:xfrm>
            <a:off x="5803900" y="1920240"/>
            <a:ext cx="2667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3777B7-AF90-56D7-7B4D-3C662233250C}"/>
              </a:ext>
            </a:extLst>
          </p:cNvPr>
          <p:cNvSpPr txBox="1"/>
          <p:nvPr/>
        </p:nvSpPr>
        <p:spPr>
          <a:xfrm>
            <a:off x="5905500" y="2060244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₹5,500,000 / €50,000</a:t>
            </a:r>
          </a:p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paid by Meesho today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089226-1CEB-B7F1-8F47-4782076F442B}"/>
              </a:ext>
            </a:extLst>
          </p:cNvPr>
          <p:cNvSpPr/>
          <p:nvPr/>
        </p:nvSpPr>
        <p:spPr>
          <a:xfrm>
            <a:off x="8470900" y="1920240"/>
            <a:ext cx="26543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A89D03-455B-D998-1D00-F4B9723D97F5}"/>
              </a:ext>
            </a:extLst>
          </p:cNvPr>
          <p:cNvSpPr txBox="1"/>
          <p:nvPr/>
        </p:nvSpPr>
        <p:spPr>
          <a:xfrm>
            <a:off x="8572500" y="2060244"/>
            <a:ext cx="2451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Build effort TBD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F1021EC-4D5F-747D-C0ED-07243B61DCC8}"/>
              </a:ext>
            </a:extLst>
          </p:cNvPr>
          <p:cNvSpPr/>
          <p:nvPr/>
        </p:nvSpPr>
        <p:spPr>
          <a:xfrm>
            <a:off x="635000" y="2487168"/>
            <a:ext cx="2501900" cy="566928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A0E4196-9BFF-6511-F086-6DCF7130F2AA}"/>
              </a:ext>
            </a:extLst>
          </p:cNvPr>
          <p:cNvSpPr txBox="1"/>
          <p:nvPr/>
        </p:nvSpPr>
        <p:spPr>
          <a:xfrm>
            <a:off x="736600" y="2626868"/>
            <a:ext cx="2298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 b="1">
                <a:solidFill>
                  <a:srgbClr val="0B1F45"/>
                </a:solidFill>
                <a:latin typeface="Aptos" panose="020B0004020202020204" pitchFamily="34" charset="0"/>
              </a:rPr>
              <a:t>Fixed yearly cost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FF0F710-A0F4-98CA-5FF0-0A1BF33198DE}"/>
              </a:ext>
            </a:extLst>
          </p:cNvPr>
          <p:cNvSpPr/>
          <p:nvPr/>
        </p:nvSpPr>
        <p:spPr>
          <a:xfrm>
            <a:off x="3136900" y="2487168"/>
            <a:ext cx="2667000" cy="566928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2A0B71E-A0D0-633E-DBA8-326E9059A2FA}"/>
              </a:ext>
            </a:extLst>
          </p:cNvPr>
          <p:cNvSpPr txBox="1"/>
          <p:nvPr/>
        </p:nvSpPr>
        <p:spPr>
          <a:xfrm>
            <a:off x="3238500" y="2626868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₹1,000,000 / €9,091 per year (AMF)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F29E037-557B-1354-BB9F-12A503DB5F38}"/>
              </a:ext>
            </a:extLst>
          </p:cNvPr>
          <p:cNvSpPr/>
          <p:nvPr/>
        </p:nvSpPr>
        <p:spPr>
          <a:xfrm>
            <a:off x="5803900" y="2487168"/>
            <a:ext cx="2667000" cy="566928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7EC8F16-3978-C23F-A440-B1CFDB32E967}"/>
              </a:ext>
            </a:extLst>
          </p:cNvPr>
          <p:cNvSpPr txBox="1"/>
          <p:nvPr/>
        </p:nvSpPr>
        <p:spPr>
          <a:xfrm>
            <a:off x="5905500" y="2626868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Floor ₹4,800,000 / €43,636 per year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3824027-4D0E-ECC8-85C1-8855D6052971}"/>
              </a:ext>
            </a:extLst>
          </p:cNvPr>
          <p:cNvSpPr/>
          <p:nvPr/>
        </p:nvSpPr>
        <p:spPr>
          <a:xfrm>
            <a:off x="8470900" y="2487168"/>
            <a:ext cx="2654300" cy="566928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BE84720-8753-ED8C-92A5-C8402858F147}"/>
              </a:ext>
            </a:extLst>
          </p:cNvPr>
          <p:cNvSpPr txBox="1"/>
          <p:nvPr/>
        </p:nvSpPr>
        <p:spPr>
          <a:xfrm>
            <a:off x="8572500" y="2626868"/>
            <a:ext cx="2451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Infra ₹3,960,000 / €36,000 per year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297A1FE-B6AD-2938-0A54-2A4DEEC65FD7}"/>
              </a:ext>
            </a:extLst>
          </p:cNvPr>
          <p:cNvSpPr/>
          <p:nvPr/>
        </p:nvSpPr>
        <p:spPr>
          <a:xfrm>
            <a:off x="635000" y="3054096"/>
            <a:ext cx="25019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2EA47D7-02E8-0F03-D92B-A816DE8D7BB1}"/>
              </a:ext>
            </a:extLst>
          </p:cNvPr>
          <p:cNvSpPr txBox="1"/>
          <p:nvPr/>
        </p:nvSpPr>
        <p:spPr>
          <a:xfrm>
            <a:off x="736600" y="3193999"/>
            <a:ext cx="2298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 b="1">
                <a:solidFill>
                  <a:srgbClr val="0B1F45"/>
                </a:solidFill>
                <a:latin typeface="Aptos" panose="020B0004020202020204" pitchFamily="34" charset="0"/>
              </a:rPr>
              <a:t>Usage fee - based 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695754A-CC69-2A87-7584-10365B95F404}"/>
              </a:ext>
            </a:extLst>
          </p:cNvPr>
          <p:cNvSpPr/>
          <p:nvPr/>
        </p:nvSpPr>
        <p:spPr>
          <a:xfrm>
            <a:off x="3136900" y="3054096"/>
            <a:ext cx="2667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DAE3A4-9E75-5CB1-1D46-6EAAD2C06753}"/>
              </a:ext>
            </a:extLst>
          </p:cNvPr>
          <p:cNvSpPr txBox="1"/>
          <p:nvPr/>
        </p:nvSpPr>
        <p:spPr>
          <a:xfrm>
            <a:off x="3238500" y="3193999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0.20% of annual disbursement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37D4C9C-9E60-2F52-BD99-3E63FF9B5B7E}"/>
              </a:ext>
            </a:extLst>
          </p:cNvPr>
          <p:cNvSpPr/>
          <p:nvPr/>
        </p:nvSpPr>
        <p:spPr>
          <a:xfrm>
            <a:off x="5803900" y="3054096"/>
            <a:ext cx="2667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B8F40D-7499-C392-3D4C-8EC2A6DE629D}"/>
              </a:ext>
            </a:extLst>
          </p:cNvPr>
          <p:cNvSpPr txBox="1"/>
          <p:nvPr/>
        </p:nvSpPr>
        <p:spPr>
          <a:xfrm>
            <a:off x="5905500" y="3193999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Tiered % of AUM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7F48A58-9667-52FC-4200-8182C2B0E6BF}"/>
              </a:ext>
            </a:extLst>
          </p:cNvPr>
          <p:cNvSpPr/>
          <p:nvPr/>
        </p:nvSpPr>
        <p:spPr>
          <a:xfrm>
            <a:off x="8470900" y="3054096"/>
            <a:ext cx="26543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CF16FC9-C89D-07BB-FBB3-E97C49F17CA2}"/>
              </a:ext>
            </a:extLst>
          </p:cNvPr>
          <p:cNvSpPr txBox="1"/>
          <p:nvPr/>
        </p:nvSpPr>
        <p:spPr>
          <a:xfrm>
            <a:off x="8572500" y="3193999"/>
            <a:ext cx="2451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None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0FE68B9-BFCF-B6CB-8C46-0A02A6BDD134}"/>
              </a:ext>
            </a:extLst>
          </p:cNvPr>
          <p:cNvSpPr/>
          <p:nvPr/>
        </p:nvSpPr>
        <p:spPr>
          <a:xfrm>
            <a:off x="635000" y="3621024"/>
            <a:ext cx="2501900" cy="566928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F5BFD79-87E2-FAC7-B780-6695F2DF6FD1}"/>
              </a:ext>
            </a:extLst>
          </p:cNvPr>
          <p:cNvSpPr txBox="1"/>
          <p:nvPr/>
        </p:nvSpPr>
        <p:spPr>
          <a:xfrm>
            <a:off x="736600" y="3760825"/>
            <a:ext cx="2298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 b="1">
                <a:solidFill>
                  <a:srgbClr val="0B1F45"/>
                </a:solidFill>
                <a:latin typeface="Aptos" panose="020B0004020202020204" pitchFamily="34" charset="0"/>
              </a:rPr>
              <a:t>Usage fee at ~€100M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1EE2F9C-AD19-C129-6E97-5B1AF63AED54}"/>
              </a:ext>
            </a:extLst>
          </p:cNvPr>
          <p:cNvSpPr/>
          <p:nvPr/>
        </p:nvSpPr>
        <p:spPr>
          <a:xfrm>
            <a:off x="3136900" y="3621024"/>
            <a:ext cx="2667000" cy="566928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B19CC19-7CF4-2384-7117-0F0549877AA3}"/>
              </a:ext>
            </a:extLst>
          </p:cNvPr>
          <p:cNvSpPr txBox="1"/>
          <p:nvPr/>
        </p:nvSpPr>
        <p:spPr>
          <a:xfrm>
            <a:off x="3238500" y="3760825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₹22,000,000 / €200,000 per year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6ED77AC-9DA4-EEBB-E24D-182001195488}"/>
              </a:ext>
            </a:extLst>
          </p:cNvPr>
          <p:cNvSpPr/>
          <p:nvPr/>
        </p:nvSpPr>
        <p:spPr>
          <a:xfrm>
            <a:off x="5803900" y="3621024"/>
            <a:ext cx="2667000" cy="566928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F96C5F7-37A9-AA18-E718-F3E8D7E59AB8}"/>
              </a:ext>
            </a:extLst>
          </p:cNvPr>
          <p:cNvSpPr txBox="1"/>
          <p:nvPr/>
        </p:nvSpPr>
        <p:spPr>
          <a:xfrm>
            <a:off x="5905500" y="3760825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₹28,400,000 / €258,182 per year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EB48D44-C1F9-6039-9C1D-F2F64FAAB3F8}"/>
              </a:ext>
            </a:extLst>
          </p:cNvPr>
          <p:cNvSpPr/>
          <p:nvPr/>
        </p:nvSpPr>
        <p:spPr>
          <a:xfrm>
            <a:off x="8470900" y="3621024"/>
            <a:ext cx="2654300" cy="566928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E7311F9-99E0-9C86-06DA-C103ECE32DEA}"/>
              </a:ext>
            </a:extLst>
          </p:cNvPr>
          <p:cNvSpPr txBox="1"/>
          <p:nvPr/>
        </p:nvSpPr>
        <p:spPr>
          <a:xfrm>
            <a:off x="8572500" y="3760825"/>
            <a:ext cx="2451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n/a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1ABEE59-1C77-F85D-1546-54199A64659F}"/>
              </a:ext>
            </a:extLst>
          </p:cNvPr>
          <p:cNvSpPr/>
          <p:nvPr/>
        </p:nvSpPr>
        <p:spPr>
          <a:xfrm>
            <a:off x="635000" y="4187952"/>
            <a:ext cx="25019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052B80-56CC-263A-E304-B1C25AAA8657}"/>
              </a:ext>
            </a:extLst>
          </p:cNvPr>
          <p:cNvSpPr txBox="1"/>
          <p:nvPr/>
        </p:nvSpPr>
        <p:spPr>
          <a:xfrm>
            <a:off x="736600" y="4327652"/>
            <a:ext cx="2298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 b="1">
                <a:solidFill>
                  <a:srgbClr val="0B1F45"/>
                </a:solidFill>
                <a:latin typeface="Aptos" panose="020B0004020202020204" pitchFamily="34" charset="0"/>
              </a:rPr>
              <a:t>Year-1 known cost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79100DD-32E6-1E28-1E6F-01501705040F}"/>
              </a:ext>
            </a:extLst>
          </p:cNvPr>
          <p:cNvSpPr/>
          <p:nvPr/>
        </p:nvSpPr>
        <p:spPr>
          <a:xfrm>
            <a:off x="3136900" y="4187952"/>
            <a:ext cx="2667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3EEC206-FD5D-2197-CDFD-879CFDF05506}"/>
              </a:ext>
            </a:extLst>
          </p:cNvPr>
          <p:cNvSpPr txBox="1"/>
          <p:nvPr/>
        </p:nvSpPr>
        <p:spPr>
          <a:xfrm>
            <a:off x="3238500" y="4327652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₹30,500,000 / €277,273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12BB0D1-F333-7974-E665-D2FB0001AFFC}"/>
              </a:ext>
            </a:extLst>
          </p:cNvPr>
          <p:cNvSpPr/>
          <p:nvPr/>
        </p:nvSpPr>
        <p:spPr>
          <a:xfrm>
            <a:off x="5803900" y="4187952"/>
            <a:ext cx="2667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CF98F9D-FF8F-8C20-6548-79539607223D}"/>
              </a:ext>
            </a:extLst>
          </p:cNvPr>
          <p:cNvSpPr txBox="1"/>
          <p:nvPr/>
        </p:nvSpPr>
        <p:spPr>
          <a:xfrm>
            <a:off x="5905500" y="4327652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₹28,400,000 / €258,182 recurring estimate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B51AACA-67C6-69F5-F9A9-5AA7C32DA567}"/>
              </a:ext>
            </a:extLst>
          </p:cNvPr>
          <p:cNvSpPr/>
          <p:nvPr/>
        </p:nvSpPr>
        <p:spPr>
          <a:xfrm>
            <a:off x="8470900" y="4187952"/>
            <a:ext cx="26543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22101DF-6D9A-DAEA-B7D9-5821342D174A}"/>
              </a:ext>
            </a:extLst>
          </p:cNvPr>
          <p:cNvSpPr txBox="1"/>
          <p:nvPr/>
        </p:nvSpPr>
        <p:spPr>
          <a:xfrm>
            <a:off x="8572500" y="4327652"/>
            <a:ext cx="2451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₹3,960,000 / €36,000 + team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9A220F8-EA9D-06CF-034D-A9DF9D7A86DF}"/>
              </a:ext>
            </a:extLst>
          </p:cNvPr>
          <p:cNvSpPr/>
          <p:nvPr/>
        </p:nvSpPr>
        <p:spPr>
          <a:xfrm>
            <a:off x="635000" y="4754880"/>
            <a:ext cx="2501900" cy="566928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0996A86-8411-001C-9E2B-D9F7792DA9BC}"/>
              </a:ext>
            </a:extLst>
          </p:cNvPr>
          <p:cNvSpPr txBox="1"/>
          <p:nvPr/>
        </p:nvSpPr>
        <p:spPr>
          <a:xfrm>
            <a:off x="736600" y="4894986"/>
            <a:ext cx="2298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 b="1">
                <a:solidFill>
                  <a:srgbClr val="0B1F45"/>
                </a:solidFill>
                <a:latin typeface="Aptos" panose="020B0004020202020204" pitchFamily="34" charset="0"/>
              </a:rPr>
              <a:t>Lock-in / exit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1C43487-A88B-6655-9AD4-C083FAD7424A}"/>
              </a:ext>
            </a:extLst>
          </p:cNvPr>
          <p:cNvSpPr/>
          <p:nvPr/>
        </p:nvSpPr>
        <p:spPr>
          <a:xfrm>
            <a:off x="3136900" y="4754880"/>
            <a:ext cx="2667000" cy="566928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55C6623-0A1B-47A2-7B67-E3F151C2BD0A}"/>
              </a:ext>
            </a:extLst>
          </p:cNvPr>
          <p:cNvSpPr txBox="1"/>
          <p:nvPr/>
        </p:nvSpPr>
        <p:spPr>
          <a:xfrm>
            <a:off x="3238500" y="4894986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None stated; first 3 LSPs waived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6AE6913-86C1-0FFA-ED9E-46CC10737AB4}"/>
              </a:ext>
            </a:extLst>
          </p:cNvPr>
          <p:cNvSpPr/>
          <p:nvPr/>
        </p:nvSpPr>
        <p:spPr>
          <a:xfrm>
            <a:off x="5803900" y="4754880"/>
            <a:ext cx="2667000" cy="566928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22F6BAF-2751-176E-7665-A658AB7D50FD}"/>
              </a:ext>
            </a:extLst>
          </p:cNvPr>
          <p:cNvSpPr txBox="1"/>
          <p:nvPr/>
        </p:nvSpPr>
        <p:spPr>
          <a:xfrm>
            <a:off x="5905500" y="4894986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36 months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F2BB495-11C7-4D66-F100-29E1875D3FEA}"/>
              </a:ext>
            </a:extLst>
          </p:cNvPr>
          <p:cNvSpPr/>
          <p:nvPr/>
        </p:nvSpPr>
        <p:spPr>
          <a:xfrm>
            <a:off x="8470900" y="4754880"/>
            <a:ext cx="2654300" cy="566928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DD450E7-A525-B34F-21D9-0141D75D2933}"/>
              </a:ext>
            </a:extLst>
          </p:cNvPr>
          <p:cNvSpPr txBox="1"/>
          <p:nvPr/>
        </p:nvSpPr>
        <p:spPr>
          <a:xfrm>
            <a:off x="8572500" y="4894986"/>
            <a:ext cx="2451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Full control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E3A9666-E2BC-851A-7C65-5BE8537EA0CB}"/>
              </a:ext>
            </a:extLst>
          </p:cNvPr>
          <p:cNvSpPr txBox="1"/>
          <p:nvPr/>
        </p:nvSpPr>
        <p:spPr>
          <a:xfrm>
            <a:off x="1219200" y="5989320"/>
            <a:ext cx="975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120" b="1">
                <a:solidFill>
                  <a:srgbClr val="0B1F45"/>
                </a:solidFill>
                <a:latin typeface="Aptos" panose="020B0004020202020204" pitchFamily="34" charset="0"/>
              </a:rPr>
              <a:t>Indicative, pre-tax at ₹110/€ and €100M annual portfolio. M2P assumes the AUM fee exceeds the annual floor; actuals require final vendor audit.</a:t>
            </a:r>
          </a:p>
        </p:txBody>
      </p:sp>
      <p:sp>
        <p:nvSpPr>
          <p:cNvPr id="300" name="R7rect0">
            <a:extLst>
              <a:ext uri="{FF2B5EF4-FFF2-40B4-BE49-F238E27FC236}">
                <a16:creationId xmlns:a16="http://schemas.microsoft.com/office/drawing/2014/main" id="{B1ABEE59-1C77-F85D-1546-54199A64659F}"/>
              </a:ext>
            </a:extLst>
          </p:cNvPr>
          <p:cNvSpPr/>
          <p:nvPr/>
        </p:nvSpPr>
        <p:spPr>
          <a:xfrm>
            <a:off x="635000" y="5321808"/>
            <a:ext cx="25019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1" name="R7txt0">
            <a:extLst>
              <a:ext uri="{FF2B5EF4-FFF2-40B4-BE49-F238E27FC236}">
                <a16:creationId xmlns:a16="http://schemas.microsoft.com/office/drawing/2014/main" id="{05052B80-56CC-263A-E304-B1C25AAA8657}"/>
              </a:ext>
            </a:extLst>
          </p:cNvPr>
          <p:cNvSpPr txBox="1"/>
          <p:nvPr/>
        </p:nvSpPr>
        <p:spPr>
          <a:xfrm>
            <a:off x="736600" y="5463540"/>
            <a:ext cx="2298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 b="1">
                <a:solidFill>
                  <a:srgbClr val="0B1F45"/>
                </a:solidFill>
                <a:latin typeface="Aptos" panose="020B0004020202020204" pitchFamily="34" charset="0"/>
              </a:rPr>
              <a:t>Variable fees</a:t>
            </a:r>
          </a:p>
        </p:txBody>
      </p:sp>
      <p:sp>
        <p:nvSpPr>
          <p:cNvPr id="302" name="R7rect1">
            <a:extLst>
              <a:ext uri="{FF2B5EF4-FFF2-40B4-BE49-F238E27FC236}">
                <a16:creationId xmlns:a16="http://schemas.microsoft.com/office/drawing/2014/main" id="{379100DD-32E6-1E28-1E6F-01501705040F}"/>
              </a:ext>
            </a:extLst>
          </p:cNvPr>
          <p:cNvSpPr/>
          <p:nvPr/>
        </p:nvSpPr>
        <p:spPr>
          <a:xfrm>
            <a:off x="3136900" y="5321808"/>
            <a:ext cx="2667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3" name="R7txt1">
            <a:extLst>
              <a:ext uri="{FF2B5EF4-FFF2-40B4-BE49-F238E27FC236}">
                <a16:creationId xmlns:a16="http://schemas.microsoft.com/office/drawing/2014/main" id="{23EEC206-FD5D-2197-CDFD-879CFDF05506}"/>
              </a:ext>
            </a:extLst>
          </p:cNvPr>
          <p:cNvSpPr txBox="1"/>
          <p:nvPr/>
        </p:nvSpPr>
        <p:spPr>
          <a:xfrm>
            <a:off x="3238500" y="5463540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Partnership ₹5L/LSP (after first 3 free); change request ₹20k/man-day</a:t>
            </a:r>
          </a:p>
        </p:txBody>
      </p:sp>
      <p:sp>
        <p:nvSpPr>
          <p:cNvPr id="304" name="R7rect2">
            <a:extLst>
              <a:ext uri="{FF2B5EF4-FFF2-40B4-BE49-F238E27FC236}">
                <a16:creationId xmlns:a16="http://schemas.microsoft.com/office/drawing/2014/main" id="{D12BB0D1-F333-7974-E665-D2FB0001AFFC}"/>
              </a:ext>
            </a:extLst>
          </p:cNvPr>
          <p:cNvSpPr/>
          <p:nvPr/>
        </p:nvSpPr>
        <p:spPr>
          <a:xfrm>
            <a:off x="5803900" y="5321808"/>
            <a:ext cx="2667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5" name="R7txt2">
            <a:extLst>
              <a:ext uri="{FF2B5EF4-FFF2-40B4-BE49-F238E27FC236}">
                <a16:creationId xmlns:a16="http://schemas.microsoft.com/office/drawing/2014/main" id="{BCF98F9D-FF8F-8C20-6548-79539607223D}"/>
              </a:ext>
            </a:extLst>
          </p:cNvPr>
          <p:cNvSpPr txBox="1"/>
          <p:nvPr/>
        </p:nvSpPr>
        <p:spPr>
          <a:xfrm>
            <a:off x="5905500" y="5463540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Customization ₹17k/man-day</a:t>
            </a:r>
          </a:p>
        </p:txBody>
      </p:sp>
      <p:sp>
        <p:nvSpPr>
          <p:cNvPr id="306" name="R7rect3">
            <a:extLst>
              <a:ext uri="{FF2B5EF4-FFF2-40B4-BE49-F238E27FC236}">
                <a16:creationId xmlns:a16="http://schemas.microsoft.com/office/drawing/2014/main" id="{5B51AACA-67C6-69F5-F9A9-5AA7C32DA567}"/>
              </a:ext>
            </a:extLst>
          </p:cNvPr>
          <p:cNvSpPr/>
          <p:nvPr/>
        </p:nvSpPr>
        <p:spPr>
          <a:xfrm>
            <a:off x="8470900" y="5321808"/>
            <a:ext cx="26543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" name="R7txt3">
            <a:extLst>
              <a:ext uri="{FF2B5EF4-FFF2-40B4-BE49-F238E27FC236}">
                <a16:creationId xmlns:a16="http://schemas.microsoft.com/office/drawing/2014/main" id="{B22101DF-6D9A-DAEA-B7D9-5821342D174A}"/>
              </a:ext>
            </a:extLst>
          </p:cNvPr>
          <p:cNvSpPr txBox="1"/>
          <p:nvPr/>
        </p:nvSpPr>
        <p:spPr>
          <a:xfrm>
            <a:off x="8572500" y="5463540"/>
            <a:ext cx="2451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Internal effort only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20EAC66B-8997-49FE-B895-5A4D84961F2B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Key Challenges and Executive Asks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AE923D-4641-4C9B-A670-AC65112E8771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The decision can move forward if these questions are explicitly owned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782006-EDDD-438D-99FD-91D3A2CF62AB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087547-D9F9-4FCE-B7B0-E44B29E88788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E8B112-8CEE-4758-9BD9-CF0379925565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BBEBD9A-9F9E-4908-839D-4EE9CAD273D8}"/>
              </a:ext>
            </a:extLst>
          </p:cNvPr>
          <p:cNvSpPr>
            <a:spLocks noGrp="1"/>
          </p:cNvSpPr>
          <p:nvPr/>
        </p:nvSpPr>
        <p:spPr>
          <a:xfrm>
            <a:off x="781050" y="1504950"/>
            <a:ext cx="2381250" cy="1600200"/>
          </a:xfrm>
          <a:prstGeom prst="roundRect">
            <a:avLst>
              <a:gd name="adj" fmla="val 5952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AC159C-4EAA-4668-AF20-76D395B7D66E}"/>
              </a:ext>
            </a:extLst>
          </p:cNvPr>
          <p:cNvSpPr>
            <a:spLocks noGrp="1"/>
          </p:cNvSpPr>
          <p:nvPr/>
        </p:nvSpPr>
        <p:spPr>
          <a:xfrm>
            <a:off x="781050" y="1504950"/>
            <a:ext cx="57150" cy="16002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76FB16-C29C-47BF-9D76-970F46759A5E}"/>
              </a:ext>
            </a:extLst>
          </p:cNvPr>
          <p:cNvSpPr>
            <a:spLocks noGrp="1"/>
          </p:cNvSpPr>
          <p:nvPr/>
        </p:nvSpPr>
        <p:spPr>
          <a:xfrm>
            <a:off x="971550" y="16764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Technology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441E81-AD55-4FE4-B1D7-14CDA7E0D335}"/>
              </a:ext>
            </a:extLst>
          </p:cNvPr>
          <p:cNvSpPr>
            <a:spLocks noGrp="1"/>
          </p:cNvSpPr>
          <p:nvPr/>
        </p:nvSpPr>
        <p:spPr>
          <a:xfrm>
            <a:off x="971550" y="2057400"/>
            <a:ext cx="200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Prototype is not deployed or scale-ready. Build path needs infra, SDLC, observability, and DWH integration.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6E9B62E-8F0D-4C59-8BC5-267F8BEAB2A9}"/>
              </a:ext>
            </a:extLst>
          </p:cNvPr>
          <p:cNvSpPr>
            <a:spLocks noGrp="1"/>
          </p:cNvSpPr>
          <p:nvPr/>
        </p:nvSpPr>
        <p:spPr>
          <a:xfrm>
            <a:off x="3562350" y="1504950"/>
            <a:ext cx="2381250" cy="1600200"/>
          </a:xfrm>
          <a:prstGeom prst="roundRect">
            <a:avLst>
              <a:gd name="adj" fmla="val 5952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9335DA-9CCA-4CB9-AD62-D3D3CD1ABCE5}"/>
              </a:ext>
            </a:extLst>
          </p:cNvPr>
          <p:cNvSpPr>
            <a:spLocks noGrp="1"/>
          </p:cNvSpPr>
          <p:nvPr/>
        </p:nvSpPr>
        <p:spPr>
          <a:xfrm>
            <a:off x="3562350" y="1504950"/>
            <a:ext cx="57150" cy="16002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F9DE6F-2A38-4443-BCED-9D66D565515D}"/>
              </a:ext>
            </a:extLst>
          </p:cNvPr>
          <p:cNvSpPr>
            <a:spLocks noGrp="1"/>
          </p:cNvSpPr>
          <p:nvPr/>
        </p:nvSpPr>
        <p:spPr>
          <a:xfrm>
            <a:off x="3752850" y="16764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6D845E-3D2D-4A5D-91FC-F2BAF99FA45A}"/>
              </a:ext>
            </a:extLst>
          </p:cNvPr>
          <p:cNvSpPr>
            <a:spLocks noGrp="1"/>
          </p:cNvSpPr>
          <p:nvPr/>
        </p:nvSpPr>
        <p:spPr>
          <a:xfrm>
            <a:off x="3752850" y="2057400"/>
            <a:ext cx="200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Manual interactions remain. The platform must define who approves, who supports, and who escalates.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0005187-59DA-4AD6-AC09-32A1BBFEC64A}"/>
              </a:ext>
            </a:extLst>
          </p:cNvPr>
          <p:cNvSpPr>
            <a:spLocks noGrp="1"/>
          </p:cNvSpPr>
          <p:nvPr/>
        </p:nvSpPr>
        <p:spPr>
          <a:xfrm>
            <a:off x="6343650" y="1504950"/>
            <a:ext cx="2381250" cy="1600200"/>
          </a:xfrm>
          <a:prstGeom prst="roundRect">
            <a:avLst>
              <a:gd name="adj" fmla="val 5952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46B1A7-475B-4284-A789-E321DD49F06A}"/>
              </a:ext>
            </a:extLst>
          </p:cNvPr>
          <p:cNvSpPr>
            <a:spLocks noGrp="1"/>
          </p:cNvSpPr>
          <p:nvPr/>
        </p:nvSpPr>
        <p:spPr>
          <a:xfrm>
            <a:off x="6343650" y="1504950"/>
            <a:ext cx="57150" cy="16002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AFC038-FB9F-40B6-A316-18B010E625E5}"/>
              </a:ext>
            </a:extLst>
          </p:cNvPr>
          <p:cNvSpPr>
            <a:spLocks noGrp="1"/>
          </p:cNvSpPr>
          <p:nvPr/>
        </p:nvSpPr>
        <p:spPr>
          <a:xfrm>
            <a:off x="6534150" y="16764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Scalability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5DBEBBF-CF48-48B1-A688-8489DC838925}"/>
              </a:ext>
            </a:extLst>
          </p:cNvPr>
          <p:cNvSpPr>
            <a:spLocks noGrp="1"/>
          </p:cNvSpPr>
          <p:nvPr/>
        </p:nvSpPr>
        <p:spPr>
          <a:xfrm>
            <a:off x="6534150" y="2057400"/>
            <a:ext cx="200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Email-based process and ad hoc approvals will not scale across multiple LSPs without control automation.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74451F3-D4E3-4CC2-A9A2-7AADAA1E7B3D}"/>
              </a:ext>
            </a:extLst>
          </p:cNvPr>
          <p:cNvSpPr>
            <a:spLocks noGrp="1"/>
          </p:cNvSpPr>
          <p:nvPr/>
        </p:nvSpPr>
        <p:spPr>
          <a:xfrm>
            <a:off x="9124950" y="1504950"/>
            <a:ext cx="2381250" cy="1600200"/>
          </a:xfrm>
          <a:prstGeom prst="roundRect">
            <a:avLst>
              <a:gd name="adj" fmla="val 5952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BD48CB-AF46-4410-B7A5-61A90B0CA9DE}"/>
              </a:ext>
            </a:extLst>
          </p:cNvPr>
          <p:cNvSpPr>
            <a:spLocks noGrp="1"/>
          </p:cNvSpPr>
          <p:nvPr/>
        </p:nvSpPr>
        <p:spPr>
          <a:xfrm>
            <a:off x="9124950" y="1504950"/>
            <a:ext cx="57150" cy="16002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1F63F7-65CC-49E4-945E-7CEFB1373DC8}"/>
              </a:ext>
            </a:extLst>
          </p:cNvPr>
          <p:cNvSpPr>
            <a:spLocks noGrp="1"/>
          </p:cNvSpPr>
          <p:nvPr/>
        </p:nvSpPr>
        <p:spPr>
          <a:xfrm>
            <a:off x="9315450" y="16764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Business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7320F02-CBE6-4DC6-9EAC-56200D2BC4C2}"/>
              </a:ext>
            </a:extLst>
          </p:cNvPr>
          <p:cNvSpPr>
            <a:spLocks noGrp="1"/>
          </p:cNvSpPr>
          <p:nvPr/>
        </p:nvSpPr>
        <p:spPr>
          <a:xfrm>
            <a:off x="9315450" y="2057400"/>
            <a:ext cx="200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LSP motivation depends on lower effort, faster answers, better transparency, and clean integration.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D38D00C-E33C-4C51-8E54-9185DCAD08D5}"/>
              </a:ext>
            </a:extLst>
          </p:cNvPr>
          <p:cNvSpPr>
            <a:spLocks noGrp="1"/>
          </p:cNvSpPr>
          <p:nvPr/>
        </p:nvSpPr>
        <p:spPr>
          <a:xfrm>
            <a:off x="1162050" y="3905250"/>
            <a:ext cx="9144000" cy="552450"/>
          </a:xfrm>
          <a:prstGeom prst="rect">
            <a:avLst/>
          </a:prstGeom>
          <a:solidFill>
            <a:srgbClr val="0B1F45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84ACD2-BFAE-4570-92B7-CAA6EFFF5E1C}"/>
              </a:ext>
            </a:extLst>
          </p:cNvPr>
          <p:cNvSpPr>
            <a:spLocks noGrp="1"/>
          </p:cNvSpPr>
          <p:nvPr/>
        </p:nvSpPr>
        <p:spPr>
          <a:xfrm>
            <a:off x="1257300" y="398145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Executive ask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C899D79-5F0B-4D81-9888-406BB3AEFB74}"/>
              </a:ext>
            </a:extLst>
          </p:cNvPr>
          <p:cNvSpPr>
            <a:spLocks noGrp="1"/>
          </p:cNvSpPr>
          <p:nvPr/>
        </p:nvSpPr>
        <p:spPr>
          <a:xfrm>
            <a:off x="4305300" y="39052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81D4CB6-680D-47B5-93D7-EE15F83EDF7D}"/>
              </a:ext>
            </a:extLst>
          </p:cNvPr>
          <p:cNvSpPr>
            <a:spLocks noGrp="1"/>
          </p:cNvSpPr>
          <p:nvPr/>
        </p:nvSpPr>
        <p:spPr>
          <a:xfrm>
            <a:off x="4400550" y="3981450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required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92BD329-7818-4FB6-B068-243777C90C21}"/>
              </a:ext>
            </a:extLst>
          </p:cNvPr>
          <p:cNvSpPr>
            <a:spLocks noGrp="1"/>
          </p:cNvSpPr>
          <p:nvPr/>
        </p:nvSpPr>
        <p:spPr>
          <a:xfrm>
            <a:off x="7924800" y="39052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A1AFCE2-8A69-494D-AEB5-ED3E0BA9D9D1}"/>
              </a:ext>
            </a:extLst>
          </p:cNvPr>
          <p:cNvSpPr>
            <a:spLocks noGrp="1"/>
          </p:cNvSpPr>
          <p:nvPr/>
        </p:nvSpPr>
        <p:spPr>
          <a:xfrm>
            <a:off x="8020050" y="398145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762A3DF-392D-4833-8469-C2A93BC60D7D}"/>
              </a:ext>
            </a:extLst>
          </p:cNvPr>
          <p:cNvSpPr>
            <a:spLocks noGrp="1"/>
          </p:cNvSpPr>
          <p:nvPr/>
        </p:nvSpPr>
        <p:spPr>
          <a:xfrm>
            <a:off x="1162050" y="4457700"/>
            <a:ext cx="9144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6A76273-5522-4C97-90A9-016DA5C46571}"/>
              </a:ext>
            </a:extLst>
          </p:cNvPr>
          <p:cNvSpPr>
            <a:spLocks noGrp="1"/>
          </p:cNvSpPr>
          <p:nvPr/>
        </p:nvSpPr>
        <p:spPr>
          <a:xfrm>
            <a:off x="1257300" y="453390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Build vs buy assessment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EA62224-EE4E-4844-B54F-BDB9E4DC830B}"/>
              </a:ext>
            </a:extLst>
          </p:cNvPr>
          <p:cNvSpPr>
            <a:spLocks noGrp="1"/>
          </p:cNvSpPr>
          <p:nvPr/>
        </p:nvSpPr>
        <p:spPr>
          <a:xfrm>
            <a:off x="4305300" y="44577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DA60A94-CEA1-404E-8EF2-7570EA2B15B7}"/>
              </a:ext>
            </a:extLst>
          </p:cNvPr>
          <p:cNvSpPr>
            <a:spLocks noGrp="1"/>
          </p:cNvSpPr>
          <p:nvPr/>
        </p:nvSpPr>
        <p:spPr>
          <a:xfrm>
            <a:off x="4400550" y="4533900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Approve criteria, timeline, and vendor shortlist.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76FCF70-37C3-4BFD-9F07-70BA207C7F82}"/>
              </a:ext>
            </a:extLst>
          </p:cNvPr>
          <p:cNvSpPr>
            <a:spLocks noGrp="1"/>
          </p:cNvSpPr>
          <p:nvPr/>
        </p:nvSpPr>
        <p:spPr>
          <a:xfrm>
            <a:off x="7924800" y="44577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C4B71DF-E980-4609-BA7A-ED4A7BD1DB80}"/>
              </a:ext>
            </a:extLst>
          </p:cNvPr>
          <p:cNvSpPr>
            <a:spLocks noGrp="1"/>
          </p:cNvSpPr>
          <p:nvPr/>
        </p:nvSpPr>
        <p:spPr>
          <a:xfrm>
            <a:off x="8020050" y="453390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Leadership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5892DEA-4B67-45DA-99A9-45EB3DD521C0}"/>
              </a:ext>
            </a:extLst>
          </p:cNvPr>
          <p:cNvSpPr>
            <a:spLocks noGrp="1"/>
          </p:cNvSpPr>
          <p:nvPr/>
        </p:nvSpPr>
        <p:spPr>
          <a:xfrm>
            <a:off x="1162050" y="5010150"/>
            <a:ext cx="9144000" cy="5524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0406299-F724-4BB8-90E3-9B9793664631}"/>
              </a:ext>
            </a:extLst>
          </p:cNvPr>
          <p:cNvSpPr>
            <a:spLocks noGrp="1"/>
          </p:cNvSpPr>
          <p:nvPr/>
        </p:nvSpPr>
        <p:spPr>
          <a:xfrm>
            <a:off x="1257300" y="508635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Prototype path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38CB2C3-19A7-4E84-9899-D0ABAE840DE2}"/>
              </a:ext>
            </a:extLst>
          </p:cNvPr>
          <p:cNvSpPr>
            <a:spLocks noGrp="1"/>
          </p:cNvSpPr>
          <p:nvPr/>
        </p:nvSpPr>
        <p:spPr>
          <a:xfrm>
            <a:off x="4305300" y="50101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11E0309-9647-4360-BCBB-109E35BA277F}"/>
              </a:ext>
            </a:extLst>
          </p:cNvPr>
          <p:cNvSpPr>
            <a:spLocks noGrp="1"/>
          </p:cNvSpPr>
          <p:nvPr/>
        </p:nvSpPr>
        <p:spPr>
          <a:xfrm>
            <a:off x="4400550" y="5086350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Decide whether prototype becomes MVP or remains learning artifact.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19B6643-5879-4FB1-8CF4-17086FB2B920}"/>
              </a:ext>
            </a:extLst>
          </p:cNvPr>
          <p:cNvSpPr>
            <a:spLocks noGrp="1"/>
          </p:cNvSpPr>
          <p:nvPr/>
        </p:nvSpPr>
        <p:spPr>
          <a:xfrm>
            <a:off x="7924800" y="50101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BB55230-52E5-4934-BA23-8909D6736C56}"/>
              </a:ext>
            </a:extLst>
          </p:cNvPr>
          <p:cNvSpPr>
            <a:spLocks noGrp="1"/>
          </p:cNvSpPr>
          <p:nvPr/>
        </p:nvSpPr>
        <p:spPr>
          <a:xfrm>
            <a:off x="8020050" y="508635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Product + Engineering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2C71FA1-065E-487C-B602-0F6064801240}"/>
              </a:ext>
            </a:extLst>
          </p:cNvPr>
          <p:cNvSpPr>
            <a:spLocks noGrp="1"/>
          </p:cNvSpPr>
          <p:nvPr/>
        </p:nvSpPr>
        <p:spPr>
          <a:xfrm>
            <a:off x="1162050" y="5562600"/>
            <a:ext cx="9144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E5F46CE-E412-40F1-9C4B-FD8A69C86E35}"/>
              </a:ext>
            </a:extLst>
          </p:cNvPr>
          <p:cNvSpPr>
            <a:spLocks noGrp="1"/>
          </p:cNvSpPr>
          <p:nvPr/>
        </p:nvSpPr>
        <p:spPr>
          <a:xfrm>
            <a:off x="1257300" y="563880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Operating model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7BEBE9C-14B8-4BD5-8477-24FBB630A384}"/>
              </a:ext>
            </a:extLst>
          </p:cNvPr>
          <p:cNvSpPr>
            <a:spLocks noGrp="1"/>
          </p:cNvSpPr>
          <p:nvPr/>
        </p:nvSpPr>
        <p:spPr>
          <a:xfrm>
            <a:off x="4305300" y="55626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34D4B8B-55F7-4C27-8411-881E2B3245BB}"/>
              </a:ext>
            </a:extLst>
          </p:cNvPr>
          <p:cNvSpPr>
            <a:spLocks noGrp="1"/>
          </p:cNvSpPr>
          <p:nvPr/>
        </p:nvSpPr>
        <p:spPr>
          <a:xfrm>
            <a:off x="4400550" y="5638800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Confirm RACI, manual approvals, support, and security gates.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45E047F-D8CC-4C65-A596-ED3B815DE332}"/>
              </a:ext>
            </a:extLst>
          </p:cNvPr>
          <p:cNvSpPr>
            <a:spLocks noGrp="1"/>
          </p:cNvSpPr>
          <p:nvPr/>
        </p:nvSpPr>
        <p:spPr>
          <a:xfrm>
            <a:off x="7924800" y="55626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2064AED-17DC-48AD-95BA-62978C7D786A}"/>
              </a:ext>
            </a:extLst>
          </p:cNvPr>
          <p:cNvSpPr>
            <a:spLocks noGrp="1"/>
          </p:cNvSpPr>
          <p:nvPr/>
        </p:nvSpPr>
        <p:spPr>
          <a:xfrm>
            <a:off x="8020050" y="563880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Ops + Governance</a:t>
            </a:r>
          </a:p>
        </p:txBody>
      </p:sp>
    </p:spTree>
    <p:extLst>
      <p:ext uri="{BB962C8B-B14F-4D97-AF65-F5344CB8AC3E}">
        <p14:creationId xmlns:p14="http://schemas.microsoft.com/office/powerpoint/2010/main" val="165549621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1810</Words>
  <Application>Microsoft Office PowerPoint</Application>
  <DocSecurity>0</DocSecurity>
  <PresentationFormat>Widescreen</PresentationFormat>
  <Paragraphs>288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Siddhant</cp:lastModifiedBy>
  <cp:revision>5</cp:revision>
  <dcterms:created xsi:type="dcterms:W3CDTF">2026-06-25T05:59:16Z</dcterms:created>
  <dcterms:modified xsi:type="dcterms:W3CDTF">2026-06-27T10:54:25Z</dcterms:modified>
</cp:coreProperties>
</file>